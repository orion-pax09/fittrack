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89"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90" r:id="rId36"/>
  </p:sldIdLst>
  <p:sldSz cx="18288000" cy="10287000"/>
  <p:notesSz cx="6858000" cy="9144000"/>
  <p:embeddedFontLst>
    <p:embeddedFont>
      <p:font typeface="Agrandir Narrow" panose="020B0604020202020204" charset="0"/>
      <p:regular r:id="rId37"/>
    </p:embeddedFont>
    <p:embeddedFont>
      <p:font typeface="Agrandir Narrow Bold" panose="020B0604020202020204" charset="0"/>
      <p:regular r:id="rId38"/>
    </p:embeddedFont>
    <p:embeddedFont>
      <p:font typeface="Anton" panose="020B0604020202020204" charset="0"/>
      <p:regular r:id="rId39"/>
    </p:embeddedFont>
    <p:embeddedFont>
      <p:font typeface="Anton Italics" panose="020B0604020202020204" charset="0"/>
      <p:regular r:id="rId40"/>
    </p:embeddedFont>
    <p:embeddedFont>
      <p:font typeface="Archivo Black" panose="020B0604020202020204" charset="0"/>
      <p:regular r:id="rId41"/>
    </p:embeddedFont>
    <p:embeddedFont>
      <p:font typeface="Calibri" panose="020F0502020204030204" pitchFamily="34" charset="0"/>
      <p:regular r:id="rId42"/>
      <p:bold r:id="rId43"/>
      <p:italic r:id="rId44"/>
      <p:boldItalic r:id="rId45"/>
    </p:embeddedFont>
    <p:embeddedFont>
      <p:font typeface="Canva Sans Bold" panose="020B0604020202020204" charset="0"/>
      <p:regular r:id="rId46"/>
    </p:embeddedFont>
    <p:embeddedFont>
      <p:font typeface="Impact" panose="020B0806030902050204" pitchFamily="34" charset="0"/>
      <p:regular r:id="rId47"/>
    </p:embeddedFont>
    <p:embeddedFont>
      <p:font typeface="League Spartan" panose="020B0604020202020204" charset="0"/>
      <p:regular r:id="rId48"/>
    </p:embeddedFont>
    <p:embeddedFont>
      <p:font typeface="Montserrat" panose="020B0604020202020204" charset="0"/>
      <p:regular r:id="rId49"/>
    </p:embeddedFont>
    <p:embeddedFont>
      <p:font typeface="Montserrat Bold" panose="020B0604020202020204" charset="0"/>
      <p:regular r:id="rId50"/>
    </p:embeddedFont>
    <p:embeddedFont>
      <p:font typeface="Montserrat Bold Italics" panose="020B0604020202020204" charset="0"/>
      <p:regular r:id="rId51"/>
    </p:embeddedFont>
    <p:embeddedFont>
      <p:font typeface="Montserrat Italics" panose="020B0604020202020204" charset="0"/>
      <p:regular r:id="rId52"/>
    </p:embeddedFont>
    <p:embeddedFont>
      <p:font typeface="Montserrat Semi-Bold" panose="020B0604020202020204" charset="0"/>
      <p:regular r:id="rId53"/>
    </p:embeddedFont>
    <p:embeddedFont>
      <p:font typeface="Montserrat Semi-Bold Italics" panose="020B0604020202020204" charset="0"/>
      <p:regular r:id="rId54"/>
    </p:embeddedFont>
    <p:embeddedFont>
      <p:font typeface="Open Sauce Bold" panose="020B0604020202020204" charset="0"/>
      <p:regular r:id="rId55"/>
    </p:embeddedFont>
    <p:embeddedFont>
      <p:font typeface="Poppins" panose="020B0604020202020204" charset="0"/>
      <p:regular r:id="rId56"/>
    </p:embeddedFont>
    <p:embeddedFont>
      <p:font typeface="Poppins Bold" panose="020B0604020202020204" charset="0"/>
      <p:regular r:id="rId57"/>
    </p:embeddedFont>
    <p:embeddedFont>
      <p:font typeface="Poppins Bold Italics" panose="020B0604020202020204" charset="0"/>
      <p:regular r:id="rId58"/>
    </p:embeddedFont>
    <p:embeddedFont>
      <p:font typeface="Raleway Bold" panose="020B0604020202020204" charset="0"/>
      <p:regular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11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font" Target="fonts/font19.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font" Target="fonts/font22.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59" Type="http://schemas.openxmlformats.org/officeDocument/2006/relationships/font" Target="fonts/font23.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font" Target="fonts/font18.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3.fntdata"/><Relationship Id="rId57" Type="http://schemas.openxmlformats.org/officeDocument/2006/relationships/font" Target="fonts/font2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833290" cy="1593725"/>
          </a:xfrm>
        </p:grpSpPr>
        <p:sp>
          <p:nvSpPr>
            <p:cNvPr id="3" name="Freeform 3"/>
            <p:cNvSpPr/>
            <p:nvPr/>
          </p:nvSpPr>
          <p:spPr>
            <a:xfrm>
              <a:off x="0" y="0"/>
              <a:ext cx="2833290" cy="1593725"/>
            </a:xfrm>
            <a:custGeom>
              <a:avLst/>
              <a:gdLst/>
              <a:ahLst/>
              <a:cxnLst/>
              <a:rect l="l" t="t" r="r" b="b"/>
              <a:pathLst>
                <a:path w="2833290" h="1593725">
                  <a:moveTo>
                    <a:pt x="0" y="0"/>
                  </a:moveTo>
                  <a:lnTo>
                    <a:pt x="2833290" y="0"/>
                  </a:lnTo>
                  <a:lnTo>
                    <a:pt x="2833290" y="1593725"/>
                  </a:lnTo>
                  <a:lnTo>
                    <a:pt x="0" y="1593725"/>
                  </a:lnTo>
                  <a:close/>
                </a:path>
              </a:pathLst>
            </a:custGeom>
            <a:blipFill>
              <a:blip r:embed="rId2"/>
              <a:stretch>
                <a:fillRect t="-9222" b="-9222"/>
              </a:stretch>
            </a:blipFill>
          </p:spPr>
        </p:sp>
      </p:grpSp>
      <p:grpSp>
        <p:nvGrpSpPr>
          <p:cNvPr id="4" name="Group 4"/>
          <p:cNvGrpSpPr/>
          <p:nvPr/>
        </p:nvGrpSpPr>
        <p:grpSpPr>
          <a:xfrm>
            <a:off x="0" y="0"/>
            <a:ext cx="18288000" cy="10287000"/>
            <a:chOff x="0" y="0"/>
            <a:chExt cx="4816593" cy="2709333"/>
          </a:xfrm>
        </p:grpSpPr>
        <p:sp>
          <p:nvSpPr>
            <p:cNvPr id="5" name="Freeform 5"/>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D1B4D">
                    <a:alpha val="95000"/>
                  </a:srgbClr>
                </a:gs>
                <a:gs pos="100000">
                  <a:srgbClr val="1F2489">
                    <a:alpha val="95000"/>
                  </a:srgbClr>
                </a:gs>
              </a:gsLst>
              <a:lin ang="0"/>
            </a:gradFill>
          </p:spPr>
        </p:sp>
        <p:sp>
          <p:nvSpPr>
            <p:cNvPr id="6" name="TextBox 6"/>
            <p:cNvSpPr txBox="1"/>
            <p:nvPr/>
          </p:nvSpPr>
          <p:spPr>
            <a:xfrm>
              <a:off x="0" y="-66675"/>
              <a:ext cx="4816593" cy="2776008"/>
            </a:xfrm>
            <a:prstGeom prst="rect">
              <a:avLst/>
            </a:prstGeom>
          </p:spPr>
          <p:txBody>
            <a:bodyPr lIns="50800" tIns="50800" rIns="50800" bIns="50800" rtlCol="0" anchor="ctr"/>
            <a:lstStyle/>
            <a:p>
              <a:pPr algn="ctr">
                <a:lnSpc>
                  <a:spcPts val="3151"/>
                </a:lnSpc>
              </a:pPr>
              <a:endParaRPr/>
            </a:p>
          </p:txBody>
        </p:sp>
      </p:grpSp>
      <p:sp>
        <p:nvSpPr>
          <p:cNvPr id="7" name="Freeform 7"/>
          <p:cNvSpPr/>
          <p:nvPr/>
        </p:nvSpPr>
        <p:spPr>
          <a:xfrm rot="-5400000">
            <a:off x="16575569" y="8730869"/>
            <a:ext cx="368672" cy="498206"/>
          </a:xfrm>
          <a:custGeom>
            <a:avLst/>
            <a:gdLst/>
            <a:ahLst/>
            <a:cxnLst/>
            <a:rect l="l" t="t" r="r" b="b"/>
            <a:pathLst>
              <a:path w="368672" h="498206">
                <a:moveTo>
                  <a:pt x="0" y="0"/>
                </a:moveTo>
                <a:lnTo>
                  <a:pt x="368672" y="0"/>
                </a:lnTo>
                <a:lnTo>
                  <a:pt x="368672" y="498206"/>
                </a:lnTo>
                <a:lnTo>
                  <a:pt x="0" y="49820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8" name="TextBox 8"/>
          <p:cNvSpPr txBox="1"/>
          <p:nvPr/>
        </p:nvSpPr>
        <p:spPr>
          <a:xfrm>
            <a:off x="706035" y="190680"/>
            <a:ext cx="16904076" cy="2529646"/>
          </a:xfrm>
          <a:prstGeom prst="rect">
            <a:avLst/>
          </a:prstGeom>
        </p:spPr>
        <p:txBody>
          <a:bodyPr lIns="0" tIns="0" rIns="0" bIns="0" rtlCol="0" anchor="t">
            <a:spAutoFit/>
          </a:bodyPr>
          <a:lstStyle/>
          <a:p>
            <a:pPr algn="ctr">
              <a:lnSpc>
                <a:spcPts val="10166"/>
              </a:lnSpc>
            </a:pPr>
            <a:r>
              <a:rPr lang="en-US" sz="7261" i="1">
                <a:solidFill>
                  <a:srgbClr val="FFFFFF"/>
                </a:solidFill>
                <a:latin typeface="Anton Italics"/>
                <a:ea typeface="Anton Italics"/>
                <a:cs typeface="Anton Italics"/>
                <a:sym typeface="Anton Italics"/>
              </a:rPr>
              <a:t>PROJECT TITLE</a:t>
            </a:r>
          </a:p>
          <a:p>
            <a:pPr algn="ctr">
              <a:lnSpc>
                <a:spcPts val="10166"/>
              </a:lnSpc>
            </a:pPr>
            <a:r>
              <a:rPr lang="en-US" sz="7261" i="1">
                <a:solidFill>
                  <a:srgbClr val="FFFFFF"/>
                </a:solidFill>
                <a:latin typeface="Anton Italics"/>
                <a:ea typeface="Anton Italics"/>
                <a:cs typeface="Anton Italics"/>
                <a:sym typeface="Anton Italics"/>
              </a:rPr>
              <a:t> Gym fitness and tracker portal</a:t>
            </a:r>
          </a:p>
        </p:txBody>
      </p:sp>
      <p:sp>
        <p:nvSpPr>
          <p:cNvPr id="12" name="TextBox 12"/>
          <p:cNvSpPr txBox="1"/>
          <p:nvPr/>
        </p:nvSpPr>
        <p:spPr>
          <a:xfrm>
            <a:off x="256909" y="3276110"/>
            <a:ext cx="10184846" cy="629191"/>
          </a:xfrm>
          <a:prstGeom prst="rect">
            <a:avLst/>
          </a:prstGeom>
        </p:spPr>
        <p:txBody>
          <a:bodyPr lIns="0" tIns="0" rIns="0" bIns="0" rtlCol="0" anchor="t">
            <a:spAutoFit/>
          </a:bodyPr>
          <a:lstStyle/>
          <a:p>
            <a:pPr algn="l">
              <a:lnSpc>
                <a:spcPts val="5220"/>
              </a:lnSpc>
            </a:pPr>
            <a:r>
              <a:rPr lang="en-US" sz="3728" b="1" i="1">
                <a:solidFill>
                  <a:srgbClr val="FFFFFF"/>
                </a:solidFill>
                <a:latin typeface="Montserrat Bold Italics"/>
                <a:ea typeface="Montserrat Bold Italics"/>
                <a:cs typeface="Montserrat Bold Italics"/>
                <a:sym typeface="Montserrat Bold Italics"/>
              </a:rPr>
              <a:t>Student 1: Muhammad Hamza Khan</a:t>
            </a:r>
          </a:p>
        </p:txBody>
      </p:sp>
      <p:grpSp>
        <p:nvGrpSpPr>
          <p:cNvPr id="16" name="Group 16"/>
          <p:cNvGrpSpPr/>
          <p:nvPr/>
        </p:nvGrpSpPr>
        <p:grpSpPr>
          <a:xfrm>
            <a:off x="-661203" y="3939195"/>
            <a:ext cx="10944926" cy="1375873"/>
            <a:chOff x="514349" y="-599305"/>
            <a:chExt cx="14593236" cy="1834497"/>
          </a:xfrm>
        </p:grpSpPr>
        <p:sp>
          <p:nvSpPr>
            <p:cNvPr id="19" name="TextBox 19"/>
            <p:cNvSpPr txBox="1"/>
            <p:nvPr/>
          </p:nvSpPr>
          <p:spPr>
            <a:xfrm>
              <a:off x="514349" y="-337541"/>
              <a:ext cx="14289595" cy="1572733"/>
            </a:xfrm>
            <a:prstGeom prst="rect">
              <a:avLst/>
            </a:prstGeom>
          </p:spPr>
          <p:txBody>
            <a:bodyPr lIns="50800" tIns="50800" rIns="50800" bIns="50800" rtlCol="0" anchor="ctr"/>
            <a:lstStyle/>
            <a:p>
              <a:pPr algn="ctr">
                <a:lnSpc>
                  <a:spcPts val="3151"/>
                </a:lnSpc>
              </a:pPr>
              <a:endParaRPr/>
            </a:p>
          </p:txBody>
        </p:sp>
        <p:sp>
          <p:nvSpPr>
            <p:cNvPr id="20" name="TextBox 20"/>
            <p:cNvSpPr txBox="1"/>
            <p:nvPr/>
          </p:nvSpPr>
          <p:spPr>
            <a:xfrm>
              <a:off x="1738498" y="-599305"/>
              <a:ext cx="13369087" cy="805956"/>
            </a:xfrm>
            <a:prstGeom prst="rect">
              <a:avLst/>
            </a:prstGeom>
          </p:spPr>
          <p:txBody>
            <a:bodyPr lIns="0" tIns="0" rIns="0" bIns="0" rtlCol="0" anchor="t">
              <a:spAutoFit/>
            </a:bodyPr>
            <a:lstStyle/>
            <a:p>
              <a:pPr algn="l">
                <a:lnSpc>
                  <a:spcPts val="5139"/>
                </a:lnSpc>
              </a:pPr>
              <a:r>
                <a:rPr lang="en-US" sz="3670" b="1" i="1" dirty="0">
                  <a:solidFill>
                    <a:srgbClr val="FFFFFF"/>
                  </a:solidFill>
                  <a:latin typeface="Montserrat Bold Italics"/>
                  <a:ea typeface="Montserrat Bold Italics"/>
                  <a:cs typeface="Montserrat Bold Italics"/>
                  <a:sym typeface="Montserrat Bold Italics"/>
                </a:rPr>
                <a:t>Roll No :- 2502941</a:t>
              </a:r>
            </a:p>
          </p:txBody>
        </p:sp>
      </p:grpSp>
      <p:sp>
        <p:nvSpPr>
          <p:cNvPr id="24" name="TextBox 24"/>
          <p:cNvSpPr txBox="1"/>
          <p:nvPr/>
        </p:nvSpPr>
        <p:spPr>
          <a:xfrm>
            <a:off x="256909" y="5476993"/>
            <a:ext cx="10184846" cy="629191"/>
          </a:xfrm>
          <a:prstGeom prst="rect">
            <a:avLst/>
          </a:prstGeom>
        </p:spPr>
        <p:txBody>
          <a:bodyPr lIns="0" tIns="0" rIns="0" bIns="0" rtlCol="0" anchor="t">
            <a:spAutoFit/>
          </a:bodyPr>
          <a:lstStyle/>
          <a:p>
            <a:pPr algn="l">
              <a:lnSpc>
                <a:spcPts val="5220"/>
              </a:lnSpc>
            </a:pPr>
            <a:r>
              <a:rPr lang="en-US" sz="3728" b="1" i="1" dirty="0">
                <a:solidFill>
                  <a:srgbClr val="FFFFFF"/>
                </a:solidFill>
                <a:latin typeface="Montserrat Bold Italics"/>
                <a:ea typeface="Montserrat Bold Italics"/>
                <a:cs typeface="Montserrat Bold Italics"/>
                <a:sym typeface="Montserrat Bold Italics"/>
              </a:rPr>
              <a:t>Student 2: Muhammad </a:t>
            </a:r>
            <a:r>
              <a:rPr lang="en-US" sz="3728" b="1" i="1" dirty="0" err="1">
                <a:solidFill>
                  <a:srgbClr val="FFFFFF"/>
                </a:solidFill>
                <a:latin typeface="Montserrat Bold Italics"/>
                <a:ea typeface="Montserrat Bold Italics"/>
                <a:cs typeface="Montserrat Bold Italics"/>
                <a:sym typeface="Montserrat Bold Italics"/>
              </a:rPr>
              <a:t>Awais</a:t>
            </a:r>
            <a:r>
              <a:rPr lang="en-US" sz="3728" b="1" i="1" dirty="0">
                <a:solidFill>
                  <a:srgbClr val="FFFFFF"/>
                </a:solidFill>
                <a:latin typeface="Montserrat Bold Italics"/>
                <a:ea typeface="Montserrat Bold Italics"/>
                <a:cs typeface="Montserrat Bold Italics"/>
                <a:sym typeface="Montserrat Bold Italics"/>
              </a:rPr>
              <a:t>  </a:t>
            </a:r>
            <a:r>
              <a:rPr lang="en-US" sz="3728" b="1" i="1" dirty="0" err="1">
                <a:solidFill>
                  <a:srgbClr val="FFFFFF"/>
                </a:solidFill>
                <a:latin typeface="Montserrat Bold Italics"/>
                <a:ea typeface="Montserrat Bold Italics"/>
                <a:cs typeface="Montserrat Bold Italics"/>
                <a:sym typeface="Montserrat Bold Italics"/>
              </a:rPr>
              <a:t>Bajwa</a:t>
            </a:r>
            <a:r>
              <a:rPr lang="en-US" sz="3728" b="1" i="1" dirty="0">
                <a:solidFill>
                  <a:srgbClr val="FFFFFF"/>
                </a:solidFill>
                <a:latin typeface="Montserrat Bold Italics"/>
                <a:ea typeface="Montserrat Bold Italics"/>
                <a:cs typeface="Montserrat Bold Italics"/>
                <a:sym typeface="Montserrat Bold Italics"/>
              </a:rPr>
              <a:t> </a:t>
            </a:r>
          </a:p>
        </p:txBody>
      </p:sp>
      <p:sp>
        <p:nvSpPr>
          <p:cNvPr id="28" name="TextBox 28"/>
          <p:cNvSpPr txBox="1"/>
          <p:nvPr/>
        </p:nvSpPr>
        <p:spPr>
          <a:xfrm>
            <a:off x="256908" y="6234708"/>
            <a:ext cx="10026815" cy="621136"/>
          </a:xfrm>
          <a:prstGeom prst="rect">
            <a:avLst/>
          </a:prstGeom>
        </p:spPr>
        <p:txBody>
          <a:bodyPr lIns="0" tIns="0" rIns="0" bIns="0" rtlCol="0" anchor="t">
            <a:spAutoFit/>
          </a:bodyPr>
          <a:lstStyle/>
          <a:p>
            <a:pPr algn="l">
              <a:lnSpc>
                <a:spcPts val="5139"/>
              </a:lnSpc>
            </a:pPr>
            <a:r>
              <a:rPr lang="en-US" sz="3670" b="1" i="1" dirty="0">
                <a:solidFill>
                  <a:srgbClr val="FFFFFF"/>
                </a:solidFill>
                <a:latin typeface="Montserrat Bold Italics"/>
                <a:ea typeface="Montserrat Bold Italics"/>
                <a:cs typeface="Montserrat Bold Italics"/>
                <a:sym typeface="Montserrat Bold Italics"/>
              </a:rPr>
              <a:t>Roll No :- 2502587</a:t>
            </a:r>
          </a:p>
        </p:txBody>
      </p:sp>
      <p:sp>
        <p:nvSpPr>
          <p:cNvPr id="29" name="TextBox 29"/>
          <p:cNvSpPr txBox="1"/>
          <p:nvPr/>
        </p:nvSpPr>
        <p:spPr>
          <a:xfrm>
            <a:off x="12641417" y="8728961"/>
            <a:ext cx="5273609" cy="1286416"/>
          </a:xfrm>
          <a:prstGeom prst="rect">
            <a:avLst/>
          </a:prstGeom>
        </p:spPr>
        <p:txBody>
          <a:bodyPr lIns="0" tIns="0" rIns="0" bIns="0" rtlCol="0" anchor="t">
            <a:spAutoFit/>
          </a:bodyPr>
          <a:lstStyle/>
          <a:p>
            <a:pPr algn="ctr">
              <a:lnSpc>
                <a:spcPts val="5220"/>
              </a:lnSpc>
            </a:pPr>
            <a:r>
              <a:rPr lang="en-US" sz="3728" b="1" i="1">
                <a:solidFill>
                  <a:srgbClr val="FFFFFF"/>
                </a:solidFill>
                <a:latin typeface="Montserrat Bold Italics"/>
                <a:ea typeface="Montserrat Bold Italics"/>
                <a:cs typeface="Montserrat Bold Italics"/>
                <a:sym typeface="Montserrat Bold Italics"/>
              </a:rPr>
              <a:t>Date of submission:-</a:t>
            </a:r>
          </a:p>
          <a:p>
            <a:pPr algn="ctr">
              <a:lnSpc>
                <a:spcPts val="5220"/>
              </a:lnSpc>
            </a:pPr>
            <a:r>
              <a:rPr lang="en-US" sz="3728" b="1" i="1">
                <a:solidFill>
                  <a:srgbClr val="FFFFFF"/>
                </a:solidFill>
                <a:latin typeface="Montserrat Bold Italics"/>
                <a:ea typeface="Montserrat Bold Italics"/>
                <a:cs typeface="Montserrat Bold Italics"/>
                <a:sym typeface="Montserrat Bold Italics"/>
              </a:rPr>
              <a:t>08/03/2026</a:t>
            </a:r>
          </a:p>
        </p:txBody>
      </p:sp>
      <p:sp>
        <p:nvSpPr>
          <p:cNvPr id="33" name="TextBox 33"/>
          <p:cNvSpPr txBox="1"/>
          <p:nvPr/>
        </p:nvSpPr>
        <p:spPr>
          <a:xfrm>
            <a:off x="223570" y="8303146"/>
            <a:ext cx="8348663" cy="629191"/>
          </a:xfrm>
          <a:prstGeom prst="rect">
            <a:avLst/>
          </a:prstGeom>
        </p:spPr>
        <p:txBody>
          <a:bodyPr lIns="0" tIns="0" rIns="0" bIns="0" rtlCol="0" anchor="t">
            <a:spAutoFit/>
          </a:bodyPr>
          <a:lstStyle/>
          <a:p>
            <a:pPr algn="l">
              <a:lnSpc>
                <a:spcPts val="5220"/>
              </a:lnSpc>
            </a:pPr>
            <a:r>
              <a:rPr lang="en-US" sz="3728" b="1" i="1" dirty="0">
                <a:solidFill>
                  <a:srgbClr val="FFFFFF"/>
                </a:solidFill>
                <a:latin typeface="Montserrat Bold Italics"/>
                <a:ea typeface="Montserrat Bold Italics"/>
                <a:cs typeface="Montserrat Bold Italics"/>
                <a:sym typeface="Montserrat Bold Italics"/>
              </a:rPr>
              <a:t>Supervisor: Sir Zulfiqar Ali</a:t>
            </a:r>
          </a:p>
        </p:txBody>
      </p:sp>
      <p:sp>
        <p:nvSpPr>
          <p:cNvPr id="37" name="TextBox 37"/>
          <p:cNvSpPr txBox="1"/>
          <p:nvPr/>
        </p:nvSpPr>
        <p:spPr>
          <a:xfrm>
            <a:off x="12946332" y="5361560"/>
            <a:ext cx="4663779" cy="1726593"/>
          </a:xfrm>
          <a:prstGeom prst="rect">
            <a:avLst/>
          </a:prstGeom>
        </p:spPr>
        <p:txBody>
          <a:bodyPr lIns="0" tIns="0" rIns="0" bIns="0" rtlCol="0" anchor="t">
            <a:spAutoFit/>
          </a:bodyPr>
          <a:lstStyle/>
          <a:p>
            <a:pPr algn="ctr">
              <a:lnSpc>
                <a:spcPts val="4616"/>
              </a:lnSpc>
            </a:pPr>
            <a:r>
              <a:rPr lang="en-US" sz="3297" b="1" i="1" dirty="0">
                <a:solidFill>
                  <a:srgbClr val="FFFFFF"/>
                </a:solidFill>
                <a:latin typeface="Montserrat Bold Italics"/>
                <a:ea typeface="Montserrat Bold Italics"/>
                <a:cs typeface="Montserrat Bold Italics"/>
                <a:sym typeface="Montserrat Bold Italics"/>
              </a:rPr>
              <a:t>Department:</a:t>
            </a:r>
          </a:p>
          <a:p>
            <a:pPr algn="ctr">
              <a:lnSpc>
                <a:spcPts val="4616"/>
              </a:lnSpc>
            </a:pPr>
            <a:r>
              <a:rPr lang="en-US" sz="3297" b="1" i="1" dirty="0">
                <a:solidFill>
                  <a:srgbClr val="FFFFFF"/>
                </a:solidFill>
                <a:latin typeface="Montserrat Bold Italics"/>
                <a:ea typeface="Montserrat Bold Italics"/>
                <a:cs typeface="Montserrat Bold Italics"/>
                <a:sym typeface="Montserrat Bold Italics"/>
              </a:rPr>
              <a:t>Dept. of Software engineer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833290" cy="1593725"/>
          </a:xfrm>
        </p:grpSpPr>
        <p:sp>
          <p:nvSpPr>
            <p:cNvPr id="3" name="Freeform 3"/>
            <p:cNvSpPr/>
            <p:nvPr/>
          </p:nvSpPr>
          <p:spPr>
            <a:xfrm>
              <a:off x="0" y="0"/>
              <a:ext cx="2833290" cy="1593725"/>
            </a:xfrm>
            <a:custGeom>
              <a:avLst/>
              <a:gdLst/>
              <a:ahLst/>
              <a:cxnLst/>
              <a:rect l="l" t="t" r="r" b="b"/>
              <a:pathLst>
                <a:path w="2833290" h="1593725">
                  <a:moveTo>
                    <a:pt x="0" y="0"/>
                  </a:moveTo>
                  <a:lnTo>
                    <a:pt x="2833290" y="0"/>
                  </a:lnTo>
                  <a:lnTo>
                    <a:pt x="2833290" y="1593725"/>
                  </a:lnTo>
                  <a:lnTo>
                    <a:pt x="0" y="1593725"/>
                  </a:lnTo>
                  <a:close/>
                </a:path>
              </a:pathLst>
            </a:custGeom>
            <a:blipFill>
              <a:blip r:embed="rId2"/>
              <a:stretch>
                <a:fillRect t="-9222" b="-9222"/>
              </a:stretch>
            </a:blipFill>
          </p:spPr>
        </p:sp>
      </p:grpSp>
      <p:grpSp>
        <p:nvGrpSpPr>
          <p:cNvPr id="4" name="Group 4"/>
          <p:cNvGrpSpPr/>
          <p:nvPr/>
        </p:nvGrpSpPr>
        <p:grpSpPr>
          <a:xfrm>
            <a:off x="-19050" y="0"/>
            <a:ext cx="18288000" cy="10287000"/>
            <a:chOff x="0" y="0"/>
            <a:chExt cx="4816593" cy="2709333"/>
          </a:xfrm>
        </p:grpSpPr>
        <p:sp>
          <p:nvSpPr>
            <p:cNvPr id="5" name="Freeform 5"/>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D1B4D">
                    <a:alpha val="95000"/>
                  </a:srgbClr>
                </a:gs>
                <a:gs pos="100000">
                  <a:srgbClr val="1F2489">
                    <a:alpha val="95000"/>
                  </a:srgbClr>
                </a:gs>
              </a:gsLst>
              <a:lin ang="0"/>
            </a:gradFill>
          </p:spPr>
        </p:sp>
        <p:sp>
          <p:nvSpPr>
            <p:cNvPr id="6" name="TextBox 6"/>
            <p:cNvSpPr txBox="1"/>
            <p:nvPr/>
          </p:nvSpPr>
          <p:spPr>
            <a:xfrm>
              <a:off x="0" y="-66675"/>
              <a:ext cx="4816593" cy="2776008"/>
            </a:xfrm>
            <a:prstGeom prst="rect">
              <a:avLst/>
            </a:prstGeom>
          </p:spPr>
          <p:txBody>
            <a:bodyPr lIns="50800" tIns="50800" rIns="50800" bIns="50800" rtlCol="0" anchor="ctr"/>
            <a:lstStyle/>
            <a:p>
              <a:pPr algn="ctr">
                <a:lnSpc>
                  <a:spcPts val="3151"/>
                </a:lnSpc>
              </a:pPr>
              <a:endParaRPr/>
            </a:p>
          </p:txBody>
        </p:sp>
      </p:grpSp>
      <p:sp>
        <p:nvSpPr>
          <p:cNvPr id="10" name="TextBox 10"/>
          <p:cNvSpPr txBox="1"/>
          <p:nvPr/>
        </p:nvSpPr>
        <p:spPr>
          <a:xfrm>
            <a:off x="3438330" y="4944314"/>
            <a:ext cx="14157708" cy="868473"/>
          </a:xfrm>
          <a:prstGeom prst="rect">
            <a:avLst/>
          </a:prstGeom>
        </p:spPr>
        <p:txBody>
          <a:bodyPr lIns="0" tIns="0" rIns="0" bIns="0" rtlCol="0" anchor="t">
            <a:spAutoFit/>
          </a:bodyPr>
          <a:lstStyle/>
          <a:p>
            <a:pPr algn="l">
              <a:lnSpc>
                <a:spcPts val="7256"/>
              </a:lnSpc>
            </a:pPr>
            <a:r>
              <a:rPr lang="en-US" sz="5183" b="1" i="1">
                <a:solidFill>
                  <a:srgbClr val="FFFFFF"/>
                </a:solidFill>
                <a:latin typeface="Montserrat Bold Italics"/>
                <a:ea typeface="Montserrat Bold Italics"/>
                <a:cs typeface="Montserrat Bold Italics"/>
                <a:sym typeface="Montserrat Bold Italics"/>
              </a:rPr>
              <a:t>Web based application system</a:t>
            </a:r>
          </a:p>
        </p:txBody>
      </p:sp>
      <p:sp>
        <p:nvSpPr>
          <p:cNvPr id="11" name="TextBox 11"/>
          <p:cNvSpPr txBox="1"/>
          <p:nvPr/>
        </p:nvSpPr>
        <p:spPr>
          <a:xfrm>
            <a:off x="3557990" y="490905"/>
            <a:ext cx="11172020" cy="3484313"/>
          </a:xfrm>
          <a:prstGeom prst="rect">
            <a:avLst/>
          </a:prstGeom>
        </p:spPr>
        <p:txBody>
          <a:bodyPr lIns="0" tIns="0" rIns="0" bIns="0" rtlCol="0" anchor="t">
            <a:spAutoFit/>
          </a:bodyPr>
          <a:lstStyle/>
          <a:p>
            <a:pPr algn="ctr">
              <a:lnSpc>
                <a:spcPts val="13431"/>
              </a:lnSpc>
            </a:pPr>
            <a:r>
              <a:rPr lang="en-US" sz="10493" b="1" i="1">
                <a:solidFill>
                  <a:srgbClr val="FFFFFF"/>
                </a:solidFill>
                <a:latin typeface="Poppins Bold Italics"/>
                <a:ea typeface="Poppins Bold Italics"/>
                <a:cs typeface="Poppins Bold Italics"/>
                <a:sym typeface="Poppins Bold Italics"/>
              </a:rPr>
              <a:t>PROJECT CATEGORY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B4D">
                <a:alpha val="100000"/>
              </a:srgbClr>
            </a:gs>
            <a:gs pos="100000">
              <a:srgbClr val="1F2489">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911883" y="2459856"/>
            <a:ext cx="16366467" cy="7003046"/>
            <a:chOff x="0" y="0"/>
            <a:chExt cx="890554" cy="381059"/>
          </a:xfrm>
        </p:grpSpPr>
        <p:sp>
          <p:nvSpPr>
            <p:cNvPr id="3" name="Freeform 3"/>
            <p:cNvSpPr/>
            <p:nvPr/>
          </p:nvSpPr>
          <p:spPr>
            <a:xfrm>
              <a:off x="0" y="0"/>
              <a:ext cx="890554" cy="381059"/>
            </a:xfrm>
            <a:custGeom>
              <a:avLst/>
              <a:gdLst/>
              <a:ahLst/>
              <a:cxnLst/>
              <a:rect l="l" t="t" r="r" b="b"/>
              <a:pathLst>
                <a:path w="890554" h="381059">
                  <a:moveTo>
                    <a:pt x="0" y="0"/>
                  </a:moveTo>
                  <a:lnTo>
                    <a:pt x="890554" y="0"/>
                  </a:lnTo>
                  <a:lnTo>
                    <a:pt x="890554" y="381059"/>
                  </a:lnTo>
                  <a:lnTo>
                    <a:pt x="0" y="381059"/>
                  </a:lnTo>
                  <a:close/>
                </a:path>
              </a:pathLst>
            </a:custGeom>
            <a:solidFill>
              <a:srgbClr val="EEF8FF"/>
            </a:solidFill>
          </p:spPr>
        </p:sp>
        <p:sp>
          <p:nvSpPr>
            <p:cNvPr id="4" name="TextBox 4"/>
            <p:cNvSpPr txBox="1"/>
            <p:nvPr/>
          </p:nvSpPr>
          <p:spPr>
            <a:xfrm>
              <a:off x="0" y="-66675"/>
              <a:ext cx="890554" cy="447734"/>
            </a:xfrm>
            <a:prstGeom prst="rect">
              <a:avLst/>
            </a:prstGeom>
          </p:spPr>
          <p:txBody>
            <a:bodyPr lIns="50800" tIns="50800" rIns="50800" bIns="50800" rtlCol="0" anchor="ctr"/>
            <a:lstStyle/>
            <a:p>
              <a:pPr algn="ctr">
                <a:lnSpc>
                  <a:spcPts val="3151"/>
                </a:lnSpc>
              </a:pPr>
              <a:endParaRPr/>
            </a:p>
          </p:txBody>
        </p:sp>
      </p:grpSp>
      <p:sp>
        <p:nvSpPr>
          <p:cNvPr id="5" name="TextBox 5"/>
          <p:cNvSpPr txBox="1"/>
          <p:nvPr/>
        </p:nvSpPr>
        <p:spPr>
          <a:xfrm>
            <a:off x="5509326" y="312734"/>
            <a:ext cx="7133481" cy="1779338"/>
          </a:xfrm>
          <a:prstGeom prst="rect">
            <a:avLst/>
          </a:prstGeom>
        </p:spPr>
        <p:txBody>
          <a:bodyPr lIns="0" tIns="0" rIns="0" bIns="0" rtlCol="0" anchor="t">
            <a:spAutoFit/>
          </a:bodyPr>
          <a:lstStyle/>
          <a:p>
            <a:pPr algn="ctr">
              <a:lnSpc>
                <a:spcPts val="13431"/>
              </a:lnSpc>
            </a:pPr>
            <a:r>
              <a:rPr lang="en-US" sz="10493" b="1" i="1">
                <a:solidFill>
                  <a:srgbClr val="FFFFFF"/>
                </a:solidFill>
                <a:latin typeface="Poppins Bold Italics"/>
                <a:ea typeface="Poppins Bold Italics"/>
                <a:cs typeface="Poppins Bold Italics"/>
                <a:sym typeface="Poppins Bold Italics"/>
              </a:rPr>
              <a:t>ABSTRACT</a:t>
            </a:r>
          </a:p>
        </p:txBody>
      </p:sp>
      <p:sp>
        <p:nvSpPr>
          <p:cNvPr id="6" name="TextBox 6"/>
          <p:cNvSpPr txBox="1"/>
          <p:nvPr/>
        </p:nvSpPr>
        <p:spPr>
          <a:xfrm>
            <a:off x="1100200" y="2919522"/>
            <a:ext cx="15951733" cy="4880428"/>
          </a:xfrm>
          <a:prstGeom prst="rect">
            <a:avLst/>
          </a:prstGeom>
        </p:spPr>
        <p:txBody>
          <a:bodyPr lIns="0" tIns="0" rIns="0" bIns="0" rtlCol="0" anchor="t">
            <a:spAutoFit/>
          </a:bodyPr>
          <a:lstStyle/>
          <a:p>
            <a:pPr algn="just">
              <a:lnSpc>
                <a:spcPts val="4342"/>
              </a:lnSpc>
            </a:pPr>
            <a:r>
              <a:rPr lang="en-US" sz="3392" b="1">
                <a:solidFill>
                  <a:srgbClr val="3168AB"/>
                </a:solidFill>
                <a:latin typeface="Open Sauce Bold"/>
                <a:ea typeface="Open Sauce Bold"/>
                <a:cs typeface="Open Sauce Bold"/>
                <a:sym typeface="Open Sauce Bold"/>
              </a:rPr>
              <a:t>The gym fitness and workout progress tracking application is designed to help users maintain a structured and healthy fitness routine. Many individuals struggle with improper workout techniques, a lack of progress tracking, and poor communication with trainers. this system provides features such as workout plan management, bmi and calorie tracking, tutorial videos, and trainer-client communication. the application allows users to monitor their fitness progress and receive professional guidance. the goal of this project is to improve workout efficiency, safety, and motivation.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833290" cy="1593725"/>
          </a:xfrm>
        </p:grpSpPr>
        <p:sp>
          <p:nvSpPr>
            <p:cNvPr id="3" name="Freeform 3"/>
            <p:cNvSpPr/>
            <p:nvPr/>
          </p:nvSpPr>
          <p:spPr>
            <a:xfrm>
              <a:off x="0" y="0"/>
              <a:ext cx="2833290" cy="1593725"/>
            </a:xfrm>
            <a:custGeom>
              <a:avLst/>
              <a:gdLst/>
              <a:ahLst/>
              <a:cxnLst/>
              <a:rect l="l" t="t" r="r" b="b"/>
              <a:pathLst>
                <a:path w="2833290" h="1593725">
                  <a:moveTo>
                    <a:pt x="0" y="0"/>
                  </a:moveTo>
                  <a:lnTo>
                    <a:pt x="2833290" y="0"/>
                  </a:lnTo>
                  <a:lnTo>
                    <a:pt x="2833290" y="1593725"/>
                  </a:lnTo>
                  <a:lnTo>
                    <a:pt x="0" y="1593725"/>
                  </a:lnTo>
                  <a:close/>
                </a:path>
              </a:pathLst>
            </a:custGeom>
            <a:blipFill>
              <a:blip r:embed="rId2"/>
              <a:stretch>
                <a:fillRect t="-9222" b="-9222"/>
              </a:stretch>
            </a:blipFill>
          </p:spPr>
        </p:sp>
      </p:grpSp>
      <p:grpSp>
        <p:nvGrpSpPr>
          <p:cNvPr id="4" name="Group 4"/>
          <p:cNvGrpSpPr/>
          <p:nvPr/>
        </p:nvGrpSpPr>
        <p:grpSpPr>
          <a:xfrm>
            <a:off x="0" y="0"/>
            <a:ext cx="18288000" cy="10287000"/>
            <a:chOff x="0" y="0"/>
            <a:chExt cx="4816593" cy="2709333"/>
          </a:xfrm>
        </p:grpSpPr>
        <p:sp>
          <p:nvSpPr>
            <p:cNvPr id="5" name="Freeform 5"/>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D1B4D">
                    <a:alpha val="95000"/>
                  </a:srgbClr>
                </a:gs>
                <a:gs pos="100000">
                  <a:srgbClr val="1F2489">
                    <a:alpha val="95000"/>
                  </a:srgbClr>
                </a:gs>
              </a:gsLst>
              <a:lin ang="0"/>
            </a:gradFill>
          </p:spPr>
        </p:sp>
        <p:sp>
          <p:nvSpPr>
            <p:cNvPr id="6" name="TextBox 6"/>
            <p:cNvSpPr txBox="1"/>
            <p:nvPr/>
          </p:nvSpPr>
          <p:spPr>
            <a:xfrm>
              <a:off x="0" y="-66675"/>
              <a:ext cx="4816593" cy="2776008"/>
            </a:xfrm>
            <a:prstGeom prst="rect">
              <a:avLst/>
            </a:prstGeom>
          </p:spPr>
          <p:txBody>
            <a:bodyPr lIns="50800" tIns="50800" rIns="50800" bIns="50800" rtlCol="0" anchor="ctr"/>
            <a:lstStyle/>
            <a:p>
              <a:pPr algn="ctr">
                <a:lnSpc>
                  <a:spcPts val="3151"/>
                </a:lnSpc>
              </a:pPr>
              <a:endParaRPr/>
            </a:p>
          </p:txBody>
        </p:sp>
      </p:grpSp>
      <p:sp>
        <p:nvSpPr>
          <p:cNvPr id="7" name="TextBox 7"/>
          <p:cNvSpPr txBox="1"/>
          <p:nvPr/>
        </p:nvSpPr>
        <p:spPr>
          <a:xfrm>
            <a:off x="691962" y="2361869"/>
            <a:ext cx="16904076" cy="1244037"/>
          </a:xfrm>
          <a:prstGeom prst="rect">
            <a:avLst/>
          </a:prstGeom>
        </p:spPr>
        <p:txBody>
          <a:bodyPr lIns="0" tIns="0" rIns="0" bIns="0" rtlCol="0" anchor="t">
            <a:spAutoFit/>
          </a:bodyPr>
          <a:lstStyle/>
          <a:p>
            <a:pPr algn="ctr">
              <a:lnSpc>
                <a:spcPts val="10166"/>
              </a:lnSpc>
            </a:pPr>
            <a:r>
              <a:rPr lang="en-US" sz="7261" i="1">
                <a:solidFill>
                  <a:srgbClr val="FFFFFF"/>
                </a:solidFill>
                <a:latin typeface="Anton Italics"/>
                <a:ea typeface="Anton Italics"/>
                <a:cs typeface="Anton Italics"/>
                <a:sym typeface="Anton Italics"/>
              </a:rPr>
              <a:t>IS THIS RESEARCH BASED PROJECT?</a:t>
            </a:r>
          </a:p>
        </p:txBody>
      </p:sp>
      <p:sp>
        <p:nvSpPr>
          <p:cNvPr id="11" name="TextBox 11"/>
          <p:cNvSpPr txBox="1"/>
          <p:nvPr/>
        </p:nvSpPr>
        <p:spPr>
          <a:xfrm>
            <a:off x="929526" y="4343843"/>
            <a:ext cx="16428949" cy="2097990"/>
          </a:xfrm>
          <a:prstGeom prst="rect">
            <a:avLst/>
          </a:prstGeom>
        </p:spPr>
        <p:txBody>
          <a:bodyPr lIns="0" tIns="0" rIns="0" bIns="0" rtlCol="0" anchor="t">
            <a:spAutoFit/>
          </a:bodyPr>
          <a:lstStyle/>
          <a:p>
            <a:pPr algn="ctr">
              <a:lnSpc>
                <a:spcPts val="4189"/>
              </a:lnSpc>
            </a:pPr>
            <a:r>
              <a:rPr lang="en-US" sz="2992">
                <a:solidFill>
                  <a:srgbClr val="FFFFFF"/>
                </a:solidFill>
                <a:latin typeface="League Spartan"/>
                <a:ea typeface="League Spartan"/>
                <a:cs typeface="League Spartan"/>
                <a:sym typeface="League Spartan"/>
              </a:rPr>
              <a:t>NO</a:t>
            </a:r>
          </a:p>
          <a:p>
            <a:pPr algn="ctr">
              <a:lnSpc>
                <a:spcPts val="4189"/>
              </a:lnSpc>
            </a:pPr>
            <a:r>
              <a:rPr lang="en-US" sz="2992">
                <a:solidFill>
                  <a:srgbClr val="FFFFFF"/>
                </a:solidFill>
                <a:latin typeface="League Spartan"/>
                <a:ea typeface="League Spartan"/>
                <a:cs typeface="League Spartan"/>
                <a:sym typeface="League Spartan"/>
              </a:rPr>
              <a:t>This project focuses on system development rather than research paper implementation</a:t>
            </a:r>
          </a:p>
          <a:p>
            <a:pPr algn="ctr">
              <a:lnSpc>
                <a:spcPts val="4189"/>
              </a:lnSpc>
            </a:pPr>
            <a:endParaRPr lang="en-US" sz="2992">
              <a:solidFill>
                <a:srgbClr val="FFFFFF"/>
              </a:solidFill>
              <a:latin typeface="League Spartan"/>
              <a:ea typeface="League Spartan"/>
              <a:cs typeface="League Spartan"/>
              <a:sym typeface="League Spart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B4D">
                <a:alpha val="100000"/>
              </a:srgbClr>
            </a:gs>
            <a:gs pos="100000">
              <a:srgbClr val="1F2489">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627390" y="1640339"/>
            <a:ext cx="17052270" cy="8367455"/>
            <a:chOff x="0" y="0"/>
            <a:chExt cx="927871" cy="455301"/>
          </a:xfrm>
        </p:grpSpPr>
        <p:sp>
          <p:nvSpPr>
            <p:cNvPr id="3" name="Freeform 3"/>
            <p:cNvSpPr/>
            <p:nvPr/>
          </p:nvSpPr>
          <p:spPr>
            <a:xfrm>
              <a:off x="0" y="0"/>
              <a:ext cx="927871" cy="455301"/>
            </a:xfrm>
            <a:custGeom>
              <a:avLst/>
              <a:gdLst/>
              <a:ahLst/>
              <a:cxnLst/>
              <a:rect l="l" t="t" r="r" b="b"/>
              <a:pathLst>
                <a:path w="927871" h="455301">
                  <a:moveTo>
                    <a:pt x="0" y="0"/>
                  </a:moveTo>
                  <a:lnTo>
                    <a:pt x="927871" y="0"/>
                  </a:lnTo>
                  <a:lnTo>
                    <a:pt x="927871" y="455301"/>
                  </a:lnTo>
                  <a:lnTo>
                    <a:pt x="0" y="455301"/>
                  </a:lnTo>
                  <a:close/>
                </a:path>
              </a:pathLst>
            </a:custGeom>
            <a:solidFill>
              <a:srgbClr val="EEF8FF"/>
            </a:solidFill>
          </p:spPr>
        </p:sp>
        <p:sp>
          <p:nvSpPr>
            <p:cNvPr id="4" name="TextBox 4"/>
            <p:cNvSpPr txBox="1"/>
            <p:nvPr/>
          </p:nvSpPr>
          <p:spPr>
            <a:xfrm>
              <a:off x="0" y="-66675"/>
              <a:ext cx="927871" cy="521976"/>
            </a:xfrm>
            <a:prstGeom prst="rect">
              <a:avLst/>
            </a:prstGeom>
          </p:spPr>
          <p:txBody>
            <a:bodyPr lIns="50800" tIns="50800" rIns="50800" bIns="50800" rtlCol="0" anchor="ctr"/>
            <a:lstStyle/>
            <a:p>
              <a:pPr algn="ctr">
                <a:lnSpc>
                  <a:spcPts val="3151"/>
                </a:lnSpc>
              </a:pPr>
              <a:endParaRPr/>
            </a:p>
          </p:txBody>
        </p:sp>
      </p:grpSp>
      <p:sp>
        <p:nvSpPr>
          <p:cNvPr id="5" name="TextBox 5"/>
          <p:cNvSpPr txBox="1"/>
          <p:nvPr/>
        </p:nvSpPr>
        <p:spPr>
          <a:xfrm>
            <a:off x="3351562" y="283711"/>
            <a:ext cx="11584875" cy="1356629"/>
          </a:xfrm>
          <a:prstGeom prst="rect">
            <a:avLst/>
          </a:prstGeom>
        </p:spPr>
        <p:txBody>
          <a:bodyPr lIns="0" tIns="0" rIns="0" bIns="0" rtlCol="0" anchor="t">
            <a:spAutoFit/>
          </a:bodyPr>
          <a:lstStyle/>
          <a:p>
            <a:pPr algn="ctr">
              <a:lnSpc>
                <a:spcPts val="10286"/>
              </a:lnSpc>
            </a:pPr>
            <a:r>
              <a:rPr lang="en-US" sz="8036" b="1" i="1">
                <a:solidFill>
                  <a:srgbClr val="EEF8FF"/>
                </a:solidFill>
                <a:latin typeface="Poppins Bold Italics"/>
                <a:ea typeface="Poppins Bold Italics"/>
                <a:cs typeface="Poppins Bold Italics"/>
                <a:sym typeface="Poppins Bold Italics"/>
              </a:rPr>
              <a:t>PURPOSE OF PROJECT</a:t>
            </a:r>
          </a:p>
        </p:txBody>
      </p:sp>
      <p:sp>
        <p:nvSpPr>
          <p:cNvPr id="6" name="TextBox 6"/>
          <p:cNvSpPr txBox="1"/>
          <p:nvPr/>
        </p:nvSpPr>
        <p:spPr>
          <a:xfrm>
            <a:off x="1028700" y="3592813"/>
            <a:ext cx="7672451" cy="5665487"/>
          </a:xfrm>
          <a:prstGeom prst="rect">
            <a:avLst/>
          </a:prstGeom>
        </p:spPr>
        <p:txBody>
          <a:bodyPr lIns="0" tIns="0" rIns="0" bIns="0" rtlCol="0" anchor="t">
            <a:spAutoFit/>
          </a:bodyPr>
          <a:lstStyle/>
          <a:p>
            <a:pPr marL="444939" lvl="1" indent="-222470" algn="just">
              <a:lnSpc>
                <a:spcPts val="2637"/>
              </a:lnSpc>
              <a:buFont typeface="Arial"/>
              <a:buChar char="•"/>
            </a:pPr>
            <a:r>
              <a:rPr lang="en-US" sz="2060">
                <a:solidFill>
                  <a:srgbClr val="3168AB"/>
                </a:solidFill>
                <a:latin typeface="League Spartan"/>
                <a:ea typeface="League Spartan"/>
                <a:cs typeface="League Spartan"/>
                <a:sym typeface="League Spartan"/>
              </a:rPr>
              <a:t>It is a web-based platform designed to help manage gym activities digitally.</a:t>
            </a:r>
          </a:p>
          <a:p>
            <a:pPr algn="just">
              <a:lnSpc>
                <a:spcPts val="2637"/>
              </a:lnSpc>
            </a:pPr>
            <a:endParaRPr lang="en-US" sz="2060">
              <a:solidFill>
                <a:srgbClr val="3168AB"/>
              </a:solidFill>
              <a:latin typeface="League Spartan"/>
              <a:ea typeface="League Spartan"/>
              <a:cs typeface="League Spartan"/>
              <a:sym typeface="League Spartan"/>
            </a:endParaRPr>
          </a:p>
          <a:p>
            <a:pPr marL="444939" lvl="1" indent="-222470" algn="just">
              <a:lnSpc>
                <a:spcPts val="2637"/>
              </a:lnSpc>
              <a:buFont typeface="Arial"/>
              <a:buChar char="•"/>
            </a:pPr>
            <a:r>
              <a:rPr lang="en-US" sz="2060">
                <a:solidFill>
                  <a:srgbClr val="3168AB"/>
                </a:solidFill>
                <a:latin typeface="League Spartan"/>
                <a:ea typeface="League Spartan"/>
                <a:cs typeface="League Spartan"/>
                <a:sym typeface="League Spartan"/>
              </a:rPr>
              <a:t>Members can track workouts, diet plans, and fitness progress.</a:t>
            </a:r>
          </a:p>
          <a:p>
            <a:pPr algn="just">
              <a:lnSpc>
                <a:spcPts val="2637"/>
              </a:lnSpc>
            </a:pPr>
            <a:endParaRPr lang="en-US" sz="2060">
              <a:solidFill>
                <a:srgbClr val="3168AB"/>
              </a:solidFill>
              <a:latin typeface="League Spartan"/>
              <a:ea typeface="League Spartan"/>
              <a:cs typeface="League Spartan"/>
              <a:sym typeface="League Spartan"/>
            </a:endParaRPr>
          </a:p>
          <a:p>
            <a:pPr marL="444939" lvl="1" indent="-222470" algn="just">
              <a:lnSpc>
                <a:spcPts val="2637"/>
              </a:lnSpc>
              <a:buFont typeface="Arial"/>
              <a:buChar char="•"/>
            </a:pPr>
            <a:r>
              <a:rPr lang="en-US" sz="2060">
                <a:solidFill>
                  <a:srgbClr val="3168AB"/>
                </a:solidFill>
                <a:latin typeface="League Spartan"/>
                <a:ea typeface="League Spartan"/>
                <a:cs typeface="League Spartan"/>
                <a:sym typeface="League Spartan"/>
              </a:rPr>
              <a:t>It offers exercise tutorial videos and includes a fitness calculator for BMI and calorie tracking.</a:t>
            </a:r>
          </a:p>
          <a:p>
            <a:pPr algn="just">
              <a:lnSpc>
                <a:spcPts val="2637"/>
              </a:lnSpc>
            </a:pPr>
            <a:endParaRPr lang="en-US" sz="2060">
              <a:solidFill>
                <a:srgbClr val="3168AB"/>
              </a:solidFill>
              <a:latin typeface="League Spartan"/>
              <a:ea typeface="League Spartan"/>
              <a:cs typeface="League Spartan"/>
              <a:sym typeface="League Spartan"/>
            </a:endParaRPr>
          </a:p>
          <a:p>
            <a:pPr marL="444939" lvl="1" indent="-222470" algn="just">
              <a:lnSpc>
                <a:spcPts val="2637"/>
              </a:lnSpc>
              <a:buFont typeface="Arial"/>
              <a:buChar char="•"/>
            </a:pPr>
            <a:r>
              <a:rPr lang="en-US" sz="2060">
                <a:solidFill>
                  <a:srgbClr val="3168AB"/>
                </a:solidFill>
                <a:latin typeface="League Spartan"/>
                <a:ea typeface="League Spartan"/>
                <a:cs typeface="League Spartan"/>
                <a:sym typeface="League Spartan"/>
              </a:rPr>
              <a:t>The platform facilitates communication between members and trainers.</a:t>
            </a:r>
          </a:p>
          <a:p>
            <a:pPr algn="just">
              <a:lnSpc>
                <a:spcPts val="2637"/>
              </a:lnSpc>
            </a:pPr>
            <a:endParaRPr lang="en-US" sz="2060">
              <a:solidFill>
                <a:srgbClr val="3168AB"/>
              </a:solidFill>
              <a:latin typeface="League Spartan"/>
              <a:ea typeface="League Spartan"/>
              <a:cs typeface="League Spartan"/>
              <a:sym typeface="League Spartan"/>
            </a:endParaRPr>
          </a:p>
          <a:p>
            <a:pPr marL="444939" lvl="1" indent="-222470" algn="just">
              <a:lnSpc>
                <a:spcPts val="2637"/>
              </a:lnSpc>
              <a:buFont typeface="Arial"/>
              <a:buChar char="•"/>
            </a:pPr>
            <a:r>
              <a:rPr lang="en-US" sz="2060">
                <a:solidFill>
                  <a:srgbClr val="3168AB"/>
                </a:solidFill>
                <a:latin typeface="League Spartan"/>
                <a:ea typeface="League Spartan"/>
                <a:cs typeface="League Spartan"/>
                <a:sym typeface="League Spartan"/>
              </a:rPr>
              <a:t>Administrators can manage memberships, trainers, and gym resources effectively.</a:t>
            </a:r>
          </a:p>
          <a:p>
            <a:pPr algn="just">
              <a:lnSpc>
                <a:spcPts val="2637"/>
              </a:lnSpc>
            </a:pPr>
            <a:endParaRPr lang="en-US" sz="2060">
              <a:solidFill>
                <a:srgbClr val="3168AB"/>
              </a:solidFill>
              <a:latin typeface="League Spartan"/>
              <a:ea typeface="League Spartan"/>
              <a:cs typeface="League Spartan"/>
              <a:sym typeface="League Spartan"/>
            </a:endParaRPr>
          </a:p>
          <a:p>
            <a:pPr marL="444939" lvl="1" indent="-222470" algn="just">
              <a:lnSpc>
                <a:spcPts val="2637"/>
              </a:lnSpc>
              <a:buFont typeface="Arial"/>
              <a:buChar char="•"/>
            </a:pPr>
            <a:r>
              <a:rPr lang="en-US" sz="2060">
                <a:solidFill>
                  <a:srgbClr val="3168AB"/>
                </a:solidFill>
                <a:latin typeface="League Spartan"/>
                <a:ea typeface="League Spartan"/>
                <a:cs typeface="League Spartan"/>
                <a:sym typeface="League Spartan"/>
              </a:rPr>
              <a:t>It enhances gym management and boosts fitness tracking efficiency.</a:t>
            </a:r>
          </a:p>
        </p:txBody>
      </p:sp>
      <p:grpSp>
        <p:nvGrpSpPr>
          <p:cNvPr id="7" name="Group 7"/>
          <p:cNvGrpSpPr/>
          <p:nvPr/>
        </p:nvGrpSpPr>
        <p:grpSpPr>
          <a:xfrm>
            <a:off x="2920354" y="2065434"/>
            <a:ext cx="3889143" cy="1166805"/>
            <a:chOff x="0" y="0"/>
            <a:chExt cx="920589" cy="276192"/>
          </a:xfrm>
        </p:grpSpPr>
        <p:sp>
          <p:nvSpPr>
            <p:cNvPr id="8" name="Freeform 8"/>
            <p:cNvSpPr/>
            <p:nvPr/>
          </p:nvSpPr>
          <p:spPr>
            <a:xfrm>
              <a:off x="0" y="0"/>
              <a:ext cx="920589" cy="276192"/>
            </a:xfrm>
            <a:custGeom>
              <a:avLst/>
              <a:gdLst/>
              <a:ahLst/>
              <a:cxnLst/>
              <a:rect l="l" t="t" r="r" b="b"/>
              <a:pathLst>
                <a:path w="920589" h="276192">
                  <a:moveTo>
                    <a:pt x="0" y="0"/>
                  </a:moveTo>
                  <a:lnTo>
                    <a:pt x="920589" y="0"/>
                  </a:lnTo>
                  <a:lnTo>
                    <a:pt x="920589" y="276192"/>
                  </a:lnTo>
                  <a:lnTo>
                    <a:pt x="0" y="276192"/>
                  </a:lnTo>
                  <a:close/>
                </a:path>
              </a:pathLst>
            </a:custGeom>
            <a:gradFill rotWithShape="1">
              <a:gsLst>
                <a:gs pos="0">
                  <a:srgbClr val="0D1B4D">
                    <a:alpha val="100000"/>
                  </a:srgbClr>
                </a:gs>
                <a:gs pos="100000">
                  <a:srgbClr val="1F2489">
                    <a:alpha val="100000"/>
                  </a:srgbClr>
                </a:gs>
              </a:gsLst>
              <a:lin ang="0"/>
            </a:gradFill>
            <a:ln cap="sq">
              <a:noFill/>
              <a:prstDash val="solid"/>
              <a:miter/>
            </a:ln>
          </p:spPr>
        </p:sp>
        <p:sp>
          <p:nvSpPr>
            <p:cNvPr id="9" name="TextBox 9"/>
            <p:cNvSpPr txBox="1"/>
            <p:nvPr/>
          </p:nvSpPr>
          <p:spPr>
            <a:xfrm>
              <a:off x="0" y="-38100"/>
              <a:ext cx="920589" cy="314292"/>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490178" y="2234375"/>
            <a:ext cx="6749495" cy="743198"/>
          </a:xfrm>
          <a:prstGeom prst="rect">
            <a:avLst/>
          </a:prstGeom>
        </p:spPr>
        <p:txBody>
          <a:bodyPr lIns="0" tIns="0" rIns="0" bIns="0" rtlCol="0" anchor="t">
            <a:spAutoFit/>
          </a:bodyPr>
          <a:lstStyle/>
          <a:p>
            <a:pPr algn="ctr">
              <a:lnSpc>
                <a:spcPts val="6148"/>
              </a:lnSpc>
              <a:spcBef>
                <a:spcPct val="0"/>
              </a:spcBef>
            </a:pPr>
            <a:r>
              <a:rPr lang="en-US" sz="4391" b="1">
                <a:solidFill>
                  <a:srgbClr val="FFFFFF"/>
                </a:solidFill>
                <a:latin typeface="Raleway Bold"/>
                <a:ea typeface="Raleway Bold"/>
                <a:cs typeface="Raleway Bold"/>
                <a:sym typeface="Raleway Bold"/>
              </a:rPr>
              <a:t>Key Goals</a:t>
            </a:r>
          </a:p>
        </p:txBody>
      </p:sp>
      <p:grpSp>
        <p:nvGrpSpPr>
          <p:cNvPr id="11" name="Group 11"/>
          <p:cNvGrpSpPr/>
          <p:nvPr/>
        </p:nvGrpSpPr>
        <p:grpSpPr>
          <a:xfrm>
            <a:off x="11393605" y="2065434"/>
            <a:ext cx="3889143" cy="1166805"/>
            <a:chOff x="0" y="0"/>
            <a:chExt cx="920589" cy="276192"/>
          </a:xfrm>
        </p:grpSpPr>
        <p:sp>
          <p:nvSpPr>
            <p:cNvPr id="12" name="Freeform 12"/>
            <p:cNvSpPr/>
            <p:nvPr/>
          </p:nvSpPr>
          <p:spPr>
            <a:xfrm>
              <a:off x="0" y="0"/>
              <a:ext cx="920589" cy="276192"/>
            </a:xfrm>
            <a:custGeom>
              <a:avLst/>
              <a:gdLst/>
              <a:ahLst/>
              <a:cxnLst/>
              <a:rect l="l" t="t" r="r" b="b"/>
              <a:pathLst>
                <a:path w="920589" h="276192">
                  <a:moveTo>
                    <a:pt x="0" y="0"/>
                  </a:moveTo>
                  <a:lnTo>
                    <a:pt x="920589" y="0"/>
                  </a:lnTo>
                  <a:lnTo>
                    <a:pt x="920589" y="276192"/>
                  </a:lnTo>
                  <a:lnTo>
                    <a:pt x="0" y="276192"/>
                  </a:lnTo>
                  <a:close/>
                </a:path>
              </a:pathLst>
            </a:custGeom>
            <a:gradFill rotWithShape="1">
              <a:gsLst>
                <a:gs pos="0">
                  <a:srgbClr val="0D1B4D">
                    <a:alpha val="100000"/>
                  </a:srgbClr>
                </a:gs>
                <a:gs pos="100000">
                  <a:srgbClr val="1F2489">
                    <a:alpha val="100000"/>
                  </a:srgbClr>
                </a:gs>
              </a:gsLst>
              <a:lin ang="0"/>
            </a:gradFill>
            <a:ln cap="sq">
              <a:noFill/>
              <a:prstDash val="solid"/>
              <a:miter/>
            </a:ln>
          </p:spPr>
        </p:sp>
        <p:sp>
          <p:nvSpPr>
            <p:cNvPr id="13" name="TextBox 13"/>
            <p:cNvSpPr txBox="1"/>
            <p:nvPr/>
          </p:nvSpPr>
          <p:spPr>
            <a:xfrm>
              <a:off x="0" y="-38100"/>
              <a:ext cx="920589" cy="314292"/>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9620042" y="2157951"/>
            <a:ext cx="7436270" cy="819623"/>
          </a:xfrm>
          <a:prstGeom prst="rect">
            <a:avLst/>
          </a:prstGeom>
        </p:spPr>
        <p:txBody>
          <a:bodyPr lIns="0" tIns="0" rIns="0" bIns="0" rtlCol="0" anchor="t">
            <a:spAutoFit/>
          </a:bodyPr>
          <a:lstStyle/>
          <a:p>
            <a:pPr algn="ctr">
              <a:lnSpc>
                <a:spcPts val="6774"/>
              </a:lnSpc>
              <a:spcBef>
                <a:spcPct val="0"/>
              </a:spcBef>
            </a:pPr>
            <a:r>
              <a:rPr lang="en-US" sz="4838" b="1">
                <a:solidFill>
                  <a:srgbClr val="FFFFFF"/>
                </a:solidFill>
                <a:latin typeface="Raleway Bold"/>
                <a:ea typeface="Raleway Bold"/>
                <a:cs typeface="Raleway Bold"/>
                <a:sym typeface="Raleway Bold"/>
              </a:rPr>
              <a:t>Impact</a:t>
            </a:r>
          </a:p>
        </p:txBody>
      </p:sp>
      <p:sp>
        <p:nvSpPr>
          <p:cNvPr id="15" name="TextBox 15"/>
          <p:cNvSpPr txBox="1"/>
          <p:nvPr/>
        </p:nvSpPr>
        <p:spPr>
          <a:xfrm>
            <a:off x="11256581" y="3311232"/>
            <a:ext cx="4163193" cy="940841"/>
          </a:xfrm>
          <a:prstGeom prst="rect">
            <a:avLst/>
          </a:prstGeom>
        </p:spPr>
        <p:txBody>
          <a:bodyPr lIns="0" tIns="0" rIns="0" bIns="0" rtlCol="0" anchor="t">
            <a:spAutoFit/>
          </a:bodyPr>
          <a:lstStyle/>
          <a:p>
            <a:pPr marL="584875" lvl="1" indent="-292437" algn="just">
              <a:lnSpc>
                <a:spcPts val="3792"/>
              </a:lnSpc>
              <a:buFont typeface="Arial"/>
              <a:buChar char="•"/>
            </a:pPr>
            <a:r>
              <a:rPr lang="en-US" sz="2709" b="1">
                <a:gradFill>
                  <a:gsLst>
                    <a:gs pos="0">
                      <a:srgbClr val="0D1B4D">
                        <a:alpha val="100000"/>
                      </a:srgbClr>
                    </a:gs>
                    <a:gs pos="100000">
                      <a:srgbClr val="1F2489">
                        <a:alpha val="100000"/>
                      </a:srgbClr>
                    </a:gs>
                  </a:gsLst>
                  <a:lin ang="0"/>
                </a:gradFill>
                <a:latin typeface="Raleway Bold"/>
                <a:ea typeface="Raleway Bold"/>
                <a:cs typeface="Raleway Bold"/>
                <a:sym typeface="Raleway Bold"/>
              </a:rPr>
              <a:t>Local impact</a:t>
            </a:r>
          </a:p>
          <a:p>
            <a:pPr algn="just">
              <a:lnSpc>
                <a:spcPts val="3792"/>
              </a:lnSpc>
            </a:pPr>
            <a:endParaRPr lang="en-US" sz="2709" b="1">
              <a:gradFill>
                <a:gsLst>
                  <a:gs pos="0">
                    <a:srgbClr val="0D1B4D">
                      <a:alpha val="100000"/>
                    </a:srgbClr>
                  </a:gs>
                  <a:gs pos="100000">
                    <a:srgbClr val="1F2489">
                      <a:alpha val="100000"/>
                    </a:srgbClr>
                  </a:gs>
                </a:gsLst>
                <a:lin ang="0"/>
              </a:gradFill>
              <a:latin typeface="Raleway Bold"/>
              <a:ea typeface="Raleway Bold"/>
              <a:cs typeface="Raleway Bold"/>
              <a:sym typeface="Raleway Bold"/>
            </a:endParaRPr>
          </a:p>
        </p:txBody>
      </p:sp>
      <p:sp>
        <p:nvSpPr>
          <p:cNvPr id="16" name="TextBox 16"/>
          <p:cNvSpPr txBox="1"/>
          <p:nvPr/>
        </p:nvSpPr>
        <p:spPr>
          <a:xfrm>
            <a:off x="11393605" y="3822789"/>
            <a:ext cx="5094607" cy="1618058"/>
          </a:xfrm>
          <a:prstGeom prst="rect">
            <a:avLst/>
          </a:prstGeom>
        </p:spPr>
        <p:txBody>
          <a:bodyPr lIns="0" tIns="0" rIns="0" bIns="0" rtlCol="0" anchor="t">
            <a:spAutoFit/>
          </a:bodyPr>
          <a:lstStyle/>
          <a:p>
            <a:pPr algn="just">
              <a:lnSpc>
                <a:spcPts val="2550"/>
              </a:lnSpc>
            </a:pPr>
            <a:r>
              <a:rPr lang="en-US" sz="1992">
                <a:solidFill>
                  <a:srgbClr val="3168AB"/>
                </a:solidFill>
                <a:latin typeface="League Spartan"/>
                <a:ea typeface="League Spartan"/>
                <a:cs typeface="League Spartan"/>
                <a:sym typeface="League Spartan"/>
              </a:rPr>
              <a:t>This system will help local gym members and fitness beginners track their workouts, diet, and progress easily. It will also help trainers guide their clients better.</a:t>
            </a:r>
          </a:p>
        </p:txBody>
      </p:sp>
      <p:sp>
        <p:nvSpPr>
          <p:cNvPr id="17" name="TextBox 17"/>
          <p:cNvSpPr txBox="1"/>
          <p:nvPr/>
        </p:nvSpPr>
        <p:spPr>
          <a:xfrm>
            <a:off x="11256581" y="5509263"/>
            <a:ext cx="4163193" cy="940841"/>
          </a:xfrm>
          <a:prstGeom prst="rect">
            <a:avLst/>
          </a:prstGeom>
        </p:spPr>
        <p:txBody>
          <a:bodyPr lIns="0" tIns="0" rIns="0" bIns="0" rtlCol="0" anchor="t">
            <a:spAutoFit/>
          </a:bodyPr>
          <a:lstStyle/>
          <a:p>
            <a:pPr marL="584875" lvl="1" indent="-292437" algn="just">
              <a:lnSpc>
                <a:spcPts val="3792"/>
              </a:lnSpc>
              <a:buFont typeface="Arial"/>
              <a:buChar char="•"/>
            </a:pPr>
            <a:r>
              <a:rPr lang="en-US" sz="2709" b="1">
                <a:gradFill>
                  <a:gsLst>
                    <a:gs pos="0">
                      <a:srgbClr val="0D1B4D">
                        <a:alpha val="100000"/>
                      </a:srgbClr>
                    </a:gs>
                    <a:gs pos="100000">
                      <a:srgbClr val="1F2489">
                        <a:alpha val="100000"/>
                      </a:srgbClr>
                    </a:gs>
                  </a:gsLst>
                  <a:lin ang="0"/>
                </a:gradFill>
                <a:latin typeface="Raleway Bold"/>
                <a:ea typeface="Raleway Bold"/>
                <a:cs typeface="Raleway Bold"/>
                <a:sym typeface="Raleway Bold"/>
              </a:rPr>
              <a:t>International impact</a:t>
            </a:r>
          </a:p>
          <a:p>
            <a:pPr algn="just">
              <a:lnSpc>
                <a:spcPts val="3792"/>
              </a:lnSpc>
            </a:pPr>
            <a:endParaRPr lang="en-US" sz="2709" b="1">
              <a:gradFill>
                <a:gsLst>
                  <a:gs pos="0">
                    <a:srgbClr val="0D1B4D">
                      <a:alpha val="100000"/>
                    </a:srgbClr>
                  </a:gs>
                  <a:gs pos="100000">
                    <a:srgbClr val="1F2489">
                      <a:alpha val="100000"/>
                    </a:srgbClr>
                  </a:gs>
                </a:gsLst>
                <a:lin ang="0"/>
              </a:gradFill>
              <a:latin typeface="Raleway Bold"/>
              <a:ea typeface="Raleway Bold"/>
              <a:cs typeface="Raleway Bold"/>
              <a:sym typeface="Raleway Bold"/>
            </a:endParaRPr>
          </a:p>
        </p:txBody>
      </p:sp>
      <p:sp>
        <p:nvSpPr>
          <p:cNvPr id="18" name="TextBox 18"/>
          <p:cNvSpPr txBox="1"/>
          <p:nvPr/>
        </p:nvSpPr>
        <p:spPr>
          <a:xfrm>
            <a:off x="11393605" y="6020821"/>
            <a:ext cx="5094607" cy="1294208"/>
          </a:xfrm>
          <a:prstGeom prst="rect">
            <a:avLst/>
          </a:prstGeom>
        </p:spPr>
        <p:txBody>
          <a:bodyPr lIns="0" tIns="0" rIns="0" bIns="0" rtlCol="0" anchor="t">
            <a:spAutoFit/>
          </a:bodyPr>
          <a:lstStyle/>
          <a:p>
            <a:pPr algn="just">
              <a:lnSpc>
                <a:spcPts val="2550"/>
              </a:lnSpc>
            </a:pPr>
            <a:r>
              <a:rPr lang="en-US" sz="1992">
                <a:solidFill>
                  <a:srgbClr val="3168AB"/>
                </a:solidFill>
                <a:latin typeface="League Spartan"/>
                <a:ea typeface="League Spartan"/>
                <a:cs typeface="League Spartan"/>
                <a:sym typeface="League Spartan"/>
              </a:rPr>
              <a:t>This system will be used worldwide. This project supports the global trend of using digital technology to improve health and fitness management.</a:t>
            </a:r>
          </a:p>
        </p:txBody>
      </p:sp>
      <p:sp>
        <p:nvSpPr>
          <p:cNvPr id="19" name="TextBox 19"/>
          <p:cNvSpPr txBox="1"/>
          <p:nvPr/>
        </p:nvSpPr>
        <p:spPr>
          <a:xfrm>
            <a:off x="11256581" y="7391229"/>
            <a:ext cx="4163193" cy="464591"/>
          </a:xfrm>
          <a:prstGeom prst="rect">
            <a:avLst/>
          </a:prstGeom>
        </p:spPr>
        <p:txBody>
          <a:bodyPr lIns="0" tIns="0" rIns="0" bIns="0" rtlCol="0" anchor="t">
            <a:spAutoFit/>
          </a:bodyPr>
          <a:lstStyle/>
          <a:p>
            <a:pPr marL="584875" lvl="1" indent="-292437" algn="l">
              <a:lnSpc>
                <a:spcPts val="3792"/>
              </a:lnSpc>
              <a:buFont typeface="Arial"/>
              <a:buChar char="•"/>
            </a:pPr>
            <a:r>
              <a:rPr lang="en-US" sz="2709" b="1">
                <a:gradFill>
                  <a:gsLst>
                    <a:gs pos="0">
                      <a:srgbClr val="0D1B4D">
                        <a:alpha val="100000"/>
                      </a:srgbClr>
                    </a:gs>
                    <a:gs pos="100000">
                      <a:srgbClr val="1F2489">
                        <a:alpha val="100000"/>
                      </a:srgbClr>
                    </a:gs>
                  </a:gsLst>
                  <a:lin ang="0"/>
                </a:gradFill>
                <a:latin typeface="Raleway Bold"/>
                <a:ea typeface="Raleway Bold"/>
                <a:cs typeface="Raleway Bold"/>
                <a:sym typeface="Raleway Bold"/>
              </a:rPr>
              <a:t>Professional impact</a:t>
            </a:r>
          </a:p>
        </p:txBody>
      </p:sp>
      <p:sp>
        <p:nvSpPr>
          <p:cNvPr id="20" name="TextBox 20"/>
          <p:cNvSpPr txBox="1"/>
          <p:nvPr/>
        </p:nvSpPr>
        <p:spPr>
          <a:xfrm>
            <a:off x="11393605" y="7970120"/>
            <a:ext cx="5094607" cy="1618058"/>
          </a:xfrm>
          <a:prstGeom prst="rect">
            <a:avLst/>
          </a:prstGeom>
        </p:spPr>
        <p:txBody>
          <a:bodyPr lIns="0" tIns="0" rIns="0" bIns="0" rtlCol="0" anchor="t">
            <a:spAutoFit/>
          </a:bodyPr>
          <a:lstStyle/>
          <a:p>
            <a:pPr algn="l">
              <a:lnSpc>
                <a:spcPts val="2550"/>
              </a:lnSpc>
            </a:pPr>
            <a:r>
              <a:rPr lang="en-US" sz="1992">
                <a:solidFill>
                  <a:srgbClr val="3168AB"/>
                </a:solidFill>
                <a:latin typeface="League Spartan"/>
                <a:ea typeface="League Spartan"/>
                <a:cs typeface="League Spartan"/>
                <a:sym typeface="League Spartan"/>
              </a:rPr>
              <a:t>This project will help students learn important software development skills such as web/mobile development, database management, API integration, and user interface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B4D">
                <a:alpha val="100000"/>
              </a:srgbClr>
            </a:gs>
            <a:gs pos="100000">
              <a:srgbClr val="1F2489">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6416800" y="8443047"/>
            <a:ext cx="1947333" cy="371475"/>
          </a:xfrm>
          <a:prstGeom prst="rect">
            <a:avLst/>
          </a:prstGeom>
        </p:spPr>
        <p:txBody>
          <a:bodyPr lIns="0" tIns="0" rIns="0" bIns="0" rtlCol="0" anchor="t">
            <a:spAutoFit/>
          </a:bodyPr>
          <a:lstStyle/>
          <a:p>
            <a:pPr algn="ctr">
              <a:lnSpc>
                <a:spcPts val="2400"/>
              </a:lnSpc>
            </a:pPr>
            <a:r>
              <a:rPr lang="en-US" sz="2000">
                <a:solidFill>
                  <a:srgbClr val="FFFFFF"/>
                </a:solidFill>
                <a:latin typeface="Agrandir Narrow"/>
                <a:ea typeface="Agrandir Narrow"/>
                <a:cs typeface="Agrandir Narrow"/>
                <a:sym typeface="Agrandir Narrow"/>
              </a:rPr>
              <a:t>2023</a:t>
            </a:r>
          </a:p>
        </p:txBody>
      </p:sp>
      <p:sp>
        <p:nvSpPr>
          <p:cNvPr id="3" name="TextBox 3"/>
          <p:cNvSpPr txBox="1"/>
          <p:nvPr/>
        </p:nvSpPr>
        <p:spPr>
          <a:xfrm>
            <a:off x="4717129" y="445154"/>
            <a:ext cx="7294008" cy="931545"/>
          </a:xfrm>
          <a:prstGeom prst="rect">
            <a:avLst/>
          </a:prstGeom>
        </p:spPr>
        <p:txBody>
          <a:bodyPr lIns="0" tIns="0" rIns="0" bIns="0" rtlCol="0" anchor="t">
            <a:spAutoFit/>
          </a:bodyPr>
          <a:lstStyle/>
          <a:p>
            <a:pPr marL="0" lvl="0" indent="0" algn="ctr">
              <a:lnSpc>
                <a:spcPts val="7260"/>
              </a:lnSpc>
              <a:spcBef>
                <a:spcPct val="0"/>
              </a:spcBef>
            </a:pPr>
            <a:r>
              <a:rPr lang="en-US" sz="6600" spc="-132">
                <a:solidFill>
                  <a:srgbClr val="FFFFFF"/>
                </a:solidFill>
                <a:latin typeface="Anton"/>
                <a:ea typeface="Anton"/>
                <a:cs typeface="Anton"/>
                <a:sym typeface="Anton"/>
              </a:rPr>
              <a:t>System overview</a:t>
            </a:r>
          </a:p>
        </p:txBody>
      </p:sp>
      <p:grpSp>
        <p:nvGrpSpPr>
          <p:cNvPr id="4" name="Group 4"/>
          <p:cNvGrpSpPr/>
          <p:nvPr/>
        </p:nvGrpSpPr>
        <p:grpSpPr>
          <a:xfrm>
            <a:off x="380720" y="1986757"/>
            <a:ext cx="9949061" cy="7246868"/>
            <a:chOff x="0" y="0"/>
            <a:chExt cx="13265415" cy="9662491"/>
          </a:xfrm>
        </p:grpSpPr>
        <p:grpSp>
          <p:nvGrpSpPr>
            <p:cNvPr id="5" name="Group 5"/>
            <p:cNvGrpSpPr/>
            <p:nvPr/>
          </p:nvGrpSpPr>
          <p:grpSpPr>
            <a:xfrm>
              <a:off x="1174484" y="944005"/>
              <a:ext cx="10245932" cy="1800045"/>
              <a:chOff x="0" y="0"/>
              <a:chExt cx="1984103" cy="348444"/>
            </a:xfrm>
          </p:grpSpPr>
          <p:sp>
            <p:nvSpPr>
              <p:cNvPr id="6" name="Freeform 6"/>
              <p:cNvSpPr/>
              <p:nvPr/>
            </p:nvSpPr>
            <p:spPr>
              <a:xfrm>
                <a:off x="0" y="0"/>
                <a:ext cx="1984103" cy="348444"/>
              </a:xfrm>
              <a:custGeom>
                <a:avLst/>
                <a:gdLst/>
                <a:ahLst/>
                <a:cxnLst/>
                <a:rect l="l" t="t" r="r" b="b"/>
                <a:pathLst>
                  <a:path w="1984103" h="348444">
                    <a:moveTo>
                      <a:pt x="1984103" y="27202"/>
                    </a:moveTo>
                    <a:lnTo>
                      <a:pt x="1984103" y="321242"/>
                    </a:lnTo>
                    <a:cubicBezTo>
                      <a:pt x="1984103" y="328456"/>
                      <a:pt x="1981237" y="335375"/>
                      <a:pt x="1976136" y="340476"/>
                    </a:cubicBezTo>
                    <a:cubicBezTo>
                      <a:pt x="1971035" y="345578"/>
                      <a:pt x="1964116" y="348444"/>
                      <a:pt x="1956901" y="348444"/>
                    </a:cubicBezTo>
                    <a:lnTo>
                      <a:pt x="27202" y="348444"/>
                    </a:lnTo>
                    <a:cubicBezTo>
                      <a:pt x="12179" y="348444"/>
                      <a:pt x="0" y="336265"/>
                      <a:pt x="0" y="321242"/>
                    </a:cubicBezTo>
                    <a:lnTo>
                      <a:pt x="0" y="27202"/>
                    </a:lnTo>
                    <a:cubicBezTo>
                      <a:pt x="0" y="19988"/>
                      <a:pt x="2866" y="13069"/>
                      <a:pt x="7967" y="7967"/>
                    </a:cubicBezTo>
                    <a:cubicBezTo>
                      <a:pt x="13069" y="2866"/>
                      <a:pt x="19988" y="0"/>
                      <a:pt x="27202" y="0"/>
                    </a:cubicBezTo>
                    <a:lnTo>
                      <a:pt x="1956901" y="0"/>
                    </a:lnTo>
                    <a:cubicBezTo>
                      <a:pt x="1964116" y="0"/>
                      <a:pt x="1971035" y="2866"/>
                      <a:pt x="1976136" y="7967"/>
                    </a:cubicBezTo>
                    <a:cubicBezTo>
                      <a:pt x="1981237" y="13069"/>
                      <a:pt x="1984103" y="19988"/>
                      <a:pt x="1984103" y="27202"/>
                    </a:cubicBezTo>
                    <a:close/>
                  </a:path>
                </a:pathLst>
              </a:custGeom>
              <a:solidFill>
                <a:srgbClr val="EFEFEF"/>
              </a:solidFill>
              <a:ln cap="rnd">
                <a:noFill/>
                <a:prstDash val="solid"/>
                <a:round/>
              </a:ln>
            </p:spPr>
          </p:sp>
          <p:sp>
            <p:nvSpPr>
              <p:cNvPr id="7" name="TextBox 7"/>
              <p:cNvSpPr txBox="1"/>
              <p:nvPr/>
            </p:nvSpPr>
            <p:spPr>
              <a:xfrm>
                <a:off x="0" y="9525"/>
                <a:ext cx="1984103" cy="338919"/>
              </a:xfrm>
              <a:prstGeom prst="rect">
                <a:avLst/>
              </a:prstGeom>
            </p:spPr>
            <p:txBody>
              <a:bodyPr lIns="50800" tIns="50800" rIns="50800" bIns="50800" rtlCol="0" anchor="ctr"/>
              <a:lstStyle/>
              <a:p>
                <a:pPr algn="l">
                  <a:lnSpc>
                    <a:spcPts val="2160"/>
                  </a:lnSpc>
                </a:pPr>
                <a:endParaRPr/>
              </a:p>
            </p:txBody>
          </p:sp>
        </p:grpSp>
        <p:grpSp>
          <p:nvGrpSpPr>
            <p:cNvPr id="8" name="Group 8"/>
            <p:cNvGrpSpPr/>
            <p:nvPr/>
          </p:nvGrpSpPr>
          <p:grpSpPr>
            <a:xfrm>
              <a:off x="149926" y="119951"/>
              <a:ext cx="788664" cy="382399"/>
              <a:chOff x="0" y="0"/>
              <a:chExt cx="1676328" cy="812800"/>
            </a:xfrm>
          </p:grpSpPr>
          <p:sp>
            <p:nvSpPr>
              <p:cNvPr id="9" name="Freeform 9"/>
              <p:cNvSpPr/>
              <p:nvPr/>
            </p:nvSpPr>
            <p:spPr>
              <a:xfrm>
                <a:off x="0" y="0"/>
                <a:ext cx="1676328" cy="812800"/>
              </a:xfrm>
              <a:custGeom>
                <a:avLst/>
                <a:gdLst/>
                <a:ahLst/>
                <a:cxnLst/>
                <a:rect l="l" t="t" r="r" b="b"/>
                <a:pathLst>
                  <a:path w="1676328" h="812800">
                    <a:moveTo>
                      <a:pt x="1676328" y="406400"/>
                    </a:moveTo>
                    <a:lnTo>
                      <a:pt x="1269928" y="0"/>
                    </a:lnTo>
                    <a:lnTo>
                      <a:pt x="1269928" y="203200"/>
                    </a:lnTo>
                    <a:lnTo>
                      <a:pt x="0" y="203200"/>
                    </a:lnTo>
                    <a:lnTo>
                      <a:pt x="0" y="609600"/>
                    </a:lnTo>
                    <a:lnTo>
                      <a:pt x="1269928" y="609600"/>
                    </a:lnTo>
                    <a:lnTo>
                      <a:pt x="1269928" y="812800"/>
                    </a:lnTo>
                    <a:lnTo>
                      <a:pt x="1676328" y="406400"/>
                    </a:lnTo>
                    <a:close/>
                  </a:path>
                </a:pathLst>
              </a:custGeom>
              <a:solidFill>
                <a:srgbClr val="FFFFFF"/>
              </a:solidFill>
            </p:spPr>
          </p:sp>
          <p:sp>
            <p:nvSpPr>
              <p:cNvPr id="10" name="TextBox 10"/>
              <p:cNvSpPr txBox="1"/>
              <p:nvPr/>
            </p:nvSpPr>
            <p:spPr>
              <a:xfrm>
                <a:off x="0" y="155575"/>
                <a:ext cx="1574728" cy="454025"/>
              </a:xfrm>
              <a:prstGeom prst="rect">
                <a:avLst/>
              </a:prstGeom>
            </p:spPr>
            <p:txBody>
              <a:bodyPr lIns="50800" tIns="50800" rIns="50800" bIns="50800" rtlCol="0" anchor="ctr"/>
              <a:lstStyle/>
              <a:p>
                <a:pPr algn="ctr">
                  <a:lnSpc>
                    <a:spcPts val="2160"/>
                  </a:lnSpc>
                </a:pPr>
                <a:endParaRPr/>
              </a:p>
            </p:txBody>
          </p:sp>
        </p:grpSp>
        <p:sp>
          <p:nvSpPr>
            <p:cNvPr id="11" name="TextBox 11"/>
            <p:cNvSpPr txBox="1"/>
            <p:nvPr/>
          </p:nvSpPr>
          <p:spPr>
            <a:xfrm>
              <a:off x="1174484" y="-95250"/>
              <a:ext cx="12090931" cy="717550"/>
            </a:xfrm>
            <a:prstGeom prst="rect">
              <a:avLst/>
            </a:prstGeom>
          </p:spPr>
          <p:txBody>
            <a:bodyPr lIns="0" tIns="0" rIns="0" bIns="0" rtlCol="0" anchor="t">
              <a:spAutoFit/>
            </a:bodyPr>
            <a:lstStyle/>
            <a:p>
              <a:pPr algn="l">
                <a:lnSpc>
                  <a:spcPts val="3715"/>
                </a:lnSpc>
              </a:pPr>
              <a:r>
                <a:rPr lang="en-US" sz="3096" b="1">
                  <a:solidFill>
                    <a:srgbClr val="FFFFFF"/>
                  </a:solidFill>
                  <a:latin typeface="Agrandir Narrow Bold"/>
                  <a:ea typeface="Agrandir Narrow Bold"/>
                  <a:cs typeface="Agrandir Narrow Bold"/>
                  <a:sym typeface="Agrandir Narrow Bold"/>
                </a:rPr>
                <a:t>What problem does your software solve?</a:t>
              </a:r>
            </a:p>
          </p:txBody>
        </p:sp>
        <p:sp>
          <p:nvSpPr>
            <p:cNvPr id="12" name="TextBox 12"/>
            <p:cNvSpPr txBox="1"/>
            <p:nvPr/>
          </p:nvSpPr>
          <p:spPr>
            <a:xfrm>
              <a:off x="1358731" y="998069"/>
              <a:ext cx="10042019" cy="1488780"/>
            </a:xfrm>
            <a:prstGeom prst="rect">
              <a:avLst/>
            </a:prstGeom>
          </p:spPr>
          <p:txBody>
            <a:bodyPr lIns="0" tIns="0" rIns="0" bIns="0" rtlCol="0" anchor="t">
              <a:spAutoFit/>
            </a:bodyPr>
            <a:lstStyle/>
            <a:p>
              <a:pPr algn="l">
                <a:lnSpc>
                  <a:spcPts val="2980"/>
                </a:lnSpc>
              </a:pPr>
              <a:r>
                <a:rPr lang="en-US" sz="1935" b="1" spc="232">
                  <a:solidFill>
                    <a:srgbClr val="3168AB"/>
                  </a:solidFill>
                  <a:latin typeface="Agrandir Narrow Bold"/>
                  <a:ea typeface="Agrandir Narrow Bold"/>
                  <a:cs typeface="Agrandir Narrow Bold"/>
                  <a:sym typeface="Agrandir Narrow Bold"/>
                </a:rPr>
                <a:t>It provides direct trainer communication to prevent incorrect workouts and uses a centralized system to track nutrition, BMI, and visual progress in one place.</a:t>
              </a:r>
            </a:p>
          </p:txBody>
        </p:sp>
        <p:grpSp>
          <p:nvGrpSpPr>
            <p:cNvPr id="13" name="Group 13"/>
            <p:cNvGrpSpPr/>
            <p:nvPr/>
          </p:nvGrpSpPr>
          <p:grpSpPr>
            <a:xfrm>
              <a:off x="1019722" y="4229704"/>
              <a:ext cx="10739703" cy="1886792"/>
              <a:chOff x="0" y="0"/>
              <a:chExt cx="1984103" cy="348444"/>
            </a:xfrm>
          </p:grpSpPr>
          <p:sp>
            <p:nvSpPr>
              <p:cNvPr id="14" name="Freeform 14"/>
              <p:cNvSpPr/>
              <p:nvPr/>
            </p:nvSpPr>
            <p:spPr>
              <a:xfrm>
                <a:off x="0" y="0"/>
                <a:ext cx="1984103" cy="348444"/>
              </a:xfrm>
              <a:custGeom>
                <a:avLst/>
                <a:gdLst/>
                <a:ahLst/>
                <a:cxnLst/>
                <a:rect l="l" t="t" r="r" b="b"/>
                <a:pathLst>
                  <a:path w="1984103" h="348444">
                    <a:moveTo>
                      <a:pt x="1984103" y="25951"/>
                    </a:moveTo>
                    <a:lnTo>
                      <a:pt x="1984103" y="322492"/>
                    </a:lnTo>
                    <a:cubicBezTo>
                      <a:pt x="1984103" y="329375"/>
                      <a:pt x="1981369" y="335976"/>
                      <a:pt x="1976502" y="340843"/>
                    </a:cubicBezTo>
                    <a:cubicBezTo>
                      <a:pt x="1971635" y="345710"/>
                      <a:pt x="1965035" y="348444"/>
                      <a:pt x="1958152" y="348444"/>
                    </a:cubicBezTo>
                    <a:lnTo>
                      <a:pt x="25951" y="348444"/>
                    </a:lnTo>
                    <a:cubicBezTo>
                      <a:pt x="11619" y="348444"/>
                      <a:pt x="0" y="336825"/>
                      <a:pt x="0" y="322492"/>
                    </a:cubicBezTo>
                    <a:lnTo>
                      <a:pt x="0" y="25951"/>
                    </a:lnTo>
                    <a:cubicBezTo>
                      <a:pt x="0" y="19069"/>
                      <a:pt x="2734" y="12468"/>
                      <a:pt x="7601" y="7601"/>
                    </a:cubicBezTo>
                    <a:cubicBezTo>
                      <a:pt x="12468" y="2734"/>
                      <a:pt x="19069" y="0"/>
                      <a:pt x="25951" y="0"/>
                    </a:cubicBezTo>
                    <a:lnTo>
                      <a:pt x="1958152" y="0"/>
                    </a:lnTo>
                    <a:cubicBezTo>
                      <a:pt x="1965035" y="0"/>
                      <a:pt x="1971635" y="2734"/>
                      <a:pt x="1976502" y="7601"/>
                    </a:cubicBezTo>
                    <a:cubicBezTo>
                      <a:pt x="1981369" y="12468"/>
                      <a:pt x="1984103" y="19069"/>
                      <a:pt x="1984103" y="25951"/>
                    </a:cubicBezTo>
                    <a:close/>
                  </a:path>
                </a:pathLst>
              </a:custGeom>
              <a:solidFill>
                <a:srgbClr val="EFEFEF"/>
              </a:solidFill>
              <a:ln cap="rnd">
                <a:noFill/>
                <a:prstDash val="solid"/>
                <a:round/>
              </a:ln>
            </p:spPr>
          </p:sp>
          <p:sp>
            <p:nvSpPr>
              <p:cNvPr id="15" name="TextBox 15"/>
              <p:cNvSpPr txBox="1"/>
              <p:nvPr/>
            </p:nvSpPr>
            <p:spPr>
              <a:xfrm>
                <a:off x="0" y="9525"/>
                <a:ext cx="1984103" cy="338919"/>
              </a:xfrm>
              <a:prstGeom prst="rect">
                <a:avLst/>
              </a:prstGeom>
            </p:spPr>
            <p:txBody>
              <a:bodyPr lIns="50800" tIns="50800" rIns="50800" bIns="50800" rtlCol="0" anchor="ctr"/>
              <a:lstStyle/>
              <a:p>
                <a:pPr algn="l">
                  <a:lnSpc>
                    <a:spcPts val="2160"/>
                  </a:lnSpc>
                </a:pPr>
                <a:endParaRPr/>
              </a:p>
            </p:txBody>
          </p:sp>
        </p:grpSp>
        <p:grpSp>
          <p:nvGrpSpPr>
            <p:cNvPr id="16" name="Group 16"/>
            <p:cNvGrpSpPr/>
            <p:nvPr/>
          </p:nvGrpSpPr>
          <p:grpSpPr>
            <a:xfrm>
              <a:off x="149926" y="3407719"/>
              <a:ext cx="788664" cy="382399"/>
              <a:chOff x="0" y="0"/>
              <a:chExt cx="1676328" cy="812800"/>
            </a:xfrm>
          </p:grpSpPr>
          <p:sp>
            <p:nvSpPr>
              <p:cNvPr id="17" name="Freeform 17"/>
              <p:cNvSpPr/>
              <p:nvPr/>
            </p:nvSpPr>
            <p:spPr>
              <a:xfrm>
                <a:off x="0" y="0"/>
                <a:ext cx="1676328" cy="812800"/>
              </a:xfrm>
              <a:custGeom>
                <a:avLst/>
                <a:gdLst/>
                <a:ahLst/>
                <a:cxnLst/>
                <a:rect l="l" t="t" r="r" b="b"/>
                <a:pathLst>
                  <a:path w="1676328" h="812800">
                    <a:moveTo>
                      <a:pt x="1676328" y="406400"/>
                    </a:moveTo>
                    <a:lnTo>
                      <a:pt x="1269928" y="0"/>
                    </a:lnTo>
                    <a:lnTo>
                      <a:pt x="1269928" y="203200"/>
                    </a:lnTo>
                    <a:lnTo>
                      <a:pt x="0" y="203200"/>
                    </a:lnTo>
                    <a:lnTo>
                      <a:pt x="0" y="609600"/>
                    </a:lnTo>
                    <a:lnTo>
                      <a:pt x="1269928" y="609600"/>
                    </a:lnTo>
                    <a:lnTo>
                      <a:pt x="1269928" y="812800"/>
                    </a:lnTo>
                    <a:lnTo>
                      <a:pt x="1676328" y="406400"/>
                    </a:lnTo>
                    <a:close/>
                  </a:path>
                </a:pathLst>
              </a:custGeom>
              <a:solidFill>
                <a:srgbClr val="FFFFFF"/>
              </a:solidFill>
            </p:spPr>
          </p:sp>
          <p:sp>
            <p:nvSpPr>
              <p:cNvPr id="18" name="TextBox 18"/>
              <p:cNvSpPr txBox="1"/>
              <p:nvPr/>
            </p:nvSpPr>
            <p:spPr>
              <a:xfrm>
                <a:off x="0" y="155575"/>
                <a:ext cx="1574728" cy="454025"/>
              </a:xfrm>
              <a:prstGeom prst="rect">
                <a:avLst/>
              </a:prstGeom>
            </p:spPr>
            <p:txBody>
              <a:bodyPr lIns="50800" tIns="50800" rIns="50800" bIns="50800" rtlCol="0" anchor="ctr"/>
              <a:lstStyle/>
              <a:p>
                <a:pPr algn="ctr">
                  <a:lnSpc>
                    <a:spcPts val="2160"/>
                  </a:lnSpc>
                </a:pPr>
                <a:endParaRPr/>
              </a:p>
            </p:txBody>
          </p:sp>
        </p:grpSp>
        <p:sp>
          <p:nvSpPr>
            <p:cNvPr id="19" name="TextBox 19"/>
            <p:cNvSpPr txBox="1"/>
            <p:nvPr/>
          </p:nvSpPr>
          <p:spPr>
            <a:xfrm>
              <a:off x="1174484" y="3192518"/>
              <a:ext cx="12090931" cy="717550"/>
            </a:xfrm>
            <a:prstGeom prst="rect">
              <a:avLst/>
            </a:prstGeom>
          </p:spPr>
          <p:txBody>
            <a:bodyPr lIns="0" tIns="0" rIns="0" bIns="0" rtlCol="0" anchor="t">
              <a:spAutoFit/>
            </a:bodyPr>
            <a:lstStyle/>
            <a:p>
              <a:pPr algn="l">
                <a:lnSpc>
                  <a:spcPts val="3715"/>
                </a:lnSpc>
              </a:pPr>
              <a:r>
                <a:rPr lang="en-US" sz="3096" b="1">
                  <a:solidFill>
                    <a:srgbClr val="FFFFFF"/>
                  </a:solidFill>
                  <a:latin typeface="Agrandir Narrow Bold"/>
                  <a:ea typeface="Agrandir Narrow Bold"/>
                  <a:cs typeface="Agrandir Narrow Bold"/>
                  <a:sym typeface="Agrandir Narrow Bold"/>
                </a:rPr>
                <a:t>Why are we developing this project?</a:t>
              </a:r>
            </a:p>
          </p:txBody>
        </p:sp>
        <p:sp>
          <p:nvSpPr>
            <p:cNvPr id="20" name="TextBox 20"/>
            <p:cNvSpPr txBox="1"/>
            <p:nvPr/>
          </p:nvSpPr>
          <p:spPr>
            <a:xfrm>
              <a:off x="1266608" y="4301420"/>
              <a:ext cx="10061685" cy="1686209"/>
            </a:xfrm>
            <a:prstGeom prst="rect">
              <a:avLst/>
            </a:prstGeom>
          </p:spPr>
          <p:txBody>
            <a:bodyPr lIns="0" tIns="0" rIns="0" bIns="0" rtlCol="0" anchor="t">
              <a:spAutoFit/>
            </a:bodyPr>
            <a:lstStyle/>
            <a:p>
              <a:pPr algn="l">
                <a:lnSpc>
                  <a:spcPts val="2430"/>
                </a:lnSpc>
              </a:pPr>
              <a:r>
                <a:rPr lang="en-US" sz="2042" b="1" spc="449">
                  <a:solidFill>
                    <a:srgbClr val="3168AB"/>
                  </a:solidFill>
                  <a:latin typeface="Agrandir Narrow Bold"/>
                  <a:ea typeface="Agrandir Narrow Bold"/>
                  <a:cs typeface="Agrandir Narrow Bold"/>
                  <a:sym typeface="Agrandir Narrow Bold"/>
                </a:rPr>
                <a:t>We are developing this project to help client connect with trainer to make sure that clients receive proper guidance, tips and help them achieve their fitness goals</a:t>
              </a:r>
            </a:p>
          </p:txBody>
        </p:sp>
        <p:grpSp>
          <p:nvGrpSpPr>
            <p:cNvPr id="21" name="Group 21"/>
            <p:cNvGrpSpPr/>
            <p:nvPr/>
          </p:nvGrpSpPr>
          <p:grpSpPr>
            <a:xfrm>
              <a:off x="1024558" y="7862447"/>
              <a:ext cx="10245932" cy="1800045"/>
              <a:chOff x="0" y="0"/>
              <a:chExt cx="1984103" cy="348444"/>
            </a:xfrm>
          </p:grpSpPr>
          <p:sp>
            <p:nvSpPr>
              <p:cNvPr id="22" name="Freeform 22"/>
              <p:cNvSpPr/>
              <p:nvPr/>
            </p:nvSpPr>
            <p:spPr>
              <a:xfrm>
                <a:off x="0" y="0"/>
                <a:ext cx="1984103" cy="348444"/>
              </a:xfrm>
              <a:custGeom>
                <a:avLst/>
                <a:gdLst/>
                <a:ahLst/>
                <a:cxnLst/>
                <a:rect l="l" t="t" r="r" b="b"/>
                <a:pathLst>
                  <a:path w="1984103" h="348444">
                    <a:moveTo>
                      <a:pt x="1984103" y="27202"/>
                    </a:moveTo>
                    <a:lnTo>
                      <a:pt x="1984103" y="321242"/>
                    </a:lnTo>
                    <a:cubicBezTo>
                      <a:pt x="1984103" y="328456"/>
                      <a:pt x="1981237" y="335375"/>
                      <a:pt x="1976136" y="340476"/>
                    </a:cubicBezTo>
                    <a:cubicBezTo>
                      <a:pt x="1971035" y="345578"/>
                      <a:pt x="1964116" y="348444"/>
                      <a:pt x="1956901" y="348444"/>
                    </a:cubicBezTo>
                    <a:lnTo>
                      <a:pt x="27202" y="348444"/>
                    </a:lnTo>
                    <a:cubicBezTo>
                      <a:pt x="12179" y="348444"/>
                      <a:pt x="0" y="336265"/>
                      <a:pt x="0" y="321242"/>
                    </a:cubicBezTo>
                    <a:lnTo>
                      <a:pt x="0" y="27202"/>
                    </a:lnTo>
                    <a:cubicBezTo>
                      <a:pt x="0" y="19988"/>
                      <a:pt x="2866" y="13069"/>
                      <a:pt x="7967" y="7967"/>
                    </a:cubicBezTo>
                    <a:cubicBezTo>
                      <a:pt x="13069" y="2866"/>
                      <a:pt x="19988" y="0"/>
                      <a:pt x="27202" y="0"/>
                    </a:cubicBezTo>
                    <a:lnTo>
                      <a:pt x="1956901" y="0"/>
                    </a:lnTo>
                    <a:cubicBezTo>
                      <a:pt x="1964116" y="0"/>
                      <a:pt x="1971035" y="2866"/>
                      <a:pt x="1976136" y="7967"/>
                    </a:cubicBezTo>
                    <a:cubicBezTo>
                      <a:pt x="1981237" y="13069"/>
                      <a:pt x="1984103" y="19988"/>
                      <a:pt x="1984103" y="27202"/>
                    </a:cubicBezTo>
                    <a:close/>
                  </a:path>
                </a:pathLst>
              </a:custGeom>
              <a:solidFill>
                <a:srgbClr val="EFEFEF"/>
              </a:solidFill>
              <a:ln cap="rnd">
                <a:noFill/>
                <a:prstDash val="solid"/>
                <a:round/>
              </a:ln>
            </p:spPr>
          </p:sp>
          <p:sp>
            <p:nvSpPr>
              <p:cNvPr id="23" name="TextBox 23"/>
              <p:cNvSpPr txBox="1"/>
              <p:nvPr/>
            </p:nvSpPr>
            <p:spPr>
              <a:xfrm>
                <a:off x="0" y="9525"/>
                <a:ext cx="1984103" cy="338919"/>
              </a:xfrm>
              <a:prstGeom prst="rect">
                <a:avLst/>
              </a:prstGeom>
            </p:spPr>
            <p:txBody>
              <a:bodyPr lIns="50800" tIns="50800" rIns="50800" bIns="50800" rtlCol="0" anchor="ctr"/>
              <a:lstStyle/>
              <a:p>
                <a:pPr algn="l">
                  <a:lnSpc>
                    <a:spcPts val="2160"/>
                  </a:lnSpc>
                </a:pPr>
                <a:endParaRPr/>
              </a:p>
            </p:txBody>
          </p:sp>
        </p:grpSp>
        <p:grpSp>
          <p:nvGrpSpPr>
            <p:cNvPr id="24" name="Group 24"/>
            <p:cNvGrpSpPr/>
            <p:nvPr/>
          </p:nvGrpSpPr>
          <p:grpSpPr>
            <a:xfrm>
              <a:off x="0" y="7038392"/>
              <a:ext cx="788664" cy="382399"/>
              <a:chOff x="0" y="0"/>
              <a:chExt cx="1676328" cy="812800"/>
            </a:xfrm>
          </p:grpSpPr>
          <p:sp>
            <p:nvSpPr>
              <p:cNvPr id="25" name="Freeform 25"/>
              <p:cNvSpPr/>
              <p:nvPr/>
            </p:nvSpPr>
            <p:spPr>
              <a:xfrm>
                <a:off x="0" y="0"/>
                <a:ext cx="1676328" cy="812800"/>
              </a:xfrm>
              <a:custGeom>
                <a:avLst/>
                <a:gdLst/>
                <a:ahLst/>
                <a:cxnLst/>
                <a:rect l="l" t="t" r="r" b="b"/>
                <a:pathLst>
                  <a:path w="1676328" h="812800">
                    <a:moveTo>
                      <a:pt x="1676328" y="406400"/>
                    </a:moveTo>
                    <a:lnTo>
                      <a:pt x="1269928" y="0"/>
                    </a:lnTo>
                    <a:lnTo>
                      <a:pt x="1269928" y="203200"/>
                    </a:lnTo>
                    <a:lnTo>
                      <a:pt x="0" y="203200"/>
                    </a:lnTo>
                    <a:lnTo>
                      <a:pt x="0" y="609600"/>
                    </a:lnTo>
                    <a:lnTo>
                      <a:pt x="1269928" y="609600"/>
                    </a:lnTo>
                    <a:lnTo>
                      <a:pt x="1269928" y="812800"/>
                    </a:lnTo>
                    <a:lnTo>
                      <a:pt x="1676328" y="406400"/>
                    </a:lnTo>
                    <a:close/>
                  </a:path>
                </a:pathLst>
              </a:custGeom>
              <a:solidFill>
                <a:srgbClr val="FFFFFF"/>
              </a:solidFill>
            </p:spPr>
          </p:sp>
          <p:sp>
            <p:nvSpPr>
              <p:cNvPr id="26" name="TextBox 26"/>
              <p:cNvSpPr txBox="1"/>
              <p:nvPr/>
            </p:nvSpPr>
            <p:spPr>
              <a:xfrm>
                <a:off x="0" y="155575"/>
                <a:ext cx="1574728" cy="454025"/>
              </a:xfrm>
              <a:prstGeom prst="rect">
                <a:avLst/>
              </a:prstGeom>
            </p:spPr>
            <p:txBody>
              <a:bodyPr lIns="50800" tIns="50800" rIns="50800" bIns="50800" rtlCol="0" anchor="ctr"/>
              <a:lstStyle/>
              <a:p>
                <a:pPr algn="ctr">
                  <a:lnSpc>
                    <a:spcPts val="2160"/>
                  </a:lnSpc>
                </a:pPr>
                <a:endParaRPr/>
              </a:p>
            </p:txBody>
          </p:sp>
        </p:grpSp>
        <p:sp>
          <p:nvSpPr>
            <p:cNvPr id="27" name="TextBox 27"/>
            <p:cNvSpPr txBox="1"/>
            <p:nvPr/>
          </p:nvSpPr>
          <p:spPr>
            <a:xfrm>
              <a:off x="1024558" y="6823192"/>
              <a:ext cx="12090931" cy="717550"/>
            </a:xfrm>
            <a:prstGeom prst="rect">
              <a:avLst/>
            </a:prstGeom>
          </p:spPr>
          <p:txBody>
            <a:bodyPr lIns="0" tIns="0" rIns="0" bIns="0" rtlCol="0" anchor="t">
              <a:spAutoFit/>
            </a:bodyPr>
            <a:lstStyle/>
            <a:p>
              <a:pPr algn="l">
                <a:lnSpc>
                  <a:spcPts val="3715"/>
                </a:lnSpc>
              </a:pPr>
              <a:r>
                <a:rPr lang="en-US" sz="3096" b="1">
                  <a:solidFill>
                    <a:srgbClr val="FFFFFF"/>
                  </a:solidFill>
                  <a:latin typeface="Agrandir Narrow Bold"/>
                  <a:ea typeface="Agrandir Narrow Bold"/>
                  <a:cs typeface="Agrandir Narrow Bold"/>
                  <a:sym typeface="Agrandir Narrow Bold"/>
                </a:rPr>
                <a:t>What skill will we learn from this project?</a:t>
              </a:r>
            </a:p>
          </p:txBody>
        </p:sp>
        <p:sp>
          <p:nvSpPr>
            <p:cNvPr id="28" name="TextBox 28"/>
            <p:cNvSpPr txBox="1"/>
            <p:nvPr/>
          </p:nvSpPr>
          <p:spPr>
            <a:xfrm>
              <a:off x="1208805" y="8067792"/>
              <a:ext cx="10061685" cy="1452914"/>
            </a:xfrm>
            <a:prstGeom prst="rect">
              <a:avLst/>
            </a:prstGeom>
          </p:spPr>
          <p:txBody>
            <a:bodyPr lIns="0" tIns="0" rIns="0" bIns="0" rtlCol="0" anchor="t">
              <a:spAutoFit/>
            </a:bodyPr>
            <a:lstStyle/>
            <a:p>
              <a:pPr algn="l">
                <a:lnSpc>
                  <a:spcPts val="2083"/>
                </a:lnSpc>
              </a:pPr>
              <a:r>
                <a:rPr lang="en-US" sz="2042" b="1" spc="459">
                  <a:solidFill>
                    <a:srgbClr val="3168AB"/>
                  </a:solidFill>
                  <a:latin typeface="Agrandir Narrow Bold"/>
                  <a:ea typeface="Agrandir Narrow Bold"/>
                  <a:cs typeface="Agrandir Narrow Bold"/>
                  <a:sym typeface="Agrandir Narrow Bold"/>
                </a:rPr>
                <a:t>We expect to learn and gain experience to make full stack development , development of database , implementation of API and website design</a:t>
              </a:r>
            </a:p>
          </p:txBody>
        </p:sp>
      </p:grpSp>
      <p:grpSp>
        <p:nvGrpSpPr>
          <p:cNvPr id="29" name="Group 29"/>
          <p:cNvGrpSpPr/>
          <p:nvPr/>
        </p:nvGrpSpPr>
        <p:grpSpPr>
          <a:xfrm>
            <a:off x="9144000" y="1986757"/>
            <a:ext cx="9836616" cy="3958526"/>
            <a:chOff x="0" y="0"/>
            <a:chExt cx="13115488" cy="5278035"/>
          </a:xfrm>
        </p:grpSpPr>
        <p:grpSp>
          <p:nvGrpSpPr>
            <p:cNvPr id="30" name="Group 30"/>
            <p:cNvGrpSpPr/>
            <p:nvPr/>
          </p:nvGrpSpPr>
          <p:grpSpPr>
            <a:xfrm>
              <a:off x="1024558" y="944005"/>
              <a:ext cx="10245932" cy="4334030"/>
              <a:chOff x="0" y="0"/>
              <a:chExt cx="1984103" cy="838960"/>
            </a:xfrm>
          </p:grpSpPr>
          <p:sp>
            <p:nvSpPr>
              <p:cNvPr id="31" name="Freeform 31"/>
              <p:cNvSpPr/>
              <p:nvPr/>
            </p:nvSpPr>
            <p:spPr>
              <a:xfrm>
                <a:off x="0" y="0"/>
                <a:ext cx="1984103" cy="838960"/>
              </a:xfrm>
              <a:custGeom>
                <a:avLst/>
                <a:gdLst/>
                <a:ahLst/>
                <a:cxnLst/>
                <a:rect l="l" t="t" r="r" b="b"/>
                <a:pathLst>
                  <a:path w="1984103" h="838960">
                    <a:moveTo>
                      <a:pt x="1984103" y="27202"/>
                    </a:moveTo>
                    <a:lnTo>
                      <a:pt x="1984103" y="811758"/>
                    </a:lnTo>
                    <a:cubicBezTo>
                      <a:pt x="1984103" y="818973"/>
                      <a:pt x="1981237" y="825892"/>
                      <a:pt x="1976136" y="830993"/>
                    </a:cubicBezTo>
                    <a:cubicBezTo>
                      <a:pt x="1971035" y="836094"/>
                      <a:pt x="1964116" y="838960"/>
                      <a:pt x="1956901" y="838960"/>
                    </a:cubicBezTo>
                    <a:lnTo>
                      <a:pt x="27202" y="838960"/>
                    </a:lnTo>
                    <a:cubicBezTo>
                      <a:pt x="19988" y="838960"/>
                      <a:pt x="13069" y="836094"/>
                      <a:pt x="7967" y="830993"/>
                    </a:cubicBezTo>
                    <a:cubicBezTo>
                      <a:pt x="2866" y="825892"/>
                      <a:pt x="0" y="818973"/>
                      <a:pt x="0" y="811758"/>
                    </a:cubicBezTo>
                    <a:lnTo>
                      <a:pt x="0" y="27202"/>
                    </a:lnTo>
                    <a:cubicBezTo>
                      <a:pt x="0" y="19988"/>
                      <a:pt x="2866" y="13069"/>
                      <a:pt x="7967" y="7967"/>
                    </a:cubicBezTo>
                    <a:cubicBezTo>
                      <a:pt x="13069" y="2866"/>
                      <a:pt x="19988" y="0"/>
                      <a:pt x="27202" y="0"/>
                    </a:cubicBezTo>
                    <a:lnTo>
                      <a:pt x="1956901" y="0"/>
                    </a:lnTo>
                    <a:cubicBezTo>
                      <a:pt x="1964116" y="0"/>
                      <a:pt x="1971035" y="2866"/>
                      <a:pt x="1976136" y="7967"/>
                    </a:cubicBezTo>
                    <a:cubicBezTo>
                      <a:pt x="1981237" y="13069"/>
                      <a:pt x="1984103" y="19988"/>
                      <a:pt x="1984103" y="27202"/>
                    </a:cubicBezTo>
                    <a:close/>
                  </a:path>
                </a:pathLst>
              </a:custGeom>
              <a:solidFill>
                <a:srgbClr val="EFEFEF"/>
              </a:solidFill>
              <a:ln cap="rnd">
                <a:noFill/>
                <a:prstDash val="solid"/>
                <a:round/>
              </a:ln>
            </p:spPr>
          </p:sp>
          <p:sp>
            <p:nvSpPr>
              <p:cNvPr id="32" name="TextBox 32"/>
              <p:cNvSpPr txBox="1"/>
              <p:nvPr/>
            </p:nvSpPr>
            <p:spPr>
              <a:xfrm>
                <a:off x="0" y="9525"/>
                <a:ext cx="1984103" cy="829435"/>
              </a:xfrm>
              <a:prstGeom prst="rect">
                <a:avLst/>
              </a:prstGeom>
            </p:spPr>
            <p:txBody>
              <a:bodyPr lIns="50800" tIns="50800" rIns="50800" bIns="50800" rtlCol="0" anchor="ctr"/>
              <a:lstStyle/>
              <a:p>
                <a:pPr algn="l">
                  <a:lnSpc>
                    <a:spcPts val="2160"/>
                  </a:lnSpc>
                </a:pPr>
                <a:endParaRPr/>
              </a:p>
            </p:txBody>
          </p:sp>
        </p:grpSp>
        <p:grpSp>
          <p:nvGrpSpPr>
            <p:cNvPr id="33" name="Group 33"/>
            <p:cNvGrpSpPr/>
            <p:nvPr/>
          </p:nvGrpSpPr>
          <p:grpSpPr>
            <a:xfrm>
              <a:off x="0" y="119951"/>
              <a:ext cx="788664" cy="382399"/>
              <a:chOff x="0" y="0"/>
              <a:chExt cx="1676328" cy="812800"/>
            </a:xfrm>
          </p:grpSpPr>
          <p:sp>
            <p:nvSpPr>
              <p:cNvPr id="34" name="Freeform 34"/>
              <p:cNvSpPr/>
              <p:nvPr/>
            </p:nvSpPr>
            <p:spPr>
              <a:xfrm>
                <a:off x="0" y="0"/>
                <a:ext cx="1676328" cy="812800"/>
              </a:xfrm>
              <a:custGeom>
                <a:avLst/>
                <a:gdLst/>
                <a:ahLst/>
                <a:cxnLst/>
                <a:rect l="l" t="t" r="r" b="b"/>
                <a:pathLst>
                  <a:path w="1676328" h="812800">
                    <a:moveTo>
                      <a:pt x="1676328" y="406400"/>
                    </a:moveTo>
                    <a:lnTo>
                      <a:pt x="1269928" y="0"/>
                    </a:lnTo>
                    <a:lnTo>
                      <a:pt x="1269928" y="203200"/>
                    </a:lnTo>
                    <a:lnTo>
                      <a:pt x="0" y="203200"/>
                    </a:lnTo>
                    <a:lnTo>
                      <a:pt x="0" y="609600"/>
                    </a:lnTo>
                    <a:lnTo>
                      <a:pt x="1269928" y="609600"/>
                    </a:lnTo>
                    <a:lnTo>
                      <a:pt x="1269928" y="812800"/>
                    </a:lnTo>
                    <a:lnTo>
                      <a:pt x="1676328" y="406400"/>
                    </a:lnTo>
                    <a:close/>
                  </a:path>
                </a:pathLst>
              </a:custGeom>
              <a:solidFill>
                <a:srgbClr val="FFFFFF"/>
              </a:solidFill>
            </p:spPr>
          </p:sp>
          <p:sp>
            <p:nvSpPr>
              <p:cNvPr id="35" name="TextBox 35"/>
              <p:cNvSpPr txBox="1"/>
              <p:nvPr/>
            </p:nvSpPr>
            <p:spPr>
              <a:xfrm>
                <a:off x="0" y="155575"/>
                <a:ext cx="1574728" cy="454025"/>
              </a:xfrm>
              <a:prstGeom prst="rect">
                <a:avLst/>
              </a:prstGeom>
            </p:spPr>
            <p:txBody>
              <a:bodyPr lIns="50800" tIns="50800" rIns="50800" bIns="50800" rtlCol="0" anchor="ctr"/>
              <a:lstStyle/>
              <a:p>
                <a:pPr algn="l">
                  <a:lnSpc>
                    <a:spcPts val="2160"/>
                  </a:lnSpc>
                </a:pPr>
                <a:endParaRPr/>
              </a:p>
            </p:txBody>
          </p:sp>
        </p:grpSp>
        <p:sp>
          <p:nvSpPr>
            <p:cNvPr id="36" name="TextBox 36"/>
            <p:cNvSpPr txBox="1"/>
            <p:nvPr/>
          </p:nvSpPr>
          <p:spPr>
            <a:xfrm>
              <a:off x="1024558" y="-95250"/>
              <a:ext cx="12090931" cy="717550"/>
            </a:xfrm>
            <a:prstGeom prst="rect">
              <a:avLst/>
            </a:prstGeom>
          </p:spPr>
          <p:txBody>
            <a:bodyPr lIns="0" tIns="0" rIns="0" bIns="0" rtlCol="0" anchor="t">
              <a:spAutoFit/>
            </a:bodyPr>
            <a:lstStyle/>
            <a:p>
              <a:pPr algn="l">
                <a:lnSpc>
                  <a:spcPts val="3715"/>
                </a:lnSpc>
              </a:pPr>
              <a:r>
                <a:rPr lang="en-US" sz="3096" b="1">
                  <a:solidFill>
                    <a:srgbClr val="FFFFFF"/>
                  </a:solidFill>
                  <a:latin typeface="Agrandir Narrow Bold"/>
                  <a:ea typeface="Agrandir Narrow Bold"/>
                  <a:cs typeface="Agrandir Narrow Bold"/>
                  <a:sym typeface="Agrandir Narrow Bold"/>
                </a:rPr>
                <a:t>Does similar system already exist ?</a:t>
              </a:r>
            </a:p>
          </p:txBody>
        </p:sp>
        <p:sp>
          <p:nvSpPr>
            <p:cNvPr id="37" name="TextBox 37"/>
            <p:cNvSpPr txBox="1"/>
            <p:nvPr/>
          </p:nvSpPr>
          <p:spPr>
            <a:xfrm>
              <a:off x="1116681" y="508000"/>
              <a:ext cx="10061685" cy="4453006"/>
            </a:xfrm>
            <a:prstGeom prst="rect">
              <a:avLst/>
            </a:prstGeom>
          </p:spPr>
          <p:txBody>
            <a:bodyPr lIns="0" tIns="0" rIns="0" bIns="0" rtlCol="0" anchor="t">
              <a:spAutoFit/>
            </a:bodyPr>
            <a:lstStyle/>
            <a:p>
              <a:pPr algn="ctr">
                <a:lnSpc>
                  <a:spcPts val="2986"/>
                </a:lnSpc>
              </a:pPr>
              <a:endParaRPr/>
            </a:p>
            <a:p>
              <a:pPr algn="ctr">
                <a:lnSpc>
                  <a:spcPts val="2986"/>
                </a:lnSpc>
              </a:pPr>
              <a:r>
                <a:rPr lang="en-US" sz="1939" b="1" spc="232">
                  <a:solidFill>
                    <a:srgbClr val="3168AB"/>
                  </a:solidFill>
                  <a:latin typeface="Agrandir Narrow Bold"/>
                  <a:ea typeface="Agrandir Narrow Bold"/>
                  <a:cs typeface="Agrandir Narrow Bold"/>
                  <a:sym typeface="Agrandir Narrow Bold"/>
                </a:rPr>
                <a:t>Yes </a:t>
              </a:r>
            </a:p>
            <a:p>
              <a:pPr algn="ctr">
                <a:lnSpc>
                  <a:spcPts val="2986"/>
                </a:lnSpc>
              </a:pPr>
              <a:endParaRPr lang="en-US" sz="1939" b="1" spc="232">
                <a:solidFill>
                  <a:srgbClr val="3168AB"/>
                </a:solidFill>
                <a:latin typeface="Agrandir Narrow Bold"/>
                <a:ea typeface="Agrandir Narrow Bold"/>
                <a:cs typeface="Agrandir Narrow Bold"/>
                <a:sym typeface="Agrandir Narrow Bold"/>
              </a:endParaRPr>
            </a:p>
            <a:p>
              <a:pPr algn="l">
                <a:lnSpc>
                  <a:spcPts val="2986"/>
                </a:lnSpc>
              </a:pPr>
              <a:r>
                <a:rPr lang="en-US" sz="1939" b="1" spc="232">
                  <a:solidFill>
                    <a:srgbClr val="3168AB"/>
                  </a:solidFill>
                  <a:latin typeface="Agrandir Narrow Bold"/>
                  <a:ea typeface="Agrandir Narrow Bold"/>
                  <a:cs typeface="Agrandir Narrow Bold"/>
                  <a:sym typeface="Agrandir Narrow Bold"/>
                </a:rPr>
                <a:t>This kind of system already exist but our purpose to implement this kind of system will help us learn about complex system behind full stack development including back-end, front-end ,  and complex logic behind BMI calculator, calorie tracker and multi health indicator</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sp>
        <p:nvSpPr>
          <p:cNvPr id="2" name="TextBox 2"/>
          <p:cNvSpPr txBox="1"/>
          <p:nvPr/>
        </p:nvSpPr>
        <p:spPr>
          <a:xfrm>
            <a:off x="3968454" y="321295"/>
            <a:ext cx="10351092" cy="1357659"/>
          </a:xfrm>
          <a:prstGeom prst="rect">
            <a:avLst/>
          </a:prstGeom>
        </p:spPr>
        <p:txBody>
          <a:bodyPr lIns="0" tIns="0" rIns="0" bIns="0" rtlCol="0" anchor="t">
            <a:spAutoFit/>
          </a:bodyPr>
          <a:lstStyle/>
          <a:p>
            <a:pPr algn="ctr">
              <a:lnSpc>
                <a:spcPts val="10954"/>
              </a:lnSpc>
            </a:pPr>
            <a:r>
              <a:rPr lang="en-US" sz="8558">
                <a:solidFill>
                  <a:srgbClr val="FFFFFF"/>
                </a:solidFill>
                <a:latin typeface="Anton"/>
                <a:ea typeface="Anton"/>
                <a:cs typeface="Anton"/>
                <a:sym typeface="Anton"/>
              </a:rPr>
              <a:t>PROBLEM STATEMENT</a:t>
            </a:r>
          </a:p>
        </p:txBody>
      </p:sp>
      <p:grpSp>
        <p:nvGrpSpPr>
          <p:cNvPr id="3" name="Group 3"/>
          <p:cNvGrpSpPr/>
          <p:nvPr/>
        </p:nvGrpSpPr>
        <p:grpSpPr>
          <a:xfrm>
            <a:off x="342282" y="1781039"/>
            <a:ext cx="3604773" cy="3656945"/>
            <a:chOff x="0" y="0"/>
            <a:chExt cx="1358475" cy="1378136"/>
          </a:xfrm>
        </p:grpSpPr>
        <p:sp>
          <p:nvSpPr>
            <p:cNvPr id="4" name="Freeform 4"/>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gradFill rotWithShape="1">
              <a:gsLst>
                <a:gs pos="0">
                  <a:srgbClr val="287EFF">
                    <a:alpha val="100000"/>
                  </a:srgbClr>
                </a:gs>
                <a:gs pos="100000">
                  <a:srgbClr val="1FB5FF">
                    <a:alpha val="100000"/>
                  </a:srgbClr>
                </a:gs>
              </a:gsLst>
              <a:lin ang="0"/>
            </a:gradFill>
          </p:spPr>
        </p:sp>
        <p:sp>
          <p:nvSpPr>
            <p:cNvPr id="5" name="TextBox 5"/>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492082" y="2117579"/>
            <a:ext cx="3305172" cy="2996154"/>
          </a:xfrm>
          <a:prstGeom prst="rect">
            <a:avLst/>
          </a:prstGeom>
        </p:spPr>
        <p:txBody>
          <a:bodyPr lIns="0" tIns="0" rIns="0" bIns="0" rtlCol="0" anchor="t">
            <a:spAutoFit/>
          </a:bodyPr>
          <a:lstStyle/>
          <a:p>
            <a:pPr algn="l">
              <a:lnSpc>
                <a:spcPts val="2685"/>
              </a:lnSpc>
            </a:pPr>
            <a:r>
              <a:rPr lang="en-US" sz="2335">
                <a:solidFill>
                  <a:srgbClr val="FFFFFF"/>
                </a:solidFill>
                <a:latin typeface="League Spartan"/>
                <a:ea typeface="League Spartan"/>
                <a:cs typeface="League Spartan"/>
                <a:sym typeface="League Spartan"/>
              </a:rPr>
              <a:t>CLIENTS CAN’T EASILY COMMUNICATE WITH THE TRAINER FOR LONG HOURS FOR TIPS, GUIDANCE, AND CORRECTIONS.</a:t>
            </a:r>
          </a:p>
          <a:p>
            <a:pPr algn="l">
              <a:lnSpc>
                <a:spcPts val="2685"/>
              </a:lnSpc>
            </a:pPr>
            <a:endParaRPr lang="en-US" sz="2335">
              <a:solidFill>
                <a:srgbClr val="FFFFFF"/>
              </a:solidFill>
              <a:latin typeface="League Spartan"/>
              <a:ea typeface="League Spartan"/>
              <a:cs typeface="League Spartan"/>
              <a:sym typeface="League Spartan"/>
            </a:endParaRPr>
          </a:p>
        </p:txBody>
      </p:sp>
      <p:grpSp>
        <p:nvGrpSpPr>
          <p:cNvPr id="7" name="Group 7"/>
          <p:cNvGrpSpPr/>
          <p:nvPr/>
        </p:nvGrpSpPr>
        <p:grpSpPr>
          <a:xfrm>
            <a:off x="4581770" y="1781039"/>
            <a:ext cx="3604773" cy="3656945"/>
            <a:chOff x="0" y="0"/>
            <a:chExt cx="1358475" cy="1378136"/>
          </a:xfrm>
        </p:grpSpPr>
        <p:sp>
          <p:nvSpPr>
            <p:cNvPr id="8" name="Freeform 8"/>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ln w="38100" cap="rnd">
              <a:gradFill>
                <a:gsLst>
                  <a:gs pos="0">
                    <a:srgbClr val="287EFF">
                      <a:alpha val="100000"/>
                    </a:srgbClr>
                  </a:gs>
                  <a:gs pos="100000">
                    <a:srgbClr val="1FB5FF">
                      <a:alpha val="100000"/>
                    </a:srgbClr>
                  </a:gs>
                </a:gsLst>
                <a:lin ang="0"/>
              </a:gradFill>
              <a:prstDash val="solid"/>
              <a:round/>
            </a:ln>
          </p:spPr>
        </p:sp>
        <p:sp>
          <p:nvSpPr>
            <p:cNvPr id="9" name="TextBox 9"/>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8923055" y="1760396"/>
            <a:ext cx="3604773" cy="3656945"/>
            <a:chOff x="0" y="0"/>
            <a:chExt cx="1358475" cy="1378136"/>
          </a:xfrm>
        </p:grpSpPr>
        <p:sp>
          <p:nvSpPr>
            <p:cNvPr id="11" name="Freeform 11"/>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gradFill rotWithShape="1">
              <a:gsLst>
                <a:gs pos="0">
                  <a:srgbClr val="287EFF">
                    <a:alpha val="100000"/>
                  </a:srgbClr>
                </a:gs>
                <a:gs pos="100000">
                  <a:srgbClr val="1FB5FF">
                    <a:alpha val="100000"/>
                  </a:srgbClr>
                </a:gs>
              </a:gsLst>
              <a:lin ang="0"/>
            </a:gradFill>
          </p:spPr>
        </p:sp>
        <p:sp>
          <p:nvSpPr>
            <p:cNvPr id="12" name="TextBox 12"/>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13554036" y="1781039"/>
            <a:ext cx="3604773" cy="3656945"/>
            <a:chOff x="0" y="0"/>
            <a:chExt cx="1358475" cy="1378136"/>
          </a:xfrm>
        </p:grpSpPr>
        <p:sp>
          <p:nvSpPr>
            <p:cNvPr id="14" name="Freeform 14"/>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ln w="38100" cap="rnd">
              <a:gradFill>
                <a:gsLst>
                  <a:gs pos="0">
                    <a:srgbClr val="287EFF">
                      <a:alpha val="100000"/>
                    </a:srgbClr>
                  </a:gs>
                  <a:gs pos="100000">
                    <a:srgbClr val="1FB5FF">
                      <a:alpha val="100000"/>
                    </a:srgbClr>
                  </a:gs>
                </a:gsLst>
                <a:lin ang="0"/>
              </a:gradFill>
              <a:prstDash val="solid"/>
              <a:round/>
            </a:ln>
          </p:spPr>
        </p:sp>
        <p:sp>
          <p:nvSpPr>
            <p:cNvPr id="15" name="TextBox 15"/>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4731570" y="2087812"/>
            <a:ext cx="3305172" cy="2996154"/>
          </a:xfrm>
          <a:prstGeom prst="rect">
            <a:avLst/>
          </a:prstGeom>
        </p:spPr>
        <p:txBody>
          <a:bodyPr lIns="0" tIns="0" rIns="0" bIns="0" rtlCol="0" anchor="t">
            <a:spAutoFit/>
          </a:bodyPr>
          <a:lstStyle/>
          <a:p>
            <a:pPr algn="l">
              <a:lnSpc>
                <a:spcPts val="2685"/>
              </a:lnSpc>
            </a:pPr>
            <a:r>
              <a:rPr lang="en-US" sz="2335">
                <a:solidFill>
                  <a:srgbClr val="FFFFFF"/>
                </a:solidFill>
                <a:latin typeface="League Spartan"/>
                <a:ea typeface="League Spartan"/>
                <a:cs typeface="League Spartan"/>
                <a:sym typeface="League Spartan"/>
              </a:rPr>
              <a:t>WHEN PEOPLE TRY TO FOLLOW A DIET, THEY FAIL TO CALCULATE CALORIE INTAKE, PROTEIN REQUIREMENTS, OR BALANCED MICRONUTRIENTS</a:t>
            </a:r>
          </a:p>
          <a:p>
            <a:pPr algn="l">
              <a:lnSpc>
                <a:spcPts val="2685"/>
              </a:lnSpc>
            </a:pPr>
            <a:endParaRPr lang="en-US" sz="2335">
              <a:solidFill>
                <a:srgbClr val="FFFFFF"/>
              </a:solidFill>
              <a:latin typeface="League Spartan"/>
              <a:ea typeface="League Spartan"/>
              <a:cs typeface="League Spartan"/>
              <a:sym typeface="League Spartan"/>
            </a:endParaRPr>
          </a:p>
        </p:txBody>
      </p:sp>
      <p:sp>
        <p:nvSpPr>
          <p:cNvPr id="17" name="TextBox 17"/>
          <p:cNvSpPr txBox="1"/>
          <p:nvPr/>
        </p:nvSpPr>
        <p:spPr>
          <a:xfrm>
            <a:off x="9119993" y="1954272"/>
            <a:ext cx="3305172" cy="3329529"/>
          </a:xfrm>
          <a:prstGeom prst="rect">
            <a:avLst/>
          </a:prstGeom>
        </p:spPr>
        <p:txBody>
          <a:bodyPr lIns="0" tIns="0" rIns="0" bIns="0" rtlCol="0" anchor="t">
            <a:spAutoFit/>
          </a:bodyPr>
          <a:lstStyle/>
          <a:p>
            <a:pPr algn="just">
              <a:lnSpc>
                <a:spcPts val="2685"/>
              </a:lnSpc>
            </a:pPr>
            <a:r>
              <a:rPr lang="en-US" sz="2335">
                <a:solidFill>
                  <a:srgbClr val="FFFFFF"/>
                </a:solidFill>
                <a:latin typeface="League Spartan"/>
                <a:ea typeface="League Spartan"/>
                <a:cs typeface="League Spartan"/>
                <a:sym typeface="League Spartan"/>
              </a:rPr>
              <a:t>EXERCISING ALONE FOR A LONG TIME WITHOUT ENCOURAGEMENT, ACHIEVEMENT, OR PROGRESS TRACKING VISUALLY LOSES COMMITMENT AND MOTIVATION</a:t>
            </a:r>
          </a:p>
          <a:p>
            <a:pPr algn="just">
              <a:lnSpc>
                <a:spcPts val="2685"/>
              </a:lnSpc>
            </a:pPr>
            <a:endParaRPr lang="en-US" sz="2335">
              <a:solidFill>
                <a:srgbClr val="FFFFFF"/>
              </a:solidFill>
              <a:latin typeface="League Spartan"/>
              <a:ea typeface="League Spartan"/>
              <a:cs typeface="League Spartan"/>
              <a:sym typeface="League Spartan"/>
            </a:endParaRPr>
          </a:p>
        </p:txBody>
      </p:sp>
      <p:sp>
        <p:nvSpPr>
          <p:cNvPr id="18" name="TextBox 18"/>
          <p:cNvSpPr txBox="1"/>
          <p:nvPr/>
        </p:nvSpPr>
        <p:spPr>
          <a:xfrm>
            <a:off x="13703837" y="1921124"/>
            <a:ext cx="3305172" cy="2996154"/>
          </a:xfrm>
          <a:prstGeom prst="rect">
            <a:avLst/>
          </a:prstGeom>
        </p:spPr>
        <p:txBody>
          <a:bodyPr lIns="0" tIns="0" rIns="0" bIns="0" rtlCol="0" anchor="t">
            <a:spAutoFit/>
          </a:bodyPr>
          <a:lstStyle/>
          <a:p>
            <a:pPr algn="just">
              <a:lnSpc>
                <a:spcPts val="2685"/>
              </a:lnSpc>
            </a:pPr>
            <a:r>
              <a:rPr lang="en-US" sz="2335">
                <a:solidFill>
                  <a:srgbClr val="FFFFFF"/>
                </a:solidFill>
                <a:latin typeface="League Spartan"/>
                <a:ea typeface="League Spartan"/>
                <a:cs typeface="League Spartan"/>
                <a:sym typeface="League Spartan"/>
              </a:rPr>
              <a:t>MANY PEOPLE ONLY TRACK WEIGHT, IGNORING BODY FAT PERCENTAGE, MUSCLE MASS, AND OTHER HEALTH-IMPORTANT FACTORS</a:t>
            </a:r>
          </a:p>
          <a:p>
            <a:pPr algn="just">
              <a:lnSpc>
                <a:spcPts val="2685"/>
              </a:lnSpc>
            </a:pPr>
            <a:endParaRPr lang="en-US" sz="2335">
              <a:solidFill>
                <a:srgbClr val="FFFFFF"/>
              </a:solidFill>
              <a:latin typeface="League Spartan"/>
              <a:ea typeface="League Spartan"/>
              <a:cs typeface="League Spartan"/>
              <a:sym typeface="League Spartan"/>
            </a:endParaRPr>
          </a:p>
        </p:txBody>
      </p:sp>
      <p:grpSp>
        <p:nvGrpSpPr>
          <p:cNvPr id="19" name="Group 19"/>
          <p:cNvGrpSpPr/>
          <p:nvPr/>
        </p:nvGrpSpPr>
        <p:grpSpPr>
          <a:xfrm>
            <a:off x="342282" y="5860766"/>
            <a:ext cx="3604773" cy="3656945"/>
            <a:chOff x="0" y="0"/>
            <a:chExt cx="1358475" cy="1378136"/>
          </a:xfrm>
        </p:grpSpPr>
        <p:sp>
          <p:nvSpPr>
            <p:cNvPr id="20" name="Freeform 20"/>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gradFill rotWithShape="1">
              <a:gsLst>
                <a:gs pos="0">
                  <a:srgbClr val="287EFF">
                    <a:alpha val="100000"/>
                  </a:srgbClr>
                </a:gs>
                <a:gs pos="100000">
                  <a:srgbClr val="1FB5FF">
                    <a:alpha val="100000"/>
                  </a:srgbClr>
                </a:gs>
              </a:gsLst>
              <a:lin ang="0"/>
            </a:gradFill>
          </p:spPr>
        </p:sp>
        <p:sp>
          <p:nvSpPr>
            <p:cNvPr id="21" name="TextBox 21"/>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492082" y="6168154"/>
            <a:ext cx="3305172" cy="2996154"/>
          </a:xfrm>
          <a:prstGeom prst="rect">
            <a:avLst/>
          </a:prstGeom>
        </p:spPr>
        <p:txBody>
          <a:bodyPr lIns="0" tIns="0" rIns="0" bIns="0" rtlCol="0" anchor="t">
            <a:spAutoFit/>
          </a:bodyPr>
          <a:lstStyle/>
          <a:p>
            <a:pPr algn="l">
              <a:lnSpc>
                <a:spcPts val="2685"/>
              </a:lnSpc>
            </a:pPr>
            <a:r>
              <a:rPr lang="en-US" sz="2335">
                <a:solidFill>
                  <a:srgbClr val="FFFFFF"/>
                </a:solidFill>
                <a:latin typeface="League Spartan"/>
                <a:ea typeface="League Spartan"/>
                <a:cs typeface="League Spartan"/>
                <a:sym typeface="League Spartan"/>
              </a:rPr>
              <a:t>WITHOUT PROPER DEMONSTRATION AND SUPERVISION, USERS PERFORM THE WORKOUT INCORRECTLY, INCREASING INJURY RISK</a:t>
            </a:r>
          </a:p>
          <a:p>
            <a:pPr algn="l">
              <a:lnSpc>
                <a:spcPts val="2685"/>
              </a:lnSpc>
            </a:pPr>
            <a:endParaRPr lang="en-US" sz="2335">
              <a:solidFill>
                <a:srgbClr val="FFFFFF"/>
              </a:solidFill>
              <a:latin typeface="League Spartan"/>
              <a:ea typeface="League Spartan"/>
              <a:cs typeface="League Spartan"/>
              <a:sym typeface="League Spartan"/>
            </a:endParaRPr>
          </a:p>
        </p:txBody>
      </p:sp>
      <p:grpSp>
        <p:nvGrpSpPr>
          <p:cNvPr id="23" name="Group 23"/>
          <p:cNvGrpSpPr/>
          <p:nvPr/>
        </p:nvGrpSpPr>
        <p:grpSpPr>
          <a:xfrm>
            <a:off x="4731570" y="5860766"/>
            <a:ext cx="3604773" cy="3656945"/>
            <a:chOff x="0" y="0"/>
            <a:chExt cx="1358475" cy="1378136"/>
          </a:xfrm>
        </p:grpSpPr>
        <p:sp>
          <p:nvSpPr>
            <p:cNvPr id="24" name="Freeform 24"/>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ln w="38100" cap="rnd">
              <a:gradFill>
                <a:gsLst>
                  <a:gs pos="0">
                    <a:srgbClr val="287EFF">
                      <a:alpha val="100000"/>
                    </a:srgbClr>
                  </a:gs>
                  <a:gs pos="100000">
                    <a:srgbClr val="1FB5FF">
                      <a:alpha val="100000"/>
                    </a:srgbClr>
                  </a:gs>
                </a:gsLst>
                <a:lin ang="0"/>
              </a:gradFill>
              <a:prstDash val="solid"/>
              <a:round/>
            </a:ln>
          </p:spPr>
        </p:sp>
        <p:sp>
          <p:nvSpPr>
            <p:cNvPr id="25" name="TextBox 25"/>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p:cNvSpPr txBox="1"/>
          <p:nvPr/>
        </p:nvSpPr>
        <p:spPr>
          <a:xfrm>
            <a:off x="4881371" y="6158629"/>
            <a:ext cx="3454972" cy="3142337"/>
          </a:xfrm>
          <a:prstGeom prst="rect">
            <a:avLst/>
          </a:prstGeom>
        </p:spPr>
        <p:txBody>
          <a:bodyPr lIns="0" tIns="0" rIns="0" bIns="0" rtlCol="0" anchor="t">
            <a:spAutoFit/>
          </a:bodyPr>
          <a:lstStyle/>
          <a:p>
            <a:pPr algn="l">
              <a:lnSpc>
                <a:spcPts val="2807"/>
              </a:lnSpc>
            </a:pPr>
            <a:r>
              <a:rPr lang="en-US" sz="2441" b="1">
                <a:solidFill>
                  <a:srgbClr val="FFFFFF"/>
                </a:solidFill>
                <a:latin typeface="Montserrat Bold"/>
                <a:ea typeface="Montserrat Bold"/>
                <a:cs typeface="Montserrat Bold"/>
                <a:sym typeface="Montserrat Bold"/>
              </a:rPr>
              <a:t>MOST PEOPLE DON’T HAVE A DEFINED GOAL (WEIGHT LOSS OR WEIGHT GAIN), WHICH LEADS TO CONFUSION AND SLOW PROGRESS</a:t>
            </a:r>
          </a:p>
          <a:p>
            <a:pPr algn="l">
              <a:lnSpc>
                <a:spcPts val="2807"/>
              </a:lnSpc>
            </a:pPr>
            <a:endParaRPr lang="en-US" sz="2441" b="1">
              <a:solidFill>
                <a:srgbClr val="FFFFFF"/>
              </a:solidFill>
              <a:latin typeface="Montserrat Bold"/>
              <a:ea typeface="Montserrat Bold"/>
              <a:cs typeface="Montserrat Bold"/>
              <a:sym typeface="Montserrat Bold"/>
            </a:endParaRPr>
          </a:p>
        </p:txBody>
      </p:sp>
      <p:grpSp>
        <p:nvGrpSpPr>
          <p:cNvPr id="27" name="Group 27"/>
          <p:cNvGrpSpPr/>
          <p:nvPr/>
        </p:nvGrpSpPr>
        <p:grpSpPr>
          <a:xfrm>
            <a:off x="8970192" y="5896563"/>
            <a:ext cx="3604773" cy="3656945"/>
            <a:chOff x="0" y="0"/>
            <a:chExt cx="1358475" cy="1378136"/>
          </a:xfrm>
        </p:grpSpPr>
        <p:sp>
          <p:nvSpPr>
            <p:cNvPr id="28" name="Freeform 28"/>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gradFill rotWithShape="1">
              <a:gsLst>
                <a:gs pos="0">
                  <a:srgbClr val="287EFF">
                    <a:alpha val="100000"/>
                  </a:srgbClr>
                </a:gs>
                <a:gs pos="100000">
                  <a:srgbClr val="1FB5FF">
                    <a:alpha val="100000"/>
                  </a:srgbClr>
                </a:gs>
              </a:gsLst>
              <a:lin ang="0"/>
            </a:gradFill>
          </p:spPr>
        </p:sp>
        <p:sp>
          <p:nvSpPr>
            <p:cNvPr id="29" name="TextBox 29"/>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sp>
        <p:nvSpPr>
          <p:cNvPr id="30" name="TextBox 30"/>
          <p:cNvSpPr txBox="1"/>
          <p:nvPr/>
        </p:nvSpPr>
        <p:spPr>
          <a:xfrm>
            <a:off x="9072855" y="6317193"/>
            <a:ext cx="3305172" cy="2329404"/>
          </a:xfrm>
          <a:prstGeom prst="rect">
            <a:avLst/>
          </a:prstGeom>
        </p:spPr>
        <p:txBody>
          <a:bodyPr lIns="0" tIns="0" rIns="0" bIns="0" rtlCol="0" anchor="t">
            <a:spAutoFit/>
          </a:bodyPr>
          <a:lstStyle/>
          <a:p>
            <a:pPr algn="l">
              <a:lnSpc>
                <a:spcPts val="2685"/>
              </a:lnSpc>
            </a:pPr>
            <a:r>
              <a:rPr lang="en-US" sz="2335">
                <a:solidFill>
                  <a:srgbClr val="FFFFFF"/>
                </a:solidFill>
                <a:latin typeface="League Spartan"/>
                <a:ea typeface="League Spartan"/>
                <a:cs typeface="League Spartan"/>
                <a:sym typeface="League Spartan"/>
              </a:rPr>
              <a:t>USER TRACKS BMI, WEIGHT, CALORIES, AND WORKOUT SEPARATELY, WHICH MAKES IT HARD TO ANALYZE PROGRESS</a:t>
            </a:r>
          </a:p>
          <a:p>
            <a:pPr algn="l">
              <a:lnSpc>
                <a:spcPts val="2685"/>
              </a:lnSpc>
            </a:pPr>
            <a:endParaRPr lang="en-US" sz="2335">
              <a:solidFill>
                <a:srgbClr val="FFFFFF"/>
              </a:solidFill>
              <a:latin typeface="League Spartan"/>
              <a:ea typeface="League Spartan"/>
              <a:cs typeface="League Spartan"/>
              <a:sym typeface="League Spartan"/>
            </a:endParaRPr>
          </a:p>
        </p:txBody>
      </p:sp>
      <p:grpSp>
        <p:nvGrpSpPr>
          <p:cNvPr id="31" name="Group 31"/>
          <p:cNvGrpSpPr/>
          <p:nvPr/>
        </p:nvGrpSpPr>
        <p:grpSpPr>
          <a:xfrm>
            <a:off x="13438805" y="5810585"/>
            <a:ext cx="3604773" cy="3656945"/>
            <a:chOff x="0" y="0"/>
            <a:chExt cx="1358475" cy="1378136"/>
          </a:xfrm>
        </p:grpSpPr>
        <p:sp>
          <p:nvSpPr>
            <p:cNvPr id="32" name="Freeform 32"/>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ln w="38100" cap="rnd">
              <a:gradFill>
                <a:gsLst>
                  <a:gs pos="0">
                    <a:srgbClr val="287EFF">
                      <a:alpha val="100000"/>
                    </a:srgbClr>
                  </a:gs>
                  <a:gs pos="100000">
                    <a:srgbClr val="1FB5FF">
                      <a:alpha val="100000"/>
                    </a:srgbClr>
                  </a:gs>
                </a:gsLst>
                <a:lin ang="0"/>
              </a:gradFill>
              <a:prstDash val="solid"/>
              <a:round/>
            </a:ln>
          </p:spPr>
        </p:sp>
        <p:sp>
          <p:nvSpPr>
            <p:cNvPr id="33" name="TextBox 33"/>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sp>
        <p:nvSpPr>
          <p:cNvPr id="34" name="TextBox 34"/>
          <p:cNvSpPr txBox="1"/>
          <p:nvPr/>
        </p:nvSpPr>
        <p:spPr>
          <a:xfrm>
            <a:off x="13588606" y="6317193"/>
            <a:ext cx="3305172" cy="2662779"/>
          </a:xfrm>
          <a:prstGeom prst="rect">
            <a:avLst/>
          </a:prstGeom>
        </p:spPr>
        <p:txBody>
          <a:bodyPr lIns="0" tIns="0" rIns="0" bIns="0" rtlCol="0" anchor="t">
            <a:spAutoFit/>
          </a:bodyPr>
          <a:lstStyle/>
          <a:p>
            <a:pPr algn="l">
              <a:lnSpc>
                <a:spcPts val="2685"/>
              </a:lnSpc>
            </a:pPr>
            <a:r>
              <a:rPr lang="en-US" sz="2335">
                <a:solidFill>
                  <a:srgbClr val="FFFFFF"/>
                </a:solidFill>
                <a:latin typeface="League Spartan"/>
                <a:ea typeface="League Spartan"/>
                <a:cs typeface="League Spartan"/>
                <a:sym typeface="League Spartan"/>
              </a:rPr>
              <a:t>USERS DON’T RECEIVE FEEDBACK ON PERFORMANCE IMPROVEMENT, WORKOUT INTENSITY, OR GOAL ACHIEVEMENT RATE.</a:t>
            </a:r>
          </a:p>
          <a:p>
            <a:pPr algn="l">
              <a:lnSpc>
                <a:spcPts val="2685"/>
              </a:lnSpc>
            </a:pPr>
            <a:endParaRPr lang="en-US" sz="2335">
              <a:solidFill>
                <a:srgbClr val="FFFFFF"/>
              </a:solidFill>
              <a:latin typeface="League Spartan"/>
              <a:ea typeface="League Spartan"/>
              <a:cs typeface="League Spartan"/>
              <a:sym typeface="League Spart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sp>
        <p:nvSpPr>
          <p:cNvPr id="2" name="TextBox 2"/>
          <p:cNvSpPr txBox="1"/>
          <p:nvPr/>
        </p:nvSpPr>
        <p:spPr>
          <a:xfrm>
            <a:off x="3968454" y="321295"/>
            <a:ext cx="10351092" cy="1357659"/>
          </a:xfrm>
          <a:prstGeom prst="rect">
            <a:avLst/>
          </a:prstGeom>
        </p:spPr>
        <p:txBody>
          <a:bodyPr lIns="0" tIns="0" rIns="0" bIns="0" rtlCol="0" anchor="t">
            <a:spAutoFit/>
          </a:bodyPr>
          <a:lstStyle/>
          <a:p>
            <a:pPr algn="ctr">
              <a:lnSpc>
                <a:spcPts val="10954"/>
              </a:lnSpc>
            </a:pPr>
            <a:r>
              <a:rPr lang="en-US" sz="8558">
                <a:solidFill>
                  <a:srgbClr val="FFFFFF"/>
                </a:solidFill>
                <a:latin typeface="Anton"/>
                <a:ea typeface="Anton"/>
                <a:cs typeface="Anton"/>
                <a:sym typeface="Anton"/>
              </a:rPr>
              <a:t>PROPOSED SOLUTION</a:t>
            </a:r>
          </a:p>
        </p:txBody>
      </p:sp>
      <p:grpSp>
        <p:nvGrpSpPr>
          <p:cNvPr id="3" name="Group 3"/>
          <p:cNvGrpSpPr/>
          <p:nvPr/>
        </p:nvGrpSpPr>
        <p:grpSpPr>
          <a:xfrm>
            <a:off x="342282" y="1781039"/>
            <a:ext cx="3604773" cy="3656945"/>
            <a:chOff x="0" y="0"/>
            <a:chExt cx="1358475" cy="1378136"/>
          </a:xfrm>
        </p:grpSpPr>
        <p:sp>
          <p:nvSpPr>
            <p:cNvPr id="4" name="Freeform 4"/>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gradFill rotWithShape="1">
              <a:gsLst>
                <a:gs pos="0">
                  <a:srgbClr val="287EFF">
                    <a:alpha val="100000"/>
                  </a:srgbClr>
                </a:gs>
                <a:gs pos="100000">
                  <a:srgbClr val="1FB5FF">
                    <a:alpha val="100000"/>
                  </a:srgbClr>
                </a:gs>
              </a:gsLst>
              <a:lin ang="0"/>
            </a:gradFill>
          </p:spPr>
        </p:sp>
        <p:sp>
          <p:nvSpPr>
            <p:cNvPr id="5" name="TextBox 5"/>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492082" y="2117579"/>
            <a:ext cx="3305172" cy="3329529"/>
          </a:xfrm>
          <a:prstGeom prst="rect">
            <a:avLst/>
          </a:prstGeom>
        </p:spPr>
        <p:txBody>
          <a:bodyPr lIns="0" tIns="0" rIns="0" bIns="0" rtlCol="0" anchor="t">
            <a:spAutoFit/>
          </a:bodyPr>
          <a:lstStyle/>
          <a:p>
            <a:pPr algn="l">
              <a:lnSpc>
                <a:spcPts val="2685"/>
              </a:lnSpc>
            </a:pPr>
            <a:r>
              <a:rPr lang="en-US" sz="2335">
                <a:solidFill>
                  <a:srgbClr val="FFFFFF"/>
                </a:solidFill>
                <a:latin typeface="League Spartan"/>
                <a:ea typeface="League Spartan"/>
                <a:cs typeface="League Spartan"/>
                <a:sym typeface="League Spartan"/>
              </a:rPr>
              <a:t>THIS SYSTEM WILL PROVIDE DIRECT COMMUNICATION WHERE CLIENT CAN INTERACT WITH TRAINER DIRECTLY FOR GUIDANCE TIPS OR WORKOUT CORRECTION</a:t>
            </a:r>
          </a:p>
          <a:p>
            <a:pPr algn="l">
              <a:lnSpc>
                <a:spcPts val="2685"/>
              </a:lnSpc>
            </a:pPr>
            <a:endParaRPr lang="en-US" sz="2335">
              <a:solidFill>
                <a:srgbClr val="FFFFFF"/>
              </a:solidFill>
              <a:latin typeface="League Spartan"/>
              <a:ea typeface="League Spartan"/>
              <a:cs typeface="League Spartan"/>
              <a:sym typeface="League Spartan"/>
            </a:endParaRPr>
          </a:p>
        </p:txBody>
      </p:sp>
      <p:grpSp>
        <p:nvGrpSpPr>
          <p:cNvPr id="7" name="Group 7"/>
          <p:cNvGrpSpPr/>
          <p:nvPr/>
        </p:nvGrpSpPr>
        <p:grpSpPr>
          <a:xfrm>
            <a:off x="4581770" y="1781039"/>
            <a:ext cx="3604773" cy="3656945"/>
            <a:chOff x="0" y="0"/>
            <a:chExt cx="1358475" cy="1378136"/>
          </a:xfrm>
        </p:grpSpPr>
        <p:sp>
          <p:nvSpPr>
            <p:cNvPr id="8" name="Freeform 8"/>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ln w="38100" cap="rnd">
              <a:gradFill>
                <a:gsLst>
                  <a:gs pos="0">
                    <a:srgbClr val="287EFF">
                      <a:alpha val="100000"/>
                    </a:srgbClr>
                  </a:gs>
                  <a:gs pos="100000">
                    <a:srgbClr val="1FB5FF">
                      <a:alpha val="100000"/>
                    </a:srgbClr>
                  </a:gs>
                </a:gsLst>
                <a:lin ang="0"/>
              </a:gradFill>
              <a:prstDash val="solid"/>
              <a:round/>
            </a:ln>
          </p:spPr>
        </p:sp>
        <p:sp>
          <p:nvSpPr>
            <p:cNvPr id="9" name="TextBox 9"/>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8923055" y="1760396"/>
            <a:ext cx="3604773" cy="3656945"/>
            <a:chOff x="0" y="0"/>
            <a:chExt cx="1358475" cy="1378136"/>
          </a:xfrm>
        </p:grpSpPr>
        <p:sp>
          <p:nvSpPr>
            <p:cNvPr id="11" name="Freeform 11"/>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gradFill rotWithShape="1">
              <a:gsLst>
                <a:gs pos="0">
                  <a:srgbClr val="287EFF">
                    <a:alpha val="100000"/>
                  </a:srgbClr>
                </a:gs>
                <a:gs pos="100000">
                  <a:srgbClr val="1FB5FF">
                    <a:alpha val="100000"/>
                  </a:srgbClr>
                </a:gs>
              </a:gsLst>
              <a:lin ang="0"/>
            </a:gradFill>
          </p:spPr>
        </p:sp>
        <p:sp>
          <p:nvSpPr>
            <p:cNvPr id="12" name="TextBox 12"/>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4731570" y="2087812"/>
            <a:ext cx="3305172" cy="3329529"/>
          </a:xfrm>
          <a:prstGeom prst="rect">
            <a:avLst/>
          </a:prstGeom>
        </p:spPr>
        <p:txBody>
          <a:bodyPr lIns="0" tIns="0" rIns="0" bIns="0" rtlCol="0" anchor="t">
            <a:spAutoFit/>
          </a:bodyPr>
          <a:lstStyle/>
          <a:p>
            <a:pPr algn="l">
              <a:lnSpc>
                <a:spcPts val="2685"/>
              </a:lnSpc>
            </a:pPr>
            <a:r>
              <a:rPr lang="en-US" sz="2335">
                <a:solidFill>
                  <a:srgbClr val="FFFFFF"/>
                </a:solidFill>
                <a:latin typeface="League Spartan"/>
                <a:ea typeface="League Spartan"/>
                <a:cs typeface="League Spartan"/>
                <a:sym typeface="League Spartan"/>
              </a:rPr>
              <a:t>IT WILL INCLUDE A DIET AND NUTRITION TRACKING MODULE THAT AUTOMATICALLY CALCULATES CALORIES, PROTEINS, AND OTHER NUTRIENTS</a:t>
            </a:r>
          </a:p>
          <a:p>
            <a:pPr algn="l">
              <a:lnSpc>
                <a:spcPts val="2685"/>
              </a:lnSpc>
            </a:pPr>
            <a:endParaRPr lang="en-US" sz="2335">
              <a:solidFill>
                <a:srgbClr val="FFFFFF"/>
              </a:solidFill>
              <a:latin typeface="League Spartan"/>
              <a:ea typeface="League Spartan"/>
              <a:cs typeface="League Spartan"/>
              <a:sym typeface="League Spartan"/>
            </a:endParaRPr>
          </a:p>
        </p:txBody>
      </p:sp>
      <p:sp>
        <p:nvSpPr>
          <p:cNvPr id="14" name="TextBox 14"/>
          <p:cNvSpPr txBox="1"/>
          <p:nvPr/>
        </p:nvSpPr>
        <p:spPr>
          <a:xfrm>
            <a:off x="9072855" y="1935222"/>
            <a:ext cx="3305172" cy="3348579"/>
          </a:xfrm>
          <a:prstGeom prst="rect">
            <a:avLst/>
          </a:prstGeom>
        </p:spPr>
        <p:txBody>
          <a:bodyPr lIns="0" tIns="0" rIns="0" bIns="0" rtlCol="0" anchor="t">
            <a:spAutoFit/>
          </a:bodyPr>
          <a:lstStyle/>
          <a:p>
            <a:pPr algn="l">
              <a:lnSpc>
                <a:spcPts val="2685"/>
              </a:lnSpc>
            </a:pPr>
            <a:r>
              <a:rPr lang="en-US" sz="2335">
                <a:solidFill>
                  <a:srgbClr val="FFFFFF"/>
                </a:solidFill>
                <a:latin typeface="Archivo Black"/>
                <a:ea typeface="Archivo Black"/>
                <a:cs typeface="Archivo Black"/>
                <a:sym typeface="Archivo Black"/>
              </a:rPr>
              <a:t>THE APPLICATION WILL SHOW VISUAL PROGRESS TRACKING WITH GRAPHS AND REPORT TO KEEP USERS MOTIVATED AND COMMITTED TO THEIR GOALS</a:t>
            </a:r>
          </a:p>
          <a:p>
            <a:pPr algn="l">
              <a:lnSpc>
                <a:spcPts val="2685"/>
              </a:lnSpc>
            </a:pPr>
            <a:endParaRPr lang="en-US" sz="2335">
              <a:solidFill>
                <a:srgbClr val="FFFFFF"/>
              </a:solidFill>
              <a:latin typeface="Archivo Black"/>
              <a:ea typeface="Archivo Black"/>
              <a:cs typeface="Archivo Black"/>
              <a:sym typeface="Archivo Black"/>
            </a:endParaRPr>
          </a:p>
        </p:txBody>
      </p:sp>
      <p:grpSp>
        <p:nvGrpSpPr>
          <p:cNvPr id="15" name="Group 15"/>
          <p:cNvGrpSpPr/>
          <p:nvPr/>
        </p:nvGrpSpPr>
        <p:grpSpPr>
          <a:xfrm>
            <a:off x="13654527" y="1914579"/>
            <a:ext cx="3604773" cy="3656945"/>
            <a:chOff x="0" y="0"/>
            <a:chExt cx="4806364" cy="4875927"/>
          </a:xfrm>
        </p:grpSpPr>
        <p:grpSp>
          <p:nvGrpSpPr>
            <p:cNvPr id="16" name="Group 16"/>
            <p:cNvGrpSpPr/>
            <p:nvPr/>
          </p:nvGrpSpPr>
          <p:grpSpPr>
            <a:xfrm>
              <a:off x="0" y="0"/>
              <a:ext cx="4806364" cy="4875927"/>
              <a:chOff x="0" y="0"/>
              <a:chExt cx="1358475" cy="1378136"/>
            </a:xfrm>
          </p:grpSpPr>
          <p:sp>
            <p:nvSpPr>
              <p:cNvPr id="17" name="Freeform 17"/>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ln w="38100" cap="rnd">
                <a:gradFill>
                  <a:gsLst>
                    <a:gs pos="0">
                      <a:srgbClr val="287EFF">
                        <a:alpha val="100000"/>
                      </a:srgbClr>
                    </a:gs>
                    <a:gs pos="100000">
                      <a:srgbClr val="1FB5FF">
                        <a:alpha val="100000"/>
                      </a:srgbClr>
                    </a:gs>
                  </a:gsLst>
                  <a:lin ang="0"/>
                </a:gradFill>
                <a:prstDash val="solid"/>
                <a:round/>
              </a:ln>
            </p:spPr>
          </p:sp>
          <p:sp>
            <p:nvSpPr>
              <p:cNvPr id="18" name="TextBox 18"/>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9"/>
            <p:cNvSpPr txBox="1"/>
            <p:nvPr/>
          </p:nvSpPr>
          <p:spPr>
            <a:xfrm>
              <a:off x="199734" y="180430"/>
              <a:ext cx="4406895" cy="4445722"/>
            </a:xfrm>
            <a:prstGeom prst="rect">
              <a:avLst/>
            </a:prstGeom>
          </p:spPr>
          <p:txBody>
            <a:bodyPr lIns="0" tIns="0" rIns="0" bIns="0" rtlCol="0" anchor="t">
              <a:spAutoFit/>
            </a:bodyPr>
            <a:lstStyle/>
            <a:p>
              <a:pPr algn="l">
                <a:lnSpc>
                  <a:spcPts val="2685"/>
                </a:lnSpc>
              </a:pPr>
              <a:r>
                <a:rPr lang="en-US" sz="2335">
                  <a:solidFill>
                    <a:srgbClr val="FFFFFF"/>
                  </a:solidFill>
                  <a:latin typeface="League Spartan"/>
                  <a:ea typeface="League Spartan"/>
                  <a:cs typeface="League Spartan"/>
                  <a:sym typeface="League Spartan"/>
                </a:rPr>
                <a:t>USERS WILL BE ABLE TO MONITOR MULTIPLE HEALTH INDICATORS SUCH AS BMI, BODY FAT PERCENTAGE, WEIGHT AND WORKOUT PERFORMANCE</a:t>
              </a:r>
            </a:p>
            <a:p>
              <a:pPr algn="l">
                <a:lnSpc>
                  <a:spcPts val="2685"/>
                </a:lnSpc>
              </a:pPr>
              <a:endParaRPr lang="en-US" sz="2335">
                <a:solidFill>
                  <a:srgbClr val="FFFFFF"/>
                </a:solidFill>
                <a:latin typeface="League Spartan"/>
                <a:ea typeface="League Spartan"/>
                <a:cs typeface="League Spartan"/>
                <a:sym typeface="League Spartan"/>
              </a:endParaRPr>
            </a:p>
          </p:txBody>
        </p:sp>
      </p:grpSp>
      <p:grpSp>
        <p:nvGrpSpPr>
          <p:cNvPr id="20" name="Group 20"/>
          <p:cNvGrpSpPr/>
          <p:nvPr/>
        </p:nvGrpSpPr>
        <p:grpSpPr>
          <a:xfrm>
            <a:off x="342282" y="5860766"/>
            <a:ext cx="3604773" cy="3656945"/>
            <a:chOff x="0" y="0"/>
            <a:chExt cx="1358475" cy="1378136"/>
          </a:xfrm>
        </p:grpSpPr>
        <p:sp>
          <p:nvSpPr>
            <p:cNvPr id="21" name="Freeform 21"/>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gradFill rotWithShape="1">
              <a:gsLst>
                <a:gs pos="0">
                  <a:srgbClr val="287EFF">
                    <a:alpha val="100000"/>
                  </a:srgbClr>
                </a:gs>
                <a:gs pos="100000">
                  <a:srgbClr val="1FB5FF">
                    <a:alpha val="100000"/>
                  </a:srgbClr>
                </a:gs>
              </a:gsLst>
              <a:lin ang="0"/>
            </a:gradFill>
          </p:spPr>
        </p:sp>
        <p:sp>
          <p:nvSpPr>
            <p:cNvPr id="22" name="TextBox 22"/>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sp>
        <p:nvSpPr>
          <p:cNvPr id="23" name="TextBox 23"/>
          <p:cNvSpPr txBox="1"/>
          <p:nvPr/>
        </p:nvSpPr>
        <p:spPr>
          <a:xfrm>
            <a:off x="492082" y="6158629"/>
            <a:ext cx="3506063" cy="2835308"/>
          </a:xfrm>
          <a:prstGeom prst="rect">
            <a:avLst/>
          </a:prstGeom>
        </p:spPr>
        <p:txBody>
          <a:bodyPr lIns="0" tIns="0" rIns="0" bIns="0" rtlCol="0" anchor="t">
            <a:spAutoFit/>
          </a:bodyPr>
          <a:lstStyle/>
          <a:p>
            <a:pPr algn="l">
              <a:lnSpc>
                <a:spcPts val="2848"/>
              </a:lnSpc>
            </a:pPr>
            <a:r>
              <a:rPr lang="en-US" sz="2477">
                <a:solidFill>
                  <a:srgbClr val="FFFFFF"/>
                </a:solidFill>
                <a:latin typeface="League Spartan"/>
                <a:ea typeface="League Spartan"/>
                <a:cs typeface="League Spartan"/>
                <a:sym typeface="League Spartan"/>
              </a:rPr>
              <a:t>USERS CAN SET SPECIFIC FITNESS GOAL SUCH AS WEIGHT LOSS, MUSCLE GAIN, OR ENDURANCE PERFORMANCE </a:t>
            </a:r>
          </a:p>
          <a:p>
            <a:pPr algn="l">
              <a:lnSpc>
                <a:spcPts val="2848"/>
              </a:lnSpc>
            </a:pPr>
            <a:endParaRPr lang="en-US" sz="2477">
              <a:solidFill>
                <a:srgbClr val="FFFFFF"/>
              </a:solidFill>
              <a:latin typeface="League Spartan"/>
              <a:ea typeface="League Spartan"/>
              <a:cs typeface="League Spartan"/>
              <a:sym typeface="League Spartan"/>
            </a:endParaRPr>
          </a:p>
        </p:txBody>
      </p:sp>
      <p:grpSp>
        <p:nvGrpSpPr>
          <p:cNvPr id="24" name="Group 24"/>
          <p:cNvGrpSpPr/>
          <p:nvPr/>
        </p:nvGrpSpPr>
        <p:grpSpPr>
          <a:xfrm>
            <a:off x="4731570" y="5860766"/>
            <a:ext cx="3604773" cy="3656945"/>
            <a:chOff x="0" y="0"/>
            <a:chExt cx="1358475" cy="1378136"/>
          </a:xfrm>
        </p:grpSpPr>
        <p:sp>
          <p:nvSpPr>
            <p:cNvPr id="25" name="Freeform 25"/>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ln w="38100" cap="rnd">
              <a:gradFill>
                <a:gsLst>
                  <a:gs pos="0">
                    <a:srgbClr val="287EFF">
                      <a:alpha val="100000"/>
                    </a:srgbClr>
                  </a:gs>
                  <a:gs pos="100000">
                    <a:srgbClr val="1FB5FF">
                      <a:alpha val="100000"/>
                    </a:srgbClr>
                  </a:gs>
                </a:gsLst>
                <a:lin ang="0"/>
              </a:gradFill>
              <a:prstDash val="solid"/>
              <a:round/>
            </a:ln>
          </p:spPr>
        </p:sp>
        <p:sp>
          <p:nvSpPr>
            <p:cNvPr id="26" name="TextBox 26"/>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27"/>
          <p:cNvSpPr txBox="1"/>
          <p:nvPr/>
        </p:nvSpPr>
        <p:spPr>
          <a:xfrm>
            <a:off x="4881371" y="6158629"/>
            <a:ext cx="3454972" cy="3530226"/>
          </a:xfrm>
          <a:prstGeom prst="rect">
            <a:avLst/>
          </a:prstGeom>
        </p:spPr>
        <p:txBody>
          <a:bodyPr lIns="0" tIns="0" rIns="0" bIns="0" rtlCol="0" anchor="t">
            <a:spAutoFit/>
          </a:bodyPr>
          <a:lstStyle/>
          <a:p>
            <a:pPr algn="l">
              <a:lnSpc>
                <a:spcPts val="2807"/>
              </a:lnSpc>
            </a:pPr>
            <a:r>
              <a:rPr lang="en-US" sz="2441" b="1">
                <a:solidFill>
                  <a:srgbClr val="FFFFFF"/>
                </a:solidFill>
                <a:latin typeface="Montserrat Bold"/>
                <a:ea typeface="Montserrat Bold"/>
                <a:cs typeface="Montserrat Bold"/>
                <a:sym typeface="Montserrat Bold"/>
              </a:rPr>
              <a:t>ALL FITNESS DATA SUCH AS BMI, CALORIES, WORKOUTS, AND PROGRESS WILL BE STORED IN ONE CENTRALIZED SYSTEM FOR EASIER ANALYSIS </a:t>
            </a:r>
          </a:p>
          <a:p>
            <a:pPr algn="l">
              <a:lnSpc>
                <a:spcPts val="2807"/>
              </a:lnSpc>
            </a:pPr>
            <a:endParaRPr lang="en-US" sz="2441" b="1">
              <a:solidFill>
                <a:srgbClr val="FFFFFF"/>
              </a:solidFill>
              <a:latin typeface="Montserrat Bold"/>
              <a:ea typeface="Montserrat Bold"/>
              <a:cs typeface="Montserrat Bold"/>
              <a:sym typeface="Montserrat Bold"/>
            </a:endParaRPr>
          </a:p>
        </p:txBody>
      </p:sp>
      <p:grpSp>
        <p:nvGrpSpPr>
          <p:cNvPr id="28" name="Group 28"/>
          <p:cNvGrpSpPr/>
          <p:nvPr/>
        </p:nvGrpSpPr>
        <p:grpSpPr>
          <a:xfrm>
            <a:off x="8970192" y="5896563"/>
            <a:ext cx="3604773" cy="3656945"/>
            <a:chOff x="0" y="0"/>
            <a:chExt cx="1358475" cy="1378136"/>
          </a:xfrm>
        </p:grpSpPr>
        <p:sp>
          <p:nvSpPr>
            <p:cNvPr id="29" name="Freeform 29"/>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gradFill rotWithShape="1">
              <a:gsLst>
                <a:gs pos="0">
                  <a:srgbClr val="287EFF">
                    <a:alpha val="100000"/>
                  </a:srgbClr>
                </a:gs>
                <a:gs pos="100000">
                  <a:srgbClr val="1FB5FF">
                    <a:alpha val="100000"/>
                  </a:srgbClr>
                </a:gs>
              </a:gsLst>
              <a:lin ang="0"/>
            </a:gradFill>
          </p:spPr>
        </p:sp>
        <p:sp>
          <p:nvSpPr>
            <p:cNvPr id="30" name="TextBox 30"/>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9072855" y="6155650"/>
            <a:ext cx="3454972" cy="3329529"/>
          </a:xfrm>
          <a:prstGeom prst="rect">
            <a:avLst/>
          </a:prstGeom>
        </p:spPr>
        <p:txBody>
          <a:bodyPr lIns="0" tIns="0" rIns="0" bIns="0" rtlCol="0" anchor="t">
            <a:spAutoFit/>
          </a:bodyPr>
          <a:lstStyle/>
          <a:p>
            <a:pPr algn="l">
              <a:lnSpc>
                <a:spcPts val="2685"/>
              </a:lnSpc>
            </a:pPr>
            <a:r>
              <a:rPr lang="en-US" sz="2335">
                <a:solidFill>
                  <a:srgbClr val="FFFFFF"/>
                </a:solidFill>
                <a:latin typeface="League Spartan"/>
                <a:ea typeface="League Spartan"/>
                <a:cs typeface="League Spartan"/>
                <a:sym typeface="League Spartan"/>
              </a:rPr>
              <a:t>TRAINER WILL BE ABLE TO TRACK PROGRESS AND MONITOR CLIENT PROGRESS TO IMPROVE WORKOUT PERFORMANCE AND ACHIEVE FITNESS GOAL</a:t>
            </a:r>
          </a:p>
          <a:p>
            <a:pPr algn="l">
              <a:lnSpc>
                <a:spcPts val="2685"/>
              </a:lnSpc>
            </a:pPr>
            <a:endParaRPr lang="en-US" sz="2335">
              <a:solidFill>
                <a:srgbClr val="FFFFFF"/>
              </a:solidFill>
              <a:latin typeface="League Spartan"/>
              <a:ea typeface="League Spartan"/>
              <a:cs typeface="League Spartan"/>
              <a:sym typeface="League Spart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833290" cy="1593725"/>
          </a:xfrm>
        </p:grpSpPr>
        <p:sp>
          <p:nvSpPr>
            <p:cNvPr id="3" name="Freeform 3"/>
            <p:cNvSpPr/>
            <p:nvPr/>
          </p:nvSpPr>
          <p:spPr>
            <a:xfrm>
              <a:off x="0" y="0"/>
              <a:ext cx="2833290" cy="1593725"/>
            </a:xfrm>
            <a:custGeom>
              <a:avLst/>
              <a:gdLst/>
              <a:ahLst/>
              <a:cxnLst/>
              <a:rect l="l" t="t" r="r" b="b"/>
              <a:pathLst>
                <a:path w="2833290" h="1593725">
                  <a:moveTo>
                    <a:pt x="0" y="0"/>
                  </a:moveTo>
                  <a:lnTo>
                    <a:pt x="2833290" y="0"/>
                  </a:lnTo>
                  <a:lnTo>
                    <a:pt x="2833290" y="1593725"/>
                  </a:lnTo>
                  <a:lnTo>
                    <a:pt x="0" y="1593725"/>
                  </a:lnTo>
                  <a:close/>
                </a:path>
              </a:pathLst>
            </a:custGeom>
            <a:blipFill>
              <a:blip r:embed="rId2"/>
              <a:stretch>
                <a:fillRect t="-9222" b="-9222"/>
              </a:stretch>
            </a:blipFill>
          </p:spPr>
        </p:sp>
      </p:grpSp>
      <p:grpSp>
        <p:nvGrpSpPr>
          <p:cNvPr id="4" name="Group 4"/>
          <p:cNvGrpSpPr/>
          <p:nvPr/>
        </p:nvGrpSpPr>
        <p:grpSpPr>
          <a:xfrm>
            <a:off x="0" y="0"/>
            <a:ext cx="18288000" cy="10287000"/>
            <a:chOff x="0" y="0"/>
            <a:chExt cx="4816593" cy="2709333"/>
          </a:xfrm>
        </p:grpSpPr>
        <p:sp>
          <p:nvSpPr>
            <p:cNvPr id="5" name="Freeform 5"/>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D1B4D">
                    <a:alpha val="95000"/>
                  </a:srgbClr>
                </a:gs>
                <a:gs pos="100000">
                  <a:srgbClr val="1F2489">
                    <a:alpha val="95000"/>
                  </a:srgbClr>
                </a:gs>
              </a:gsLst>
              <a:lin ang="0"/>
            </a:gradFill>
          </p:spPr>
        </p:sp>
        <p:sp>
          <p:nvSpPr>
            <p:cNvPr id="6" name="TextBox 6"/>
            <p:cNvSpPr txBox="1"/>
            <p:nvPr/>
          </p:nvSpPr>
          <p:spPr>
            <a:xfrm>
              <a:off x="0" y="-66675"/>
              <a:ext cx="4816593" cy="2776008"/>
            </a:xfrm>
            <a:prstGeom prst="rect">
              <a:avLst/>
            </a:prstGeom>
          </p:spPr>
          <p:txBody>
            <a:bodyPr lIns="50800" tIns="50800" rIns="50800" bIns="50800" rtlCol="0" anchor="ctr"/>
            <a:lstStyle/>
            <a:p>
              <a:pPr algn="ctr">
                <a:lnSpc>
                  <a:spcPts val="3151"/>
                </a:lnSpc>
              </a:pPr>
              <a:endParaRPr/>
            </a:p>
          </p:txBody>
        </p:sp>
      </p:grpSp>
      <p:grpSp>
        <p:nvGrpSpPr>
          <p:cNvPr id="10" name="Group 10"/>
          <p:cNvGrpSpPr/>
          <p:nvPr/>
        </p:nvGrpSpPr>
        <p:grpSpPr>
          <a:xfrm>
            <a:off x="-9529" y="266700"/>
            <a:ext cx="9991729" cy="2915206"/>
            <a:chOff x="0" y="0"/>
            <a:chExt cx="13306486" cy="2700582"/>
          </a:xfrm>
        </p:grpSpPr>
        <p:grpSp>
          <p:nvGrpSpPr>
            <p:cNvPr id="11" name="Group 11"/>
            <p:cNvGrpSpPr/>
            <p:nvPr/>
          </p:nvGrpSpPr>
          <p:grpSpPr>
            <a:xfrm>
              <a:off x="0" y="0"/>
              <a:ext cx="13306486" cy="2135711"/>
              <a:chOff x="0" y="0"/>
              <a:chExt cx="1520164" cy="243989"/>
            </a:xfrm>
          </p:grpSpPr>
          <p:sp>
            <p:nvSpPr>
              <p:cNvPr id="12" name="Freeform 12"/>
              <p:cNvSpPr/>
              <p:nvPr/>
            </p:nvSpPr>
            <p:spPr>
              <a:xfrm>
                <a:off x="12021" y="0"/>
                <a:ext cx="1496122" cy="243989"/>
              </a:xfrm>
              <a:custGeom>
                <a:avLst/>
                <a:gdLst/>
                <a:ahLst/>
                <a:cxnLst/>
                <a:rect l="l" t="t" r="r" b="b"/>
                <a:pathLst>
                  <a:path w="1496122" h="243989">
                    <a:moveTo>
                      <a:pt x="213799" y="0"/>
                    </a:moveTo>
                    <a:lnTo>
                      <a:pt x="1485523" y="0"/>
                    </a:lnTo>
                    <a:cubicBezTo>
                      <a:pt x="1489635" y="0"/>
                      <a:pt x="1493376" y="2378"/>
                      <a:pt x="1495121" y="6102"/>
                    </a:cubicBezTo>
                    <a:cubicBezTo>
                      <a:pt x="1496865" y="9825"/>
                      <a:pt x="1496299" y="14222"/>
                      <a:pt x="1493667" y="17381"/>
                    </a:cubicBezTo>
                    <a:lnTo>
                      <a:pt x="1319418" y="226607"/>
                    </a:lnTo>
                    <a:cubicBezTo>
                      <a:pt x="1310246" y="237620"/>
                      <a:pt x="1296655" y="243989"/>
                      <a:pt x="1282323" y="243989"/>
                    </a:cubicBezTo>
                    <a:lnTo>
                      <a:pt x="10599" y="243989"/>
                    </a:lnTo>
                    <a:cubicBezTo>
                      <a:pt x="6487" y="243989"/>
                      <a:pt x="2746" y="241610"/>
                      <a:pt x="1001" y="237887"/>
                    </a:cubicBezTo>
                    <a:cubicBezTo>
                      <a:pt x="-743" y="234163"/>
                      <a:pt x="-177" y="229767"/>
                      <a:pt x="2455" y="226607"/>
                    </a:cubicBezTo>
                    <a:lnTo>
                      <a:pt x="176703" y="17381"/>
                    </a:lnTo>
                    <a:cubicBezTo>
                      <a:pt x="185875" y="6368"/>
                      <a:pt x="199467" y="0"/>
                      <a:pt x="213799" y="0"/>
                    </a:cubicBezTo>
                    <a:close/>
                  </a:path>
                </a:pathLst>
              </a:custGeom>
              <a:gradFill rotWithShape="1">
                <a:gsLst>
                  <a:gs pos="0">
                    <a:srgbClr val="0D1B4D">
                      <a:alpha val="100000"/>
                    </a:srgbClr>
                  </a:gs>
                  <a:gs pos="100000">
                    <a:srgbClr val="1F2489">
                      <a:alpha val="100000"/>
                    </a:srgbClr>
                  </a:gs>
                </a:gsLst>
                <a:lin ang="0"/>
              </a:gradFill>
            </p:spPr>
          </p:sp>
          <p:sp>
            <p:nvSpPr>
              <p:cNvPr id="13" name="TextBox 13"/>
              <p:cNvSpPr txBox="1"/>
              <p:nvPr/>
            </p:nvSpPr>
            <p:spPr>
              <a:xfrm>
                <a:off x="101600" y="-66675"/>
                <a:ext cx="1316964" cy="310664"/>
              </a:xfrm>
              <a:prstGeom prst="rect">
                <a:avLst/>
              </a:prstGeom>
            </p:spPr>
            <p:txBody>
              <a:bodyPr lIns="50800" tIns="50800" rIns="50800" bIns="50800" rtlCol="0" anchor="ctr"/>
              <a:lstStyle/>
              <a:p>
                <a:pPr algn="ctr">
                  <a:lnSpc>
                    <a:spcPts val="3151"/>
                  </a:lnSpc>
                </a:pPr>
                <a:endParaRPr/>
              </a:p>
            </p:txBody>
          </p:sp>
        </p:grpSp>
        <p:sp>
          <p:nvSpPr>
            <p:cNvPr id="14" name="TextBox 14"/>
            <p:cNvSpPr txBox="1"/>
            <p:nvPr/>
          </p:nvSpPr>
          <p:spPr>
            <a:xfrm>
              <a:off x="1650777" y="494130"/>
              <a:ext cx="10004928" cy="2206452"/>
            </a:xfrm>
            <a:prstGeom prst="rect">
              <a:avLst/>
            </a:prstGeom>
          </p:spPr>
          <p:txBody>
            <a:bodyPr wrap="square" lIns="0" tIns="0" rIns="0" bIns="0" rtlCol="0" anchor="t">
              <a:spAutoFit/>
            </a:bodyPr>
            <a:lstStyle/>
            <a:p>
              <a:pPr algn="ctr">
                <a:lnSpc>
                  <a:spcPts val="9505"/>
                </a:lnSpc>
              </a:pPr>
              <a:r>
                <a:rPr lang="en-US" sz="8000" b="1" dirty="0">
                  <a:solidFill>
                    <a:schemeClr val="bg1"/>
                  </a:solidFill>
                </a:rPr>
                <a:t>Advantages</a:t>
              </a:r>
            </a:p>
            <a:p>
              <a:pPr algn="ctr">
                <a:lnSpc>
                  <a:spcPts val="9505"/>
                </a:lnSpc>
              </a:pPr>
              <a:endParaRPr lang="en-US" sz="7426" i="1" dirty="0">
                <a:solidFill>
                  <a:srgbClr val="FFFFFF"/>
                </a:solidFill>
                <a:latin typeface="Anton Italics"/>
                <a:ea typeface="Anton Italics"/>
                <a:cs typeface="Anton Italics"/>
                <a:sym typeface="Anton Italics"/>
              </a:endParaRPr>
            </a:p>
          </p:txBody>
        </p:sp>
      </p:grpSp>
      <p:sp>
        <p:nvSpPr>
          <p:cNvPr id="21" name="TextBox 14">
            <a:extLst>
              <a:ext uri="{FF2B5EF4-FFF2-40B4-BE49-F238E27FC236}">
                <a16:creationId xmlns:a16="http://schemas.microsoft.com/office/drawing/2014/main" id="{DA6597DF-9B76-486E-8BAF-5B3687AEC87A}"/>
              </a:ext>
            </a:extLst>
          </p:cNvPr>
          <p:cNvSpPr txBox="1"/>
          <p:nvPr/>
        </p:nvSpPr>
        <p:spPr>
          <a:xfrm>
            <a:off x="1447800" y="2160346"/>
            <a:ext cx="15610174" cy="8236807"/>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3600" b="1" dirty="0">
                <a:solidFill>
                  <a:schemeClr val="bg1"/>
                </a:solidFill>
              </a:rPr>
              <a:t>Efficient Workout Management</a:t>
            </a:r>
            <a:r>
              <a:rPr lang="en-US" sz="3600" dirty="0">
                <a:solidFill>
                  <a:schemeClr val="bg1"/>
                </a:solidFill>
              </a:rPr>
              <a:t> </a:t>
            </a:r>
            <a:endParaRPr lang="en-US" sz="3600" dirty="0"/>
          </a:p>
          <a:p>
            <a:r>
              <a:rPr lang="en-US" sz="3600" b="1" dirty="0">
                <a:solidFill>
                  <a:schemeClr val="accent5"/>
                </a:solidFill>
              </a:rPr>
              <a:t> Helps users organize and follow structured workout plans easily.</a:t>
            </a:r>
          </a:p>
          <a:p>
            <a:pPr marL="571500" indent="-571500">
              <a:buFont typeface="Arial" panose="020B0604020202020204" pitchFamily="34" charset="0"/>
              <a:buChar char="•"/>
            </a:pPr>
            <a:r>
              <a:rPr lang="en-US" sz="3600" b="1" dirty="0">
                <a:solidFill>
                  <a:schemeClr val="bg1"/>
                </a:solidFill>
              </a:rPr>
              <a:t>Health Monitoring</a:t>
            </a:r>
            <a:r>
              <a:rPr lang="en-US" sz="3600" dirty="0">
                <a:solidFill>
                  <a:schemeClr val="bg1"/>
                </a:solidFill>
              </a:rPr>
              <a:t> </a:t>
            </a:r>
          </a:p>
          <a:p>
            <a:r>
              <a:rPr lang="en-US" sz="3600" b="1" dirty="0">
                <a:solidFill>
                  <a:schemeClr val="accent5"/>
                </a:solidFill>
              </a:rPr>
              <a:t>Features like BMI calculator and progress tracking help users monitor their fitness condition.</a:t>
            </a:r>
          </a:p>
          <a:p>
            <a:pPr marL="571500" indent="-571500">
              <a:buFont typeface="Arial" panose="020B0604020202020204" pitchFamily="34" charset="0"/>
              <a:buChar char="•"/>
            </a:pPr>
            <a:r>
              <a:rPr lang="en-US" sz="3600" b="1" dirty="0">
                <a:solidFill>
                  <a:schemeClr val="bg1"/>
                </a:solidFill>
              </a:rPr>
              <a:t>Nutrition Tracking</a:t>
            </a:r>
            <a:r>
              <a:rPr lang="en-US" sz="3600" dirty="0">
                <a:solidFill>
                  <a:schemeClr val="bg1"/>
                </a:solidFill>
              </a:rPr>
              <a:t> </a:t>
            </a:r>
          </a:p>
          <a:p>
            <a:r>
              <a:rPr lang="en-US" sz="3600" b="1" dirty="0">
                <a:solidFill>
                  <a:schemeClr val="accent5"/>
                </a:solidFill>
              </a:rPr>
              <a:t>Allows users to track daily calorie intake and maintain a balanced diet.</a:t>
            </a:r>
          </a:p>
          <a:p>
            <a:pPr marL="571500" indent="-571500">
              <a:buFont typeface="Arial" panose="020B0604020202020204" pitchFamily="34" charset="0"/>
              <a:buChar char="•"/>
            </a:pPr>
            <a:r>
              <a:rPr lang="en-US" sz="3600" b="1" dirty="0">
                <a:solidFill>
                  <a:schemeClr val="bg1"/>
                </a:solidFill>
              </a:rPr>
              <a:t>Improved Communication</a:t>
            </a:r>
            <a:r>
              <a:rPr lang="en-US" sz="3600" dirty="0">
                <a:solidFill>
                  <a:schemeClr val="bg1"/>
                </a:solidFill>
              </a:rPr>
              <a:t> </a:t>
            </a:r>
          </a:p>
          <a:p>
            <a:r>
              <a:rPr lang="en-US" sz="3600" b="1" dirty="0">
                <a:solidFill>
                  <a:schemeClr val="accent5"/>
                </a:solidFill>
              </a:rPr>
              <a:t>Enables interaction between trainers and users for guidance and feedback.</a:t>
            </a:r>
          </a:p>
          <a:p>
            <a:pPr marL="571500" indent="-571500">
              <a:buFont typeface="Arial" panose="020B0604020202020204" pitchFamily="34" charset="0"/>
              <a:buChar char="•"/>
            </a:pPr>
            <a:r>
              <a:rPr lang="en-US" sz="3600" b="1" dirty="0">
                <a:solidFill>
                  <a:schemeClr val="bg1"/>
                </a:solidFill>
              </a:rPr>
              <a:t>Progress Visualization</a:t>
            </a:r>
            <a:r>
              <a:rPr lang="en-US" sz="3600" dirty="0">
                <a:solidFill>
                  <a:schemeClr val="bg1"/>
                </a:solidFill>
              </a:rPr>
              <a:t> </a:t>
            </a:r>
          </a:p>
          <a:p>
            <a:r>
              <a:rPr lang="en-US" sz="3600" b="1" dirty="0">
                <a:solidFill>
                  <a:schemeClr val="accent5"/>
                </a:solidFill>
              </a:rPr>
              <a:t>Graphs and reports help users see their fitness improvements over time.</a:t>
            </a:r>
          </a:p>
          <a:p>
            <a:pPr marL="571500" indent="-571500">
              <a:buFont typeface="Arial" panose="020B0604020202020204" pitchFamily="34" charset="0"/>
              <a:buChar char="•"/>
            </a:pPr>
            <a:r>
              <a:rPr lang="en-US" sz="3600" b="1" dirty="0">
                <a:solidFill>
                  <a:schemeClr val="bg1"/>
                </a:solidFill>
              </a:rPr>
              <a:t>User-Friendly Interface</a:t>
            </a:r>
            <a:r>
              <a:rPr lang="en-US" sz="3600" dirty="0">
                <a:solidFill>
                  <a:schemeClr val="bg1"/>
                </a:solidFill>
              </a:rPr>
              <a:t> </a:t>
            </a:r>
          </a:p>
          <a:p>
            <a:r>
              <a:rPr lang="en-US" sz="3600" b="1" dirty="0">
                <a:solidFill>
                  <a:schemeClr val="accent5"/>
                </a:solidFill>
              </a:rPr>
              <a:t>Simple and modern design makes the system easy to use.</a:t>
            </a:r>
          </a:p>
          <a:p>
            <a:pPr algn="ctr">
              <a:lnSpc>
                <a:spcPts val="9505"/>
              </a:lnSpc>
            </a:pPr>
            <a:endParaRPr lang="en-US" sz="3600" i="1" dirty="0">
              <a:solidFill>
                <a:srgbClr val="FFFFFF"/>
              </a:solidFill>
              <a:latin typeface="Anton Italics"/>
              <a:ea typeface="Anton Italics"/>
              <a:cs typeface="Anton Italics"/>
              <a:sym typeface="Anton Itali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B4D">
                <a:alpha val="100000"/>
              </a:srgbClr>
            </a:gs>
            <a:gs pos="100000">
              <a:srgbClr val="1F2489">
                <a:alpha val="100000"/>
              </a:srgbClr>
            </a:gs>
          </a:gsLst>
          <a:lin ang="0"/>
        </a:gra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644743" y="2811287"/>
          <a:ext cx="16998513" cy="6651532"/>
        </p:xfrm>
        <a:graphic>
          <a:graphicData uri="http://schemas.openxmlformats.org/drawingml/2006/table">
            <a:tbl>
              <a:tblPr/>
              <a:tblGrid>
                <a:gridCol w="5321910">
                  <a:extLst>
                    <a:ext uri="{9D8B030D-6E8A-4147-A177-3AD203B41FA5}">
                      <a16:colId xmlns:a16="http://schemas.microsoft.com/office/drawing/2014/main" val="20000"/>
                    </a:ext>
                  </a:extLst>
                </a:gridCol>
                <a:gridCol w="5321910">
                  <a:extLst>
                    <a:ext uri="{9D8B030D-6E8A-4147-A177-3AD203B41FA5}">
                      <a16:colId xmlns:a16="http://schemas.microsoft.com/office/drawing/2014/main" val="20001"/>
                    </a:ext>
                  </a:extLst>
                </a:gridCol>
                <a:gridCol w="6354693">
                  <a:extLst>
                    <a:ext uri="{9D8B030D-6E8A-4147-A177-3AD203B41FA5}">
                      <a16:colId xmlns:a16="http://schemas.microsoft.com/office/drawing/2014/main" val="20002"/>
                    </a:ext>
                  </a:extLst>
                </a:gridCol>
              </a:tblGrid>
              <a:tr h="935946">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0"/>
                  </a:ext>
                </a:extLst>
              </a:tr>
              <a:tr h="2922530">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1"/>
                  </a:ext>
                </a:extLst>
              </a:tr>
              <a:tr h="1230226">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2"/>
                  </a:ext>
                </a:extLst>
              </a:tr>
              <a:tr h="1562830">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3"/>
                  </a:ext>
                </a:extLst>
              </a:tr>
            </a:tbl>
          </a:graphicData>
        </a:graphic>
      </p:graphicFrame>
      <p:sp>
        <p:nvSpPr>
          <p:cNvPr id="3" name="TextBox 3"/>
          <p:cNvSpPr txBox="1"/>
          <p:nvPr/>
        </p:nvSpPr>
        <p:spPr>
          <a:xfrm>
            <a:off x="5268857" y="220807"/>
            <a:ext cx="7750285" cy="2590481"/>
          </a:xfrm>
          <a:prstGeom prst="rect">
            <a:avLst/>
          </a:prstGeom>
        </p:spPr>
        <p:txBody>
          <a:bodyPr lIns="0" tIns="0" rIns="0" bIns="0" rtlCol="0" anchor="t">
            <a:spAutoFit/>
          </a:bodyPr>
          <a:lstStyle/>
          <a:p>
            <a:pPr marL="0" lvl="0" indent="0" algn="ctr">
              <a:lnSpc>
                <a:spcPts val="9471"/>
              </a:lnSpc>
              <a:spcBef>
                <a:spcPct val="0"/>
              </a:spcBef>
            </a:pPr>
            <a:r>
              <a:rPr lang="en-US" sz="8610" spc="-172">
                <a:solidFill>
                  <a:srgbClr val="FFFFFF"/>
                </a:solidFill>
                <a:latin typeface="Impact"/>
                <a:ea typeface="Impact"/>
                <a:cs typeface="Impact"/>
                <a:sym typeface="Impact"/>
              </a:rPr>
              <a:t>Related system analysis</a:t>
            </a:r>
          </a:p>
        </p:txBody>
      </p:sp>
      <p:sp>
        <p:nvSpPr>
          <p:cNvPr id="4" name="TextBox 4"/>
          <p:cNvSpPr txBox="1"/>
          <p:nvPr/>
        </p:nvSpPr>
        <p:spPr>
          <a:xfrm>
            <a:off x="1028700" y="2861598"/>
            <a:ext cx="4468338" cy="689683"/>
          </a:xfrm>
          <a:prstGeom prst="rect">
            <a:avLst/>
          </a:prstGeom>
        </p:spPr>
        <p:txBody>
          <a:bodyPr lIns="0" tIns="0" rIns="0" bIns="0" rtlCol="0" anchor="t">
            <a:spAutoFit/>
          </a:bodyPr>
          <a:lstStyle/>
          <a:p>
            <a:pPr algn="ctr">
              <a:lnSpc>
                <a:spcPts val="5510"/>
              </a:lnSpc>
            </a:pPr>
            <a:r>
              <a:rPr lang="en-US" sz="4305">
                <a:solidFill>
                  <a:srgbClr val="FFFFFF"/>
                </a:solidFill>
                <a:latin typeface="Anton"/>
                <a:ea typeface="Anton"/>
                <a:cs typeface="Anton"/>
                <a:sym typeface="Anton"/>
              </a:rPr>
              <a:t>APPLICATION NAME</a:t>
            </a:r>
          </a:p>
        </p:txBody>
      </p:sp>
      <p:sp>
        <p:nvSpPr>
          <p:cNvPr id="5" name="TextBox 5"/>
          <p:cNvSpPr txBox="1"/>
          <p:nvPr/>
        </p:nvSpPr>
        <p:spPr>
          <a:xfrm>
            <a:off x="644743" y="4425242"/>
            <a:ext cx="5398785" cy="718258"/>
          </a:xfrm>
          <a:prstGeom prst="rect">
            <a:avLst/>
          </a:prstGeom>
        </p:spPr>
        <p:txBody>
          <a:bodyPr lIns="0" tIns="0" rIns="0" bIns="0" rtlCol="0" anchor="t">
            <a:spAutoFit/>
          </a:bodyPr>
          <a:lstStyle/>
          <a:p>
            <a:pPr algn="ctr">
              <a:lnSpc>
                <a:spcPts val="5510"/>
              </a:lnSpc>
            </a:pPr>
            <a:r>
              <a:rPr lang="en-US" sz="4305" b="1">
                <a:solidFill>
                  <a:srgbClr val="FFFFFF"/>
                </a:solidFill>
                <a:latin typeface="Poppins Bold"/>
                <a:ea typeface="Poppins Bold"/>
                <a:cs typeface="Poppins Bold"/>
                <a:sym typeface="Poppins Bold"/>
              </a:rPr>
              <a:t>MYFITNESSPAL</a:t>
            </a:r>
          </a:p>
        </p:txBody>
      </p:sp>
      <p:sp>
        <p:nvSpPr>
          <p:cNvPr id="6" name="TextBox 6"/>
          <p:cNvSpPr txBox="1"/>
          <p:nvPr/>
        </p:nvSpPr>
        <p:spPr>
          <a:xfrm>
            <a:off x="6434709" y="2861598"/>
            <a:ext cx="4468338" cy="689683"/>
          </a:xfrm>
          <a:prstGeom prst="rect">
            <a:avLst/>
          </a:prstGeom>
        </p:spPr>
        <p:txBody>
          <a:bodyPr lIns="0" tIns="0" rIns="0" bIns="0" rtlCol="0" anchor="t">
            <a:spAutoFit/>
          </a:bodyPr>
          <a:lstStyle/>
          <a:p>
            <a:pPr algn="ctr">
              <a:lnSpc>
                <a:spcPts val="5510"/>
              </a:lnSpc>
            </a:pPr>
            <a:r>
              <a:rPr lang="en-US" sz="4305">
                <a:solidFill>
                  <a:srgbClr val="FFFFFF"/>
                </a:solidFill>
                <a:latin typeface="Anton"/>
                <a:ea typeface="Anton"/>
                <a:cs typeface="Anton"/>
                <a:sym typeface="Anton"/>
              </a:rPr>
              <a:t>WEAKNESS</a:t>
            </a:r>
          </a:p>
        </p:txBody>
      </p:sp>
      <p:sp>
        <p:nvSpPr>
          <p:cNvPr id="7" name="TextBox 7"/>
          <p:cNvSpPr txBox="1"/>
          <p:nvPr/>
        </p:nvSpPr>
        <p:spPr>
          <a:xfrm>
            <a:off x="6229798" y="3993994"/>
            <a:ext cx="4878160" cy="2331244"/>
          </a:xfrm>
          <a:prstGeom prst="rect">
            <a:avLst/>
          </a:prstGeom>
        </p:spPr>
        <p:txBody>
          <a:bodyPr lIns="0" tIns="0" rIns="0" bIns="0" rtlCol="0" anchor="t">
            <a:spAutoFit/>
          </a:bodyPr>
          <a:lstStyle/>
          <a:p>
            <a:pPr marL="318064" lvl="1" indent="-159032" algn="l">
              <a:lnSpc>
                <a:spcPts val="2386"/>
              </a:lnSpc>
              <a:buFont typeface="Arial"/>
              <a:buChar char="•"/>
            </a:pPr>
            <a:r>
              <a:rPr lang="en-US" sz="1473" spc="347">
                <a:solidFill>
                  <a:srgbClr val="FFFFFF"/>
                </a:solidFill>
                <a:latin typeface="League Spartan"/>
                <a:ea typeface="League Spartan"/>
                <a:cs typeface="League Spartan"/>
                <a:sym typeface="League Spartan"/>
              </a:rPr>
              <a:t>IT MAINLY FOCUSES ON DIET AND CALORIE TRACKING</a:t>
            </a:r>
          </a:p>
          <a:p>
            <a:pPr algn="l">
              <a:lnSpc>
                <a:spcPts val="2386"/>
              </a:lnSpc>
            </a:pPr>
            <a:endParaRPr lang="en-US" sz="1473" spc="347">
              <a:solidFill>
                <a:srgbClr val="FFFFFF"/>
              </a:solidFill>
              <a:latin typeface="League Spartan"/>
              <a:ea typeface="League Spartan"/>
              <a:cs typeface="League Spartan"/>
              <a:sym typeface="League Spartan"/>
            </a:endParaRPr>
          </a:p>
          <a:p>
            <a:pPr marL="318064" lvl="1" indent="-159032" algn="l">
              <a:lnSpc>
                <a:spcPts val="2386"/>
              </a:lnSpc>
              <a:buFont typeface="Arial"/>
              <a:buChar char="•"/>
            </a:pPr>
            <a:r>
              <a:rPr lang="en-US" sz="1473" spc="347">
                <a:solidFill>
                  <a:srgbClr val="FFFFFF"/>
                </a:solidFill>
                <a:latin typeface="League Spartan"/>
                <a:ea typeface="League Spartan"/>
                <a:cs typeface="League Spartan"/>
                <a:sym typeface="League Spartan"/>
              </a:rPr>
              <a:t>There is no guidance from trainer for proper workout</a:t>
            </a:r>
          </a:p>
          <a:p>
            <a:pPr algn="l">
              <a:lnSpc>
                <a:spcPts val="2386"/>
              </a:lnSpc>
            </a:pPr>
            <a:endParaRPr lang="en-US" sz="1473" spc="347">
              <a:solidFill>
                <a:srgbClr val="FFFFFF"/>
              </a:solidFill>
              <a:latin typeface="League Spartan"/>
              <a:ea typeface="League Spartan"/>
              <a:cs typeface="League Spartan"/>
              <a:sym typeface="League Spartan"/>
            </a:endParaRPr>
          </a:p>
          <a:p>
            <a:pPr marL="318064" lvl="1" indent="-159032" algn="l">
              <a:lnSpc>
                <a:spcPts val="2386"/>
              </a:lnSpc>
              <a:buFont typeface="Arial"/>
              <a:buChar char="•"/>
            </a:pPr>
            <a:r>
              <a:rPr lang="en-US" sz="1473" spc="347">
                <a:solidFill>
                  <a:srgbClr val="FFFFFF"/>
                </a:solidFill>
                <a:latin typeface="League Spartan"/>
                <a:ea typeface="League Spartan"/>
                <a:cs typeface="League Spartan"/>
                <a:sym typeface="League Spartan"/>
              </a:rPr>
              <a:t>There is no communication between trainer and clients</a:t>
            </a:r>
          </a:p>
        </p:txBody>
      </p:sp>
      <p:sp>
        <p:nvSpPr>
          <p:cNvPr id="8" name="TextBox 8"/>
          <p:cNvSpPr txBox="1"/>
          <p:nvPr/>
        </p:nvSpPr>
        <p:spPr>
          <a:xfrm>
            <a:off x="563476" y="6754514"/>
            <a:ext cx="5398785" cy="718258"/>
          </a:xfrm>
          <a:prstGeom prst="rect">
            <a:avLst/>
          </a:prstGeom>
        </p:spPr>
        <p:txBody>
          <a:bodyPr lIns="0" tIns="0" rIns="0" bIns="0" rtlCol="0" anchor="t">
            <a:spAutoFit/>
          </a:bodyPr>
          <a:lstStyle/>
          <a:p>
            <a:pPr algn="ctr">
              <a:lnSpc>
                <a:spcPts val="5510"/>
              </a:lnSpc>
            </a:pPr>
            <a:r>
              <a:rPr lang="en-US" sz="4305" b="1">
                <a:solidFill>
                  <a:srgbClr val="FFFFFF"/>
                </a:solidFill>
                <a:latin typeface="Poppins Bold"/>
                <a:ea typeface="Poppins Bold"/>
                <a:cs typeface="Poppins Bold"/>
                <a:sym typeface="Poppins Bold"/>
              </a:rPr>
              <a:t>JEFIT</a:t>
            </a:r>
          </a:p>
        </p:txBody>
      </p:sp>
      <p:sp>
        <p:nvSpPr>
          <p:cNvPr id="9" name="TextBox 9"/>
          <p:cNvSpPr txBox="1"/>
          <p:nvPr/>
        </p:nvSpPr>
        <p:spPr>
          <a:xfrm>
            <a:off x="6299515" y="6764039"/>
            <a:ext cx="4738726" cy="1000141"/>
          </a:xfrm>
          <a:prstGeom prst="rect">
            <a:avLst/>
          </a:prstGeom>
        </p:spPr>
        <p:txBody>
          <a:bodyPr lIns="0" tIns="0" rIns="0" bIns="0" rtlCol="0" anchor="t">
            <a:spAutoFit/>
          </a:bodyPr>
          <a:lstStyle/>
          <a:p>
            <a:pPr algn="l">
              <a:lnSpc>
                <a:spcPts val="2751"/>
              </a:lnSpc>
            </a:pPr>
            <a:r>
              <a:rPr lang="en-US" sz="1730" spc="316">
                <a:solidFill>
                  <a:srgbClr val="FFFFFF"/>
                </a:solidFill>
                <a:latin typeface="League Spartan"/>
                <a:ea typeface="League Spartan"/>
                <a:cs typeface="League Spartan"/>
                <a:sym typeface="League Spartan"/>
              </a:rPr>
              <a:t>IT HAS MANY EXERCISES BUT IS TOO COMPLICATED FOR BEGINNERS TO USE</a:t>
            </a:r>
          </a:p>
        </p:txBody>
      </p:sp>
      <p:sp>
        <p:nvSpPr>
          <p:cNvPr id="10" name="TextBox 10"/>
          <p:cNvSpPr txBox="1"/>
          <p:nvPr/>
        </p:nvSpPr>
        <p:spPr>
          <a:xfrm>
            <a:off x="644743" y="8349072"/>
            <a:ext cx="5398785" cy="718258"/>
          </a:xfrm>
          <a:prstGeom prst="rect">
            <a:avLst/>
          </a:prstGeom>
        </p:spPr>
        <p:txBody>
          <a:bodyPr lIns="0" tIns="0" rIns="0" bIns="0" rtlCol="0" anchor="t">
            <a:spAutoFit/>
          </a:bodyPr>
          <a:lstStyle/>
          <a:p>
            <a:pPr algn="ctr">
              <a:lnSpc>
                <a:spcPts val="5510"/>
              </a:lnSpc>
            </a:pPr>
            <a:r>
              <a:rPr lang="en-US" sz="4305" b="1">
                <a:solidFill>
                  <a:srgbClr val="FFFFFF"/>
                </a:solidFill>
                <a:latin typeface="Poppins Bold"/>
                <a:ea typeface="Poppins Bold"/>
                <a:cs typeface="Poppins Bold"/>
                <a:sym typeface="Poppins Bold"/>
              </a:rPr>
              <a:t>FITBOD</a:t>
            </a:r>
          </a:p>
        </p:txBody>
      </p:sp>
      <p:sp>
        <p:nvSpPr>
          <p:cNvPr id="11" name="TextBox 11"/>
          <p:cNvSpPr txBox="1"/>
          <p:nvPr/>
        </p:nvSpPr>
        <p:spPr>
          <a:xfrm>
            <a:off x="6229798" y="8170691"/>
            <a:ext cx="5067147" cy="1075020"/>
          </a:xfrm>
          <a:prstGeom prst="rect">
            <a:avLst/>
          </a:prstGeom>
        </p:spPr>
        <p:txBody>
          <a:bodyPr lIns="0" tIns="0" rIns="0" bIns="0" rtlCol="0" anchor="t">
            <a:spAutoFit/>
          </a:bodyPr>
          <a:lstStyle/>
          <a:p>
            <a:pPr algn="l">
              <a:lnSpc>
                <a:spcPts val="2942"/>
              </a:lnSpc>
            </a:pPr>
            <a:r>
              <a:rPr lang="en-US" sz="1850" spc="338">
                <a:solidFill>
                  <a:srgbClr val="FFFFFF"/>
                </a:solidFill>
                <a:latin typeface="League Spartan"/>
                <a:ea typeface="League Spartan"/>
                <a:cs typeface="League Spartan"/>
                <a:sym typeface="League Spartan"/>
              </a:rPr>
              <a:t>IT USES AI TO PICK WORKOUT BUT WON’T FIX YOUR POSTURE OR FORMS</a:t>
            </a:r>
          </a:p>
        </p:txBody>
      </p:sp>
      <p:sp>
        <p:nvSpPr>
          <p:cNvPr id="12" name="TextBox 12"/>
          <p:cNvSpPr txBox="1"/>
          <p:nvPr/>
        </p:nvSpPr>
        <p:spPr>
          <a:xfrm>
            <a:off x="12672182" y="2861598"/>
            <a:ext cx="4468338" cy="689683"/>
          </a:xfrm>
          <a:prstGeom prst="rect">
            <a:avLst/>
          </a:prstGeom>
        </p:spPr>
        <p:txBody>
          <a:bodyPr lIns="0" tIns="0" rIns="0" bIns="0" rtlCol="0" anchor="t">
            <a:spAutoFit/>
          </a:bodyPr>
          <a:lstStyle/>
          <a:p>
            <a:pPr algn="ctr">
              <a:lnSpc>
                <a:spcPts val="5510"/>
              </a:lnSpc>
            </a:pPr>
            <a:r>
              <a:rPr lang="en-US" sz="4305">
                <a:solidFill>
                  <a:srgbClr val="FFFFFF"/>
                </a:solidFill>
                <a:latin typeface="Anton"/>
                <a:ea typeface="Anton"/>
                <a:cs typeface="Anton"/>
                <a:sym typeface="Anton"/>
              </a:rPr>
              <a:t>PROPOSED SOLUTION</a:t>
            </a:r>
          </a:p>
        </p:txBody>
      </p:sp>
      <p:sp>
        <p:nvSpPr>
          <p:cNvPr id="13" name="TextBox 13"/>
          <p:cNvSpPr txBox="1"/>
          <p:nvPr/>
        </p:nvSpPr>
        <p:spPr>
          <a:xfrm>
            <a:off x="11724955" y="3984469"/>
            <a:ext cx="5705938" cy="2382360"/>
          </a:xfrm>
          <a:prstGeom prst="rect">
            <a:avLst/>
          </a:prstGeom>
        </p:spPr>
        <p:txBody>
          <a:bodyPr lIns="0" tIns="0" rIns="0" bIns="0" rtlCol="0" anchor="t">
            <a:spAutoFit/>
          </a:bodyPr>
          <a:lstStyle/>
          <a:p>
            <a:pPr algn="l">
              <a:lnSpc>
                <a:spcPts val="4660"/>
              </a:lnSpc>
            </a:pPr>
            <a:r>
              <a:rPr lang="en-US" sz="3640" b="1">
                <a:solidFill>
                  <a:srgbClr val="FFFFFF"/>
                </a:solidFill>
                <a:latin typeface="Poppins Bold"/>
                <a:ea typeface="Poppins Bold"/>
                <a:cs typeface="Poppins Bold"/>
                <a:sym typeface="Poppins Bold"/>
              </a:rPr>
              <a:t>OUR PROJECT WILL INTEGRATE DIET, WORKOUTS, AND TRAINER-CLIENT CHAT</a:t>
            </a:r>
          </a:p>
        </p:txBody>
      </p:sp>
      <p:sp>
        <p:nvSpPr>
          <p:cNvPr id="14" name="TextBox 14"/>
          <p:cNvSpPr txBox="1"/>
          <p:nvPr/>
        </p:nvSpPr>
        <p:spPr>
          <a:xfrm>
            <a:off x="11870142" y="6902821"/>
            <a:ext cx="5415565" cy="739152"/>
          </a:xfrm>
          <a:prstGeom prst="rect">
            <a:avLst/>
          </a:prstGeom>
        </p:spPr>
        <p:txBody>
          <a:bodyPr lIns="0" tIns="0" rIns="0" bIns="0" rtlCol="0" anchor="t">
            <a:spAutoFit/>
          </a:bodyPr>
          <a:lstStyle/>
          <a:p>
            <a:pPr algn="l">
              <a:lnSpc>
                <a:spcPts val="2878"/>
              </a:lnSpc>
            </a:pPr>
            <a:r>
              <a:rPr lang="en-US" sz="2248" b="1">
                <a:solidFill>
                  <a:srgbClr val="FFFFFF"/>
                </a:solidFill>
                <a:latin typeface="Poppins Bold"/>
                <a:ea typeface="Poppins Bold"/>
                <a:cs typeface="Poppins Bold"/>
                <a:sym typeface="Poppins Bold"/>
              </a:rPr>
              <a:t>A SIMPLE AND CLEAN DESIGN THAT GUIDES USERS STEP BY STEP</a:t>
            </a:r>
          </a:p>
        </p:txBody>
      </p:sp>
      <p:sp>
        <p:nvSpPr>
          <p:cNvPr id="18" name="TextBox 18"/>
          <p:cNvSpPr txBox="1"/>
          <p:nvPr/>
        </p:nvSpPr>
        <p:spPr>
          <a:xfrm>
            <a:off x="11843735" y="8092123"/>
            <a:ext cx="5415565" cy="1101102"/>
          </a:xfrm>
          <a:prstGeom prst="rect">
            <a:avLst/>
          </a:prstGeom>
        </p:spPr>
        <p:txBody>
          <a:bodyPr lIns="0" tIns="0" rIns="0" bIns="0" rtlCol="0" anchor="t">
            <a:spAutoFit/>
          </a:bodyPr>
          <a:lstStyle/>
          <a:p>
            <a:pPr algn="l">
              <a:lnSpc>
                <a:spcPts val="2878"/>
              </a:lnSpc>
            </a:pPr>
            <a:r>
              <a:rPr lang="en-US" sz="2248" b="1">
                <a:solidFill>
                  <a:srgbClr val="FFFFFF"/>
                </a:solidFill>
                <a:latin typeface="Poppins Bold"/>
                <a:ea typeface="Poppins Bold"/>
                <a:cs typeface="Poppins Bold"/>
                <a:sym typeface="Poppins Bold"/>
              </a:rPr>
              <a:t>ALLOWS DIRECT FEEDBACK FROM CLIENT FOR PROPER GUIDANCE AND TIPS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B4D">
                <a:alpha val="100000"/>
              </a:srgbClr>
            </a:gs>
            <a:gs pos="100000">
              <a:srgbClr val="1F2489">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2039972" y="-3653"/>
            <a:ext cx="14208056" cy="1643992"/>
          </a:xfrm>
          <a:prstGeom prst="rect">
            <a:avLst/>
          </a:prstGeom>
        </p:spPr>
        <p:txBody>
          <a:bodyPr lIns="0" tIns="0" rIns="0" bIns="0" rtlCol="0" anchor="t">
            <a:spAutoFit/>
          </a:bodyPr>
          <a:lstStyle/>
          <a:p>
            <a:pPr algn="ctr">
              <a:lnSpc>
                <a:spcPts val="6339"/>
              </a:lnSpc>
            </a:pPr>
            <a:r>
              <a:rPr lang="en-US" sz="4953" b="1" i="1">
                <a:solidFill>
                  <a:srgbClr val="EEF8FF"/>
                </a:solidFill>
                <a:latin typeface="Poppins Bold Italics"/>
                <a:ea typeface="Poppins Bold Italics"/>
                <a:cs typeface="Poppins Bold Italics"/>
                <a:sym typeface="Poppins Bold Italics"/>
              </a:rPr>
              <a:t>SCOPE OF PROJECT &amp; MAJOR FUNCTIONALITIES</a:t>
            </a:r>
          </a:p>
        </p:txBody>
      </p:sp>
      <p:grpSp>
        <p:nvGrpSpPr>
          <p:cNvPr id="3" name="Group 3"/>
          <p:cNvGrpSpPr/>
          <p:nvPr/>
        </p:nvGrpSpPr>
        <p:grpSpPr>
          <a:xfrm>
            <a:off x="648524" y="2850138"/>
            <a:ext cx="17021611" cy="2003382"/>
            <a:chOff x="0" y="0"/>
            <a:chExt cx="22695482" cy="2671176"/>
          </a:xfrm>
        </p:grpSpPr>
        <p:grpSp>
          <p:nvGrpSpPr>
            <p:cNvPr id="4" name="Group 4"/>
            <p:cNvGrpSpPr/>
            <p:nvPr/>
          </p:nvGrpSpPr>
          <p:grpSpPr>
            <a:xfrm>
              <a:off x="0" y="0"/>
              <a:ext cx="22695482" cy="2671176"/>
              <a:chOff x="0" y="0"/>
              <a:chExt cx="811339" cy="95492"/>
            </a:xfrm>
          </p:grpSpPr>
          <p:sp>
            <p:nvSpPr>
              <p:cNvPr id="5" name="Freeform 5"/>
              <p:cNvSpPr/>
              <p:nvPr/>
            </p:nvSpPr>
            <p:spPr>
              <a:xfrm>
                <a:off x="0" y="0"/>
                <a:ext cx="811339" cy="95492"/>
              </a:xfrm>
              <a:custGeom>
                <a:avLst/>
                <a:gdLst/>
                <a:ahLst/>
                <a:cxnLst/>
                <a:rect l="l" t="t" r="r" b="b"/>
                <a:pathLst>
                  <a:path w="811339" h="95492">
                    <a:moveTo>
                      <a:pt x="0" y="0"/>
                    </a:moveTo>
                    <a:lnTo>
                      <a:pt x="811339" y="0"/>
                    </a:lnTo>
                    <a:lnTo>
                      <a:pt x="811339" y="95492"/>
                    </a:lnTo>
                    <a:lnTo>
                      <a:pt x="0" y="95492"/>
                    </a:lnTo>
                    <a:close/>
                  </a:path>
                </a:pathLst>
              </a:custGeom>
              <a:gradFill rotWithShape="1">
                <a:gsLst>
                  <a:gs pos="0">
                    <a:srgbClr val="0D1B4D">
                      <a:alpha val="100000"/>
                    </a:srgbClr>
                  </a:gs>
                  <a:gs pos="100000">
                    <a:srgbClr val="1F2489">
                      <a:alpha val="100000"/>
                    </a:srgbClr>
                  </a:gs>
                </a:gsLst>
                <a:lin ang="0"/>
              </a:gradFill>
            </p:spPr>
          </p:sp>
          <p:sp>
            <p:nvSpPr>
              <p:cNvPr id="6" name="TextBox 6"/>
              <p:cNvSpPr txBox="1"/>
              <p:nvPr/>
            </p:nvSpPr>
            <p:spPr>
              <a:xfrm>
                <a:off x="0" y="-66675"/>
                <a:ext cx="811339" cy="162167"/>
              </a:xfrm>
              <a:prstGeom prst="rect">
                <a:avLst/>
              </a:prstGeom>
            </p:spPr>
            <p:txBody>
              <a:bodyPr lIns="50800" tIns="50800" rIns="50800" bIns="50800" rtlCol="0" anchor="ctr"/>
              <a:lstStyle/>
              <a:p>
                <a:pPr algn="ctr">
                  <a:lnSpc>
                    <a:spcPts val="3151"/>
                  </a:lnSpc>
                </a:pPr>
                <a:endParaRPr/>
              </a:p>
            </p:txBody>
          </p:sp>
        </p:grpSp>
        <p:sp>
          <p:nvSpPr>
            <p:cNvPr id="7" name="TextBox 7"/>
            <p:cNvSpPr txBox="1"/>
            <p:nvPr/>
          </p:nvSpPr>
          <p:spPr>
            <a:xfrm>
              <a:off x="286075" y="309652"/>
              <a:ext cx="22148686" cy="2004247"/>
            </a:xfrm>
            <a:prstGeom prst="rect">
              <a:avLst/>
            </a:prstGeom>
          </p:spPr>
          <p:txBody>
            <a:bodyPr lIns="0" tIns="0" rIns="0" bIns="0" rtlCol="0" anchor="t">
              <a:spAutoFit/>
            </a:bodyPr>
            <a:lstStyle/>
            <a:p>
              <a:pPr algn="just">
                <a:lnSpc>
                  <a:spcPts val="3034"/>
                </a:lnSpc>
              </a:pPr>
              <a:r>
                <a:rPr lang="en-US" sz="2167" spc="43">
                  <a:solidFill>
                    <a:srgbClr val="FFFFFF"/>
                  </a:solidFill>
                  <a:latin typeface="League Spartan"/>
                  <a:ea typeface="League Spartan"/>
                  <a:cs typeface="League Spartan"/>
                  <a:sym typeface="League Spartan"/>
                </a:rPr>
                <a:t>The scope of the Gym Fitness and Workout Progress Tracking Application is to design and develop a centralized fitness management system that helps users monitor workouts, track health metrics, and communicate with trainers efficiently. The system will integrate multiple functionalities to improve fitness tracking and user engagement.</a:t>
              </a:r>
            </a:p>
          </p:txBody>
        </p:sp>
      </p:grpSp>
      <p:grpSp>
        <p:nvGrpSpPr>
          <p:cNvPr id="8" name="Group 8"/>
          <p:cNvGrpSpPr/>
          <p:nvPr/>
        </p:nvGrpSpPr>
        <p:grpSpPr>
          <a:xfrm>
            <a:off x="1231601" y="5801513"/>
            <a:ext cx="4359513" cy="1550725"/>
            <a:chOff x="0" y="0"/>
            <a:chExt cx="5812684" cy="2067634"/>
          </a:xfrm>
        </p:grpSpPr>
        <p:grpSp>
          <p:nvGrpSpPr>
            <p:cNvPr id="9" name="Group 9"/>
            <p:cNvGrpSpPr/>
            <p:nvPr/>
          </p:nvGrpSpPr>
          <p:grpSpPr>
            <a:xfrm>
              <a:off x="0" y="0"/>
              <a:ext cx="5812684" cy="2067634"/>
              <a:chOff x="0" y="0"/>
              <a:chExt cx="251130" cy="89330"/>
            </a:xfrm>
          </p:grpSpPr>
          <p:sp>
            <p:nvSpPr>
              <p:cNvPr id="10" name="Freeform 10"/>
              <p:cNvSpPr/>
              <p:nvPr/>
            </p:nvSpPr>
            <p:spPr>
              <a:xfrm>
                <a:off x="0" y="0"/>
                <a:ext cx="251130" cy="89330"/>
              </a:xfrm>
              <a:custGeom>
                <a:avLst/>
                <a:gdLst/>
                <a:ahLst/>
                <a:cxnLst/>
                <a:rect l="l" t="t" r="r" b="b"/>
                <a:pathLst>
                  <a:path w="251130" h="89330">
                    <a:moveTo>
                      <a:pt x="0" y="0"/>
                    </a:moveTo>
                    <a:lnTo>
                      <a:pt x="251130" y="0"/>
                    </a:lnTo>
                    <a:lnTo>
                      <a:pt x="251130" y="89330"/>
                    </a:lnTo>
                    <a:lnTo>
                      <a:pt x="0" y="89330"/>
                    </a:lnTo>
                    <a:close/>
                  </a:path>
                </a:pathLst>
              </a:custGeom>
              <a:solidFill>
                <a:srgbClr val="EEF8FF"/>
              </a:solidFill>
            </p:spPr>
          </p:sp>
          <p:sp>
            <p:nvSpPr>
              <p:cNvPr id="11" name="TextBox 11"/>
              <p:cNvSpPr txBox="1"/>
              <p:nvPr/>
            </p:nvSpPr>
            <p:spPr>
              <a:xfrm>
                <a:off x="0" y="-66675"/>
                <a:ext cx="251130" cy="156005"/>
              </a:xfrm>
              <a:prstGeom prst="rect">
                <a:avLst/>
              </a:prstGeom>
            </p:spPr>
            <p:txBody>
              <a:bodyPr lIns="50800" tIns="50800" rIns="50800" bIns="50800" rtlCol="0" anchor="ctr"/>
              <a:lstStyle/>
              <a:p>
                <a:pPr algn="ctr">
                  <a:lnSpc>
                    <a:spcPts val="3151"/>
                  </a:lnSpc>
                </a:pPr>
                <a:endParaRPr/>
              </a:p>
            </p:txBody>
          </p:sp>
        </p:grpSp>
        <p:sp>
          <p:nvSpPr>
            <p:cNvPr id="12" name="TextBox 12"/>
            <p:cNvSpPr txBox="1"/>
            <p:nvPr/>
          </p:nvSpPr>
          <p:spPr>
            <a:xfrm>
              <a:off x="202881" y="197408"/>
              <a:ext cx="5406921" cy="1644244"/>
            </a:xfrm>
            <a:prstGeom prst="rect">
              <a:avLst/>
            </a:prstGeom>
          </p:spPr>
          <p:txBody>
            <a:bodyPr lIns="0" tIns="0" rIns="0" bIns="0" rtlCol="0" anchor="t">
              <a:spAutoFit/>
            </a:bodyPr>
            <a:lstStyle/>
            <a:p>
              <a:pPr algn="ctr">
                <a:lnSpc>
                  <a:spcPts val="2510"/>
                </a:lnSpc>
              </a:pPr>
              <a:r>
                <a:rPr lang="en-US" sz="1793" spc="35">
                  <a:solidFill>
                    <a:srgbClr val="0D1B4D"/>
                  </a:solidFill>
                  <a:latin typeface="League Spartan"/>
                  <a:ea typeface="League Spartan"/>
                  <a:cs typeface="League Spartan"/>
                  <a:sym typeface="League Spartan"/>
                </a:rPr>
                <a:t>User registration and login </a:t>
              </a:r>
            </a:p>
            <a:p>
              <a:pPr algn="l">
                <a:lnSpc>
                  <a:spcPts val="2510"/>
                </a:lnSpc>
              </a:pPr>
              <a:r>
                <a:rPr lang="en-US" sz="1793" spc="35">
                  <a:solidFill>
                    <a:srgbClr val="3168AB"/>
                  </a:solidFill>
                  <a:latin typeface="League Spartan"/>
                  <a:ea typeface="League Spartan"/>
                  <a:cs typeface="League Spartan"/>
                  <a:sym typeface="League Spartan"/>
                </a:rPr>
                <a:t>User registration, login authentication, and profile management.</a:t>
              </a:r>
            </a:p>
          </p:txBody>
        </p:sp>
      </p:grpSp>
      <p:grpSp>
        <p:nvGrpSpPr>
          <p:cNvPr id="13" name="Group 13"/>
          <p:cNvGrpSpPr/>
          <p:nvPr/>
        </p:nvGrpSpPr>
        <p:grpSpPr>
          <a:xfrm>
            <a:off x="7357439" y="5801513"/>
            <a:ext cx="4189636" cy="1694121"/>
            <a:chOff x="0" y="0"/>
            <a:chExt cx="5586181" cy="2258828"/>
          </a:xfrm>
        </p:grpSpPr>
        <p:grpSp>
          <p:nvGrpSpPr>
            <p:cNvPr id="14" name="Group 14"/>
            <p:cNvGrpSpPr/>
            <p:nvPr/>
          </p:nvGrpSpPr>
          <p:grpSpPr>
            <a:xfrm>
              <a:off x="0" y="0"/>
              <a:ext cx="5586181" cy="2258828"/>
              <a:chOff x="0" y="0"/>
              <a:chExt cx="219572" cy="88786"/>
            </a:xfrm>
          </p:grpSpPr>
          <p:sp>
            <p:nvSpPr>
              <p:cNvPr id="15" name="Freeform 15"/>
              <p:cNvSpPr/>
              <p:nvPr/>
            </p:nvSpPr>
            <p:spPr>
              <a:xfrm>
                <a:off x="0" y="0"/>
                <a:ext cx="219572" cy="88786"/>
              </a:xfrm>
              <a:custGeom>
                <a:avLst/>
                <a:gdLst/>
                <a:ahLst/>
                <a:cxnLst/>
                <a:rect l="l" t="t" r="r" b="b"/>
                <a:pathLst>
                  <a:path w="219572" h="88786">
                    <a:moveTo>
                      <a:pt x="0" y="0"/>
                    </a:moveTo>
                    <a:lnTo>
                      <a:pt x="219572" y="0"/>
                    </a:lnTo>
                    <a:lnTo>
                      <a:pt x="219572" y="88786"/>
                    </a:lnTo>
                    <a:lnTo>
                      <a:pt x="0" y="88786"/>
                    </a:lnTo>
                    <a:close/>
                  </a:path>
                </a:pathLst>
              </a:custGeom>
              <a:solidFill>
                <a:srgbClr val="EEF8FF"/>
              </a:solidFill>
            </p:spPr>
          </p:sp>
          <p:sp>
            <p:nvSpPr>
              <p:cNvPr id="16" name="TextBox 16"/>
              <p:cNvSpPr txBox="1"/>
              <p:nvPr/>
            </p:nvSpPr>
            <p:spPr>
              <a:xfrm>
                <a:off x="0" y="-66675"/>
                <a:ext cx="219572" cy="155461"/>
              </a:xfrm>
              <a:prstGeom prst="rect">
                <a:avLst/>
              </a:prstGeom>
            </p:spPr>
            <p:txBody>
              <a:bodyPr lIns="50800" tIns="50800" rIns="50800" bIns="50800" rtlCol="0" anchor="ctr"/>
              <a:lstStyle/>
              <a:p>
                <a:pPr algn="ctr">
                  <a:lnSpc>
                    <a:spcPts val="3151"/>
                  </a:lnSpc>
                </a:pPr>
                <a:endParaRPr/>
              </a:p>
            </p:txBody>
          </p:sp>
        </p:grpSp>
        <p:sp>
          <p:nvSpPr>
            <p:cNvPr id="17" name="TextBox 17"/>
            <p:cNvSpPr txBox="1"/>
            <p:nvPr/>
          </p:nvSpPr>
          <p:spPr>
            <a:xfrm>
              <a:off x="117782" y="237631"/>
              <a:ext cx="5196229" cy="1800147"/>
            </a:xfrm>
            <a:prstGeom prst="rect">
              <a:avLst/>
            </a:prstGeom>
          </p:spPr>
          <p:txBody>
            <a:bodyPr lIns="0" tIns="0" rIns="0" bIns="0" rtlCol="0" anchor="t">
              <a:spAutoFit/>
            </a:bodyPr>
            <a:lstStyle/>
            <a:p>
              <a:pPr algn="l">
                <a:lnSpc>
                  <a:spcPts val="2759"/>
                </a:lnSpc>
              </a:pPr>
              <a:r>
                <a:rPr lang="en-US" sz="1971" spc="39">
                  <a:solidFill>
                    <a:srgbClr val="13222B"/>
                  </a:solidFill>
                  <a:latin typeface="League Spartan"/>
                  <a:ea typeface="League Spartan"/>
                  <a:cs typeface="League Spartan"/>
                  <a:sym typeface="League Spartan"/>
                </a:rPr>
                <a:t>Progress Mon</a:t>
              </a:r>
              <a:r>
                <a:rPr lang="en-US" sz="1971" spc="39">
                  <a:solidFill>
                    <a:srgbClr val="0D1B4D"/>
                  </a:solidFill>
                  <a:latin typeface="League Spartan"/>
                  <a:ea typeface="League Spartan"/>
                  <a:cs typeface="League Spartan"/>
                  <a:sym typeface="League Spartan"/>
                </a:rPr>
                <a:t>itoring &amp; Data Visualization</a:t>
              </a:r>
              <a:r>
                <a:rPr lang="en-US" sz="1971" spc="39">
                  <a:solidFill>
                    <a:srgbClr val="3168AB"/>
                  </a:solidFill>
                  <a:latin typeface="League Spartan"/>
                  <a:ea typeface="League Spartan"/>
                  <a:cs typeface="League Spartan"/>
                  <a:sym typeface="League Spartan"/>
                </a:rPr>
                <a:t> </a:t>
              </a:r>
            </a:p>
            <a:p>
              <a:pPr algn="l">
                <a:lnSpc>
                  <a:spcPts val="2759"/>
                </a:lnSpc>
              </a:pPr>
              <a:r>
                <a:rPr lang="en-US" sz="1971" spc="39">
                  <a:solidFill>
                    <a:srgbClr val="3168AB"/>
                  </a:solidFill>
                  <a:latin typeface="League Spartan"/>
                  <a:ea typeface="League Spartan"/>
                  <a:cs typeface="League Spartan"/>
                  <a:sym typeface="League Spartan"/>
                </a:rPr>
                <a:t>Displaying fitness progress through graphs and reports.</a:t>
              </a:r>
            </a:p>
          </p:txBody>
        </p:sp>
      </p:grpSp>
      <p:grpSp>
        <p:nvGrpSpPr>
          <p:cNvPr id="18" name="Group 18"/>
          <p:cNvGrpSpPr/>
          <p:nvPr/>
        </p:nvGrpSpPr>
        <p:grpSpPr>
          <a:xfrm>
            <a:off x="12890609" y="5801513"/>
            <a:ext cx="4368691" cy="1756982"/>
            <a:chOff x="0" y="0"/>
            <a:chExt cx="5824921" cy="2342643"/>
          </a:xfrm>
        </p:grpSpPr>
        <p:grpSp>
          <p:nvGrpSpPr>
            <p:cNvPr id="19" name="Group 19"/>
            <p:cNvGrpSpPr/>
            <p:nvPr/>
          </p:nvGrpSpPr>
          <p:grpSpPr>
            <a:xfrm>
              <a:off x="0" y="0"/>
              <a:ext cx="5824921" cy="2342643"/>
              <a:chOff x="0" y="0"/>
              <a:chExt cx="219572" cy="88307"/>
            </a:xfrm>
          </p:grpSpPr>
          <p:sp>
            <p:nvSpPr>
              <p:cNvPr id="20" name="Freeform 20"/>
              <p:cNvSpPr/>
              <p:nvPr/>
            </p:nvSpPr>
            <p:spPr>
              <a:xfrm>
                <a:off x="0" y="0"/>
                <a:ext cx="219572" cy="88307"/>
              </a:xfrm>
              <a:custGeom>
                <a:avLst/>
                <a:gdLst/>
                <a:ahLst/>
                <a:cxnLst/>
                <a:rect l="l" t="t" r="r" b="b"/>
                <a:pathLst>
                  <a:path w="219572" h="88307">
                    <a:moveTo>
                      <a:pt x="0" y="0"/>
                    </a:moveTo>
                    <a:lnTo>
                      <a:pt x="219572" y="0"/>
                    </a:lnTo>
                    <a:lnTo>
                      <a:pt x="219572" y="88307"/>
                    </a:lnTo>
                    <a:lnTo>
                      <a:pt x="0" y="88307"/>
                    </a:lnTo>
                    <a:close/>
                  </a:path>
                </a:pathLst>
              </a:custGeom>
              <a:solidFill>
                <a:srgbClr val="EEF8FF"/>
              </a:solidFill>
            </p:spPr>
          </p:sp>
          <p:sp>
            <p:nvSpPr>
              <p:cNvPr id="21" name="TextBox 21"/>
              <p:cNvSpPr txBox="1"/>
              <p:nvPr/>
            </p:nvSpPr>
            <p:spPr>
              <a:xfrm>
                <a:off x="0" y="-66675"/>
                <a:ext cx="219572" cy="154982"/>
              </a:xfrm>
              <a:prstGeom prst="rect">
                <a:avLst/>
              </a:prstGeom>
            </p:spPr>
            <p:txBody>
              <a:bodyPr lIns="50800" tIns="50800" rIns="50800" bIns="50800" rtlCol="0" anchor="ctr"/>
              <a:lstStyle/>
              <a:p>
                <a:pPr algn="ctr">
                  <a:lnSpc>
                    <a:spcPts val="3151"/>
                  </a:lnSpc>
                </a:pPr>
                <a:endParaRPr/>
              </a:p>
            </p:txBody>
          </p:sp>
        </p:grpSp>
        <p:sp>
          <p:nvSpPr>
            <p:cNvPr id="22" name="TextBox 22"/>
            <p:cNvSpPr txBox="1"/>
            <p:nvPr/>
          </p:nvSpPr>
          <p:spPr>
            <a:xfrm>
              <a:off x="122816" y="249416"/>
              <a:ext cx="5418304" cy="1862731"/>
            </a:xfrm>
            <a:prstGeom prst="rect">
              <a:avLst/>
            </a:prstGeom>
          </p:spPr>
          <p:txBody>
            <a:bodyPr lIns="0" tIns="0" rIns="0" bIns="0" rtlCol="0" anchor="t">
              <a:spAutoFit/>
            </a:bodyPr>
            <a:lstStyle/>
            <a:p>
              <a:pPr algn="l">
                <a:lnSpc>
                  <a:spcPts val="2877"/>
                </a:lnSpc>
              </a:pPr>
              <a:r>
                <a:rPr lang="en-US" sz="2055" spc="41">
                  <a:solidFill>
                    <a:srgbClr val="0D1B4D"/>
                  </a:solidFill>
                  <a:latin typeface="League Spartan"/>
                  <a:ea typeface="League Spartan"/>
                  <a:cs typeface="League Spartan"/>
                  <a:sym typeface="League Spartan"/>
                </a:rPr>
                <a:t>Workout Management System </a:t>
              </a:r>
            </a:p>
            <a:p>
              <a:pPr algn="l">
                <a:lnSpc>
                  <a:spcPts val="2877"/>
                </a:lnSpc>
              </a:pPr>
              <a:r>
                <a:rPr lang="en-US" sz="2055" spc="41">
                  <a:solidFill>
                    <a:srgbClr val="3168AB"/>
                  </a:solidFill>
                  <a:latin typeface="League Spartan"/>
                  <a:ea typeface="League Spartan"/>
                  <a:cs typeface="League Spartan"/>
                  <a:sym typeface="League Spartan"/>
                </a:rPr>
                <a:t>Creation and assignment of personalized workout plans.</a:t>
              </a:r>
            </a:p>
          </p:txBody>
        </p:sp>
      </p:grpSp>
      <p:grpSp>
        <p:nvGrpSpPr>
          <p:cNvPr id="23" name="Group 23"/>
          <p:cNvGrpSpPr/>
          <p:nvPr/>
        </p:nvGrpSpPr>
        <p:grpSpPr>
          <a:xfrm>
            <a:off x="12890609" y="7793554"/>
            <a:ext cx="4559366" cy="1755204"/>
            <a:chOff x="0" y="0"/>
            <a:chExt cx="6079155" cy="2340272"/>
          </a:xfrm>
        </p:grpSpPr>
        <p:grpSp>
          <p:nvGrpSpPr>
            <p:cNvPr id="24" name="Group 24"/>
            <p:cNvGrpSpPr/>
            <p:nvPr/>
          </p:nvGrpSpPr>
          <p:grpSpPr>
            <a:xfrm>
              <a:off x="0" y="0"/>
              <a:ext cx="5819025" cy="2340272"/>
              <a:chOff x="0" y="0"/>
              <a:chExt cx="219572" cy="88307"/>
            </a:xfrm>
          </p:grpSpPr>
          <p:sp>
            <p:nvSpPr>
              <p:cNvPr id="25" name="Freeform 25"/>
              <p:cNvSpPr/>
              <p:nvPr/>
            </p:nvSpPr>
            <p:spPr>
              <a:xfrm>
                <a:off x="0" y="0"/>
                <a:ext cx="219572" cy="88307"/>
              </a:xfrm>
              <a:custGeom>
                <a:avLst/>
                <a:gdLst/>
                <a:ahLst/>
                <a:cxnLst/>
                <a:rect l="l" t="t" r="r" b="b"/>
                <a:pathLst>
                  <a:path w="219572" h="88307">
                    <a:moveTo>
                      <a:pt x="0" y="0"/>
                    </a:moveTo>
                    <a:lnTo>
                      <a:pt x="219572" y="0"/>
                    </a:lnTo>
                    <a:lnTo>
                      <a:pt x="219572" y="88307"/>
                    </a:lnTo>
                    <a:lnTo>
                      <a:pt x="0" y="88307"/>
                    </a:lnTo>
                    <a:close/>
                  </a:path>
                </a:pathLst>
              </a:custGeom>
              <a:solidFill>
                <a:srgbClr val="EEF8FF"/>
              </a:solidFill>
            </p:spPr>
          </p:sp>
          <p:sp>
            <p:nvSpPr>
              <p:cNvPr id="26" name="TextBox 26"/>
              <p:cNvSpPr txBox="1"/>
              <p:nvPr/>
            </p:nvSpPr>
            <p:spPr>
              <a:xfrm>
                <a:off x="0" y="-66675"/>
                <a:ext cx="219572" cy="154982"/>
              </a:xfrm>
              <a:prstGeom prst="rect">
                <a:avLst/>
              </a:prstGeom>
            </p:spPr>
            <p:txBody>
              <a:bodyPr lIns="50800" tIns="50800" rIns="50800" bIns="50800" rtlCol="0" anchor="ctr"/>
              <a:lstStyle/>
              <a:p>
                <a:pPr algn="ctr">
                  <a:lnSpc>
                    <a:spcPts val="3151"/>
                  </a:lnSpc>
                </a:pPr>
                <a:endParaRPr/>
              </a:p>
            </p:txBody>
          </p:sp>
        </p:grpSp>
        <p:sp>
          <p:nvSpPr>
            <p:cNvPr id="27" name="TextBox 27"/>
            <p:cNvSpPr txBox="1"/>
            <p:nvPr/>
          </p:nvSpPr>
          <p:spPr>
            <a:xfrm>
              <a:off x="122692" y="239600"/>
              <a:ext cx="5956463" cy="1953649"/>
            </a:xfrm>
            <a:prstGeom prst="rect">
              <a:avLst/>
            </a:prstGeom>
          </p:spPr>
          <p:txBody>
            <a:bodyPr lIns="0" tIns="0" rIns="0" bIns="0" rtlCol="0" anchor="t">
              <a:spAutoFit/>
            </a:bodyPr>
            <a:lstStyle/>
            <a:p>
              <a:pPr algn="l">
                <a:lnSpc>
                  <a:spcPts val="3005"/>
                </a:lnSpc>
              </a:pPr>
              <a:r>
                <a:rPr lang="en-US" sz="2146" spc="42">
                  <a:solidFill>
                    <a:srgbClr val="13222B"/>
                  </a:solidFill>
                  <a:latin typeface="League Spartan"/>
                  <a:ea typeface="League Spartan"/>
                  <a:cs typeface="League Spartan"/>
                  <a:sym typeface="League Spartan"/>
                </a:rPr>
                <a:t>Nutrition &amp; Health Tracking  </a:t>
              </a:r>
              <a:r>
                <a:rPr lang="en-US" sz="2146" spc="42">
                  <a:solidFill>
                    <a:srgbClr val="3168AB"/>
                  </a:solidFill>
                  <a:latin typeface="League Spartan"/>
                  <a:ea typeface="League Spartan"/>
                  <a:cs typeface="League Spartan"/>
                  <a:sym typeface="League Spartan"/>
                </a:rPr>
                <a:t>Monitoring BMI, calorie intake, and other fitness indicators.</a:t>
              </a:r>
            </a:p>
          </p:txBody>
        </p:sp>
      </p:grpSp>
      <p:grpSp>
        <p:nvGrpSpPr>
          <p:cNvPr id="28" name="Group 28"/>
          <p:cNvGrpSpPr/>
          <p:nvPr/>
        </p:nvGrpSpPr>
        <p:grpSpPr>
          <a:xfrm>
            <a:off x="1231601" y="7656252"/>
            <a:ext cx="4359513" cy="1602048"/>
            <a:chOff x="0" y="0"/>
            <a:chExt cx="5812684" cy="2136065"/>
          </a:xfrm>
        </p:grpSpPr>
        <p:grpSp>
          <p:nvGrpSpPr>
            <p:cNvPr id="29" name="Group 29"/>
            <p:cNvGrpSpPr/>
            <p:nvPr/>
          </p:nvGrpSpPr>
          <p:grpSpPr>
            <a:xfrm>
              <a:off x="0" y="0"/>
              <a:ext cx="5812684" cy="2136065"/>
              <a:chOff x="0" y="0"/>
              <a:chExt cx="240301" cy="88307"/>
            </a:xfrm>
          </p:grpSpPr>
          <p:sp>
            <p:nvSpPr>
              <p:cNvPr id="30" name="Freeform 30"/>
              <p:cNvSpPr/>
              <p:nvPr/>
            </p:nvSpPr>
            <p:spPr>
              <a:xfrm>
                <a:off x="0" y="0"/>
                <a:ext cx="240301" cy="88307"/>
              </a:xfrm>
              <a:custGeom>
                <a:avLst/>
                <a:gdLst/>
                <a:ahLst/>
                <a:cxnLst/>
                <a:rect l="l" t="t" r="r" b="b"/>
                <a:pathLst>
                  <a:path w="240301" h="88307">
                    <a:moveTo>
                      <a:pt x="0" y="0"/>
                    </a:moveTo>
                    <a:lnTo>
                      <a:pt x="240301" y="0"/>
                    </a:lnTo>
                    <a:lnTo>
                      <a:pt x="240301" y="88307"/>
                    </a:lnTo>
                    <a:lnTo>
                      <a:pt x="0" y="88307"/>
                    </a:lnTo>
                    <a:close/>
                  </a:path>
                </a:pathLst>
              </a:custGeom>
              <a:solidFill>
                <a:srgbClr val="EEF8FF"/>
              </a:solidFill>
            </p:spPr>
          </p:sp>
          <p:sp>
            <p:nvSpPr>
              <p:cNvPr id="31" name="TextBox 31"/>
              <p:cNvSpPr txBox="1"/>
              <p:nvPr/>
            </p:nvSpPr>
            <p:spPr>
              <a:xfrm>
                <a:off x="0" y="-66675"/>
                <a:ext cx="240301" cy="154982"/>
              </a:xfrm>
              <a:prstGeom prst="rect">
                <a:avLst/>
              </a:prstGeom>
            </p:spPr>
            <p:txBody>
              <a:bodyPr lIns="50800" tIns="50800" rIns="50800" bIns="50800" rtlCol="0" anchor="ctr"/>
              <a:lstStyle/>
              <a:p>
                <a:pPr algn="ctr">
                  <a:lnSpc>
                    <a:spcPts val="3151"/>
                  </a:lnSpc>
                </a:pPr>
                <a:endParaRPr/>
              </a:p>
            </p:txBody>
          </p:sp>
        </p:grpSp>
        <p:sp>
          <p:nvSpPr>
            <p:cNvPr id="32" name="TextBox 32"/>
            <p:cNvSpPr txBox="1"/>
            <p:nvPr/>
          </p:nvSpPr>
          <p:spPr>
            <a:xfrm>
              <a:off x="122558" y="224062"/>
              <a:ext cx="5515135" cy="1701832"/>
            </a:xfrm>
            <a:prstGeom prst="rect">
              <a:avLst/>
            </a:prstGeom>
          </p:spPr>
          <p:txBody>
            <a:bodyPr lIns="0" tIns="0" rIns="0" bIns="0" rtlCol="0" anchor="t">
              <a:spAutoFit/>
            </a:bodyPr>
            <a:lstStyle/>
            <a:p>
              <a:pPr algn="ctr">
                <a:lnSpc>
                  <a:spcPts val="2623"/>
                </a:lnSpc>
              </a:pPr>
              <a:r>
                <a:rPr lang="en-US" sz="1874" spc="37">
                  <a:solidFill>
                    <a:srgbClr val="13222B"/>
                  </a:solidFill>
                  <a:latin typeface="League Spartan"/>
                  <a:ea typeface="League Spartan"/>
                  <a:cs typeface="League Spartan"/>
                  <a:sym typeface="League Spartan"/>
                </a:rPr>
                <a:t>Trainer–Client interaction</a:t>
              </a:r>
            </a:p>
            <a:p>
              <a:pPr algn="l">
                <a:lnSpc>
                  <a:spcPts val="2623"/>
                </a:lnSpc>
              </a:pPr>
              <a:r>
                <a:rPr lang="en-US" sz="1874" spc="37">
                  <a:solidFill>
                    <a:srgbClr val="3168AB"/>
                  </a:solidFill>
                  <a:latin typeface="League Spartan"/>
                  <a:ea typeface="League Spartan"/>
                  <a:cs typeface="League Spartan"/>
                  <a:sym typeface="League Spartan"/>
                </a:rPr>
                <a:t>Communication System  Messaging platform for guidance and feedback.</a:t>
              </a:r>
            </a:p>
          </p:txBody>
        </p:sp>
      </p:grpSp>
      <p:grpSp>
        <p:nvGrpSpPr>
          <p:cNvPr id="33" name="Group 33"/>
          <p:cNvGrpSpPr/>
          <p:nvPr/>
        </p:nvGrpSpPr>
        <p:grpSpPr>
          <a:xfrm>
            <a:off x="7357439" y="7656252"/>
            <a:ext cx="4189636" cy="2029809"/>
            <a:chOff x="0" y="0"/>
            <a:chExt cx="5586181" cy="2706412"/>
          </a:xfrm>
        </p:grpSpPr>
        <p:grpSp>
          <p:nvGrpSpPr>
            <p:cNvPr id="34" name="Group 34"/>
            <p:cNvGrpSpPr/>
            <p:nvPr/>
          </p:nvGrpSpPr>
          <p:grpSpPr>
            <a:xfrm>
              <a:off x="0" y="0"/>
              <a:ext cx="5586181" cy="2706412"/>
              <a:chOff x="0" y="0"/>
              <a:chExt cx="219572" cy="106379"/>
            </a:xfrm>
          </p:grpSpPr>
          <p:sp>
            <p:nvSpPr>
              <p:cNvPr id="35" name="Freeform 35"/>
              <p:cNvSpPr/>
              <p:nvPr/>
            </p:nvSpPr>
            <p:spPr>
              <a:xfrm>
                <a:off x="0" y="0"/>
                <a:ext cx="219572" cy="106379"/>
              </a:xfrm>
              <a:custGeom>
                <a:avLst/>
                <a:gdLst/>
                <a:ahLst/>
                <a:cxnLst/>
                <a:rect l="l" t="t" r="r" b="b"/>
                <a:pathLst>
                  <a:path w="219572" h="106379">
                    <a:moveTo>
                      <a:pt x="0" y="0"/>
                    </a:moveTo>
                    <a:lnTo>
                      <a:pt x="219572" y="0"/>
                    </a:lnTo>
                    <a:lnTo>
                      <a:pt x="219572" y="106379"/>
                    </a:lnTo>
                    <a:lnTo>
                      <a:pt x="0" y="106379"/>
                    </a:lnTo>
                    <a:close/>
                  </a:path>
                </a:pathLst>
              </a:custGeom>
              <a:solidFill>
                <a:srgbClr val="EEF8FF"/>
              </a:solidFill>
            </p:spPr>
          </p:sp>
          <p:sp>
            <p:nvSpPr>
              <p:cNvPr id="36" name="TextBox 36"/>
              <p:cNvSpPr txBox="1"/>
              <p:nvPr/>
            </p:nvSpPr>
            <p:spPr>
              <a:xfrm>
                <a:off x="0" y="-66675"/>
                <a:ext cx="219572" cy="173054"/>
              </a:xfrm>
              <a:prstGeom prst="rect">
                <a:avLst/>
              </a:prstGeom>
            </p:spPr>
            <p:txBody>
              <a:bodyPr lIns="50800" tIns="50800" rIns="50800" bIns="50800" rtlCol="0" anchor="ctr"/>
              <a:lstStyle/>
              <a:p>
                <a:pPr algn="ctr">
                  <a:lnSpc>
                    <a:spcPts val="3151"/>
                  </a:lnSpc>
                </a:pPr>
                <a:endParaRPr/>
              </a:p>
            </p:txBody>
          </p:sp>
        </p:grpSp>
        <p:sp>
          <p:nvSpPr>
            <p:cNvPr id="37" name="TextBox 37"/>
            <p:cNvSpPr txBox="1"/>
            <p:nvPr/>
          </p:nvSpPr>
          <p:spPr>
            <a:xfrm>
              <a:off x="164868" y="480912"/>
              <a:ext cx="5256444" cy="1716014"/>
            </a:xfrm>
            <a:prstGeom prst="rect">
              <a:avLst/>
            </a:prstGeom>
          </p:spPr>
          <p:txBody>
            <a:bodyPr lIns="0" tIns="0" rIns="0" bIns="0" rtlCol="0" anchor="t">
              <a:spAutoFit/>
            </a:bodyPr>
            <a:lstStyle/>
            <a:p>
              <a:pPr algn="l">
                <a:lnSpc>
                  <a:spcPts val="2652"/>
                </a:lnSpc>
              </a:pPr>
              <a:r>
                <a:rPr lang="en-US" sz="1894" spc="37">
                  <a:solidFill>
                    <a:srgbClr val="13222B"/>
                  </a:solidFill>
                  <a:latin typeface="League Spartan"/>
                  <a:ea typeface="League Spartan"/>
                  <a:cs typeface="League Spartan"/>
                  <a:sym typeface="League Spartan"/>
                </a:rPr>
                <a:t>Exercise Tutorial videos</a:t>
              </a:r>
            </a:p>
            <a:p>
              <a:pPr algn="l">
                <a:lnSpc>
                  <a:spcPts val="2652"/>
                </a:lnSpc>
              </a:pPr>
              <a:r>
                <a:rPr lang="en-US" sz="1894" spc="37">
                  <a:solidFill>
                    <a:srgbClr val="3168AB"/>
                  </a:solidFill>
                  <a:latin typeface="League Spartan"/>
                  <a:ea typeface="League Spartan"/>
                  <a:cs typeface="League Spartan"/>
                  <a:sym typeface="League Spartan"/>
                </a:rPr>
                <a:t>Video and instructional guides for safe workout execution.</a:t>
              </a:r>
            </a:p>
            <a:p>
              <a:pPr algn="ctr">
                <a:lnSpc>
                  <a:spcPts val="2652"/>
                </a:lnSpc>
              </a:pPr>
              <a:endParaRPr lang="en-US" sz="1894" spc="37">
                <a:solidFill>
                  <a:srgbClr val="3168AB"/>
                </a:solidFill>
                <a:latin typeface="League Spartan"/>
                <a:ea typeface="League Spartan"/>
                <a:cs typeface="League Spartan"/>
                <a:sym typeface="League Spartan"/>
              </a:endParaRPr>
            </a:p>
          </p:txBody>
        </p:sp>
      </p:grpSp>
      <p:sp>
        <p:nvSpPr>
          <p:cNvPr id="38" name="TextBox 38"/>
          <p:cNvSpPr txBox="1"/>
          <p:nvPr/>
        </p:nvSpPr>
        <p:spPr>
          <a:xfrm>
            <a:off x="1231601" y="4661734"/>
            <a:ext cx="9193891" cy="1006429"/>
          </a:xfrm>
          <a:prstGeom prst="rect">
            <a:avLst/>
          </a:prstGeom>
        </p:spPr>
        <p:txBody>
          <a:bodyPr lIns="0" tIns="0" rIns="0" bIns="0" rtlCol="0" anchor="t">
            <a:spAutoFit/>
          </a:bodyPr>
          <a:lstStyle/>
          <a:p>
            <a:pPr algn="l">
              <a:lnSpc>
                <a:spcPts val="8098"/>
              </a:lnSpc>
            </a:pPr>
            <a:r>
              <a:rPr lang="en-US" sz="6327" i="1">
                <a:solidFill>
                  <a:srgbClr val="02C2FF"/>
                </a:solidFill>
                <a:latin typeface="Anton Italics"/>
                <a:ea typeface="Anton Italics"/>
                <a:cs typeface="Anton Italics"/>
                <a:sym typeface="Anton Italics"/>
              </a:rPr>
              <a:t>MAJOR FUNCTIONALITIES</a:t>
            </a:r>
          </a:p>
        </p:txBody>
      </p:sp>
      <p:sp>
        <p:nvSpPr>
          <p:cNvPr id="39" name="TextBox 39"/>
          <p:cNvSpPr txBox="1"/>
          <p:nvPr/>
        </p:nvSpPr>
        <p:spPr>
          <a:xfrm>
            <a:off x="1231601" y="1592714"/>
            <a:ext cx="10315474" cy="1123395"/>
          </a:xfrm>
          <a:prstGeom prst="rect">
            <a:avLst/>
          </a:prstGeom>
        </p:spPr>
        <p:txBody>
          <a:bodyPr lIns="0" tIns="0" rIns="0" bIns="0" rtlCol="0" anchor="t">
            <a:spAutoFit/>
          </a:bodyPr>
          <a:lstStyle/>
          <a:p>
            <a:pPr algn="l">
              <a:lnSpc>
                <a:spcPts val="9086"/>
              </a:lnSpc>
            </a:pPr>
            <a:r>
              <a:rPr lang="en-US" sz="7099" i="1">
                <a:solidFill>
                  <a:srgbClr val="02C2FF"/>
                </a:solidFill>
                <a:latin typeface="Anton Italics"/>
                <a:ea typeface="Anton Italics"/>
                <a:cs typeface="Anton Italics"/>
                <a:sym typeface="Anton Italics"/>
              </a:rPr>
              <a:t>SCOPE OF PROJECT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2" name="Group 2"/>
          <p:cNvGrpSpPr/>
          <p:nvPr/>
        </p:nvGrpSpPr>
        <p:grpSpPr>
          <a:xfrm>
            <a:off x="16176094" y="8387423"/>
            <a:ext cx="1083206" cy="1075479"/>
            <a:chOff x="0" y="0"/>
            <a:chExt cx="289003" cy="286941"/>
          </a:xfrm>
        </p:grpSpPr>
        <p:sp>
          <p:nvSpPr>
            <p:cNvPr id="3" name="Freeform 3"/>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ln w="19050" cap="rnd">
              <a:solidFill>
                <a:srgbClr val="FFFFFF"/>
              </a:solidFill>
              <a:prstDash val="solid"/>
              <a:round/>
            </a:ln>
          </p:spPr>
        </p:sp>
        <p:sp>
          <p:nvSpPr>
            <p:cNvPr id="4" name="TextBox 4"/>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5400000">
            <a:off x="16546994" y="8676059"/>
            <a:ext cx="368672" cy="498206"/>
          </a:xfrm>
          <a:custGeom>
            <a:avLst/>
            <a:gdLst/>
            <a:ahLst/>
            <a:cxnLst/>
            <a:rect l="l" t="t" r="r" b="b"/>
            <a:pathLst>
              <a:path w="368672" h="498206">
                <a:moveTo>
                  <a:pt x="0" y="0"/>
                </a:moveTo>
                <a:lnTo>
                  <a:pt x="368672" y="0"/>
                </a:lnTo>
                <a:lnTo>
                  <a:pt x="368672" y="498206"/>
                </a:lnTo>
                <a:lnTo>
                  <a:pt x="0" y="49820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nvGrpSpPr>
          <p:cNvPr id="6" name="Group 6"/>
          <p:cNvGrpSpPr/>
          <p:nvPr/>
        </p:nvGrpSpPr>
        <p:grpSpPr>
          <a:xfrm>
            <a:off x="9770046" y="761771"/>
            <a:ext cx="9329145" cy="4381729"/>
            <a:chOff x="0" y="0"/>
            <a:chExt cx="12438860" cy="5842305"/>
          </a:xfrm>
        </p:grpSpPr>
        <p:sp>
          <p:nvSpPr>
            <p:cNvPr id="7" name="TextBox 7"/>
            <p:cNvSpPr txBox="1"/>
            <p:nvPr/>
          </p:nvSpPr>
          <p:spPr>
            <a:xfrm>
              <a:off x="0" y="-66675"/>
              <a:ext cx="12438860" cy="1851977"/>
            </a:xfrm>
            <a:prstGeom prst="rect">
              <a:avLst/>
            </a:prstGeom>
          </p:spPr>
          <p:txBody>
            <a:bodyPr lIns="0" tIns="0" rIns="0" bIns="0" rtlCol="0" anchor="t">
              <a:spAutoFit/>
            </a:bodyPr>
            <a:lstStyle/>
            <a:p>
              <a:pPr algn="l">
                <a:lnSpc>
                  <a:spcPts val="11310"/>
                </a:lnSpc>
              </a:pPr>
              <a:r>
                <a:rPr lang="en-US" sz="8835" i="1">
                  <a:solidFill>
                    <a:srgbClr val="02C2FF"/>
                  </a:solidFill>
                  <a:latin typeface="Anton Italics"/>
                  <a:ea typeface="Anton Italics"/>
                  <a:cs typeface="Anton Italics"/>
                  <a:sym typeface="Anton Italics"/>
                </a:rPr>
                <a:t>MODULE OVERVIEW</a:t>
              </a:r>
            </a:p>
          </p:txBody>
        </p:sp>
        <p:sp>
          <p:nvSpPr>
            <p:cNvPr id="8" name="TextBox 8"/>
            <p:cNvSpPr txBox="1"/>
            <p:nvPr/>
          </p:nvSpPr>
          <p:spPr>
            <a:xfrm>
              <a:off x="0" y="1699577"/>
              <a:ext cx="8451930" cy="4142728"/>
            </a:xfrm>
            <a:prstGeom prst="rect">
              <a:avLst/>
            </a:prstGeom>
          </p:spPr>
          <p:txBody>
            <a:bodyPr lIns="0" tIns="0" rIns="0" bIns="0" rtlCol="0" anchor="t">
              <a:spAutoFit/>
            </a:bodyPr>
            <a:lstStyle/>
            <a:p>
              <a:pPr algn="just">
                <a:lnSpc>
                  <a:spcPts val="3581"/>
                </a:lnSpc>
              </a:pPr>
              <a:r>
                <a:rPr lang="en-US" sz="2387" spc="23" dirty="0">
                  <a:solidFill>
                    <a:srgbClr val="FFFFFF"/>
                  </a:solidFill>
                  <a:latin typeface="Poppins"/>
                  <a:ea typeface="Poppins"/>
                  <a:cs typeface="Poppins"/>
                  <a:sym typeface="Poppins"/>
                </a:rPr>
                <a:t>The proposed Gym Fitness and Workout Progress Tracking Application will consist of several functional modules that work together to manage fitness activities, monitor user progress, and improve trainer–client interaction.</a:t>
              </a:r>
            </a:p>
            <a:p>
              <a:pPr algn="just">
                <a:lnSpc>
                  <a:spcPts val="3581"/>
                </a:lnSpc>
              </a:pPr>
              <a:endParaRPr lang="en-US" sz="2387" spc="23" dirty="0">
                <a:solidFill>
                  <a:srgbClr val="FFFFFF"/>
                </a:solidFill>
                <a:latin typeface="Poppins"/>
                <a:ea typeface="Poppins"/>
                <a:cs typeface="Poppins"/>
                <a:sym typeface="Poppins"/>
              </a:endParaRPr>
            </a:p>
          </p:txBody>
        </p:sp>
      </p:grpSp>
      <p:sp>
        <p:nvSpPr>
          <p:cNvPr id="13" name="TextBox 13"/>
          <p:cNvSpPr txBox="1"/>
          <p:nvPr/>
        </p:nvSpPr>
        <p:spPr>
          <a:xfrm>
            <a:off x="421097" y="993238"/>
            <a:ext cx="6763649" cy="411902"/>
          </a:xfrm>
          <a:prstGeom prst="rect">
            <a:avLst/>
          </a:prstGeom>
        </p:spPr>
        <p:txBody>
          <a:bodyPr lIns="0" tIns="0" rIns="0" bIns="0" rtlCol="0" anchor="t">
            <a:spAutoFit/>
          </a:bodyPr>
          <a:lstStyle/>
          <a:p>
            <a:pPr marL="0" lvl="0" indent="0" algn="ctr">
              <a:lnSpc>
                <a:spcPts val="3321"/>
              </a:lnSpc>
              <a:spcBef>
                <a:spcPct val="0"/>
              </a:spcBef>
            </a:pPr>
            <a:r>
              <a:rPr lang="en-US" sz="2372" b="1">
                <a:solidFill>
                  <a:srgbClr val="FFFFFF"/>
                </a:solidFill>
                <a:latin typeface="Poppins Bold"/>
                <a:ea typeface="Poppins Bold"/>
                <a:cs typeface="Poppins Bold"/>
                <a:sym typeface="Poppins Bold"/>
              </a:rPr>
              <a:t>Module 1: User Management</a:t>
            </a:r>
          </a:p>
        </p:txBody>
      </p:sp>
      <p:sp>
        <p:nvSpPr>
          <p:cNvPr id="14" name="TextBox 14"/>
          <p:cNvSpPr txBox="1"/>
          <p:nvPr/>
        </p:nvSpPr>
        <p:spPr>
          <a:xfrm>
            <a:off x="549390" y="1529104"/>
            <a:ext cx="7749404" cy="1248622"/>
          </a:xfrm>
          <a:prstGeom prst="rect">
            <a:avLst/>
          </a:prstGeom>
        </p:spPr>
        <p:txBody>
          <a:bodyPr lIns="0" tIns="0" rIns="0" bIns="0" rtlCol="0" anchor="t">
            <a:spAutoFit/>
          </a:bodyPr>
          <a:lstStyle/>
          <a:p>
            <a:pPr algn="just">
              <a:lnSpc>
                <a:spcPts val="3387"/>
              </a:lnSpc>
            </a:pPr>
            <a:r>
              <a:rPr lang="en-US" sz="2258" spc="22" dirty="0">
                <a:solidFill>
                  <a:srgbClr val="FFFFFF"/>
                </a:solidFill>
                <a:latin typeface="Poppins"/>
                <a:ea typeface="Poppins"/>
                <a:cs typeface="Poppins"/>
                <a:sym typeface="Poppins"/>
              </a:rPr>
              <a:t>Handles user registration, login authentication, and profile management for trainers and clients.</a:t>
            </a:r>
          </a:p>
          <a:p>
            <a:pPr algn="just">
              <a:lnSpc>
                <a:spcPts val="3387"/>
              </a:lnSpc>
            </a:pPr>
            <a:endParaRPr lang="en-US" sz="2258" spc="22" dirty="0">
              <a:solidFill>
                <a:srgbClr val="FFFFFF"/>
              </a:solidFill>
              <a:latin typeface="Poppins"/>
              <a:ea typeface="Poppins"/>
              <a:cs typeface="Poppins"/>
              <a:sym typeface="Poppins"/>
            </a:endParaRPr>
          </a:p>
        </p:txBody>
      </p:sp>
      <p:sp>
        <p:nvSpPr>
          <p:cNvPr id="19" name="TextBox 19"/>
          <p:cNvSpPr txBox="1"/>
          <p:nvPr/>
        </p:nvSpPr>
        <p:spPr>
          <a:xfrm>
            <a:off x="523990" y="3327397"/>
            <a:ext cx="6555453" cy="386695"/>
          </a:xfrm>
          <a:prstGeom prst="rect">
            <a:avLst/>
          </a:prstGeom>
        </p:spPr>
        <p:txBody>
          <a:bodyPr lIns="0" tIns="0" rIns="0" bIns="0" rtlCol="0" anchor="t">
            <a:spAutoFit/>
          </a:bodyPr>
          <a:lstStyle/>
          <a:p>
            <a:pPr marL="0" lvl="0" indent="0" algn="ctr">
              <a:lnSpc>
                <a:spcPts val="3219"/>
              </a:lnSpc>
              <a:spcBef>
                <a:spcPct val="0"/>
              </a:spcBef>
            </a:pPr>
            <a:r>
              <a:rPr lang="en-US" sz="2299" b="1" dirty="0">
                <a:solidFill>
                  <a:srgbClr val="FFFFFF"/>
                </a:solidFill>
                <a:latin typeface="Poppins Bold"/>
                <a:ea typeface="Poppins Bold"/>
                <a:cs typeface="Poppins Bold"/>
                <a:sym typeface="Poppins Bold"/>
              </a:rPr>
              <a:t>Module 2: Workout Management</a:t>
            </a:r>
          </a:p>
        </p:txBody>
      </p:sp>
      <p:sp>
        <p:nvSpPr>
          <p:cNvPr id="20" name="TextBox 20"/>
          <p:cNvSpPr txBox="1"/>
          <p:nvPr/>
        </p:nvSpPr>
        <p:spPr>
          <a:xfrm>
            <a:off x="549390" y="3851060"/>
            <a:ext cx="8493194" cy="815817"/>
          </a:xfrm>
          <a:prstGeom prst="rect">
            <a:avLst/>
          </a:prstGeom>
        </p:spPr>
        <p:txBody>
          <a:bodyPr lIns="0" tIns="0" rIns="0" bIns="0" rtlCol="0" anchor="t">
            <a:spAutoFit/>
          </a:bodyPr>
          <a:lstStyle/>
          <a:p>
            <a:pPr algn="just">
              <a:lnSpc>
                <a:spcPts val="3346"/>
              </a:lnSpc>
            </a:pPr>
            <a:r>
              <a:rPr lang="en-US" sz="2230" spc="22" dirty="0">
                <a:solidFill>
                  <a:srgbClr val="FFFFFF"/>
                </a:solidFill>
                <a:latin typeface="Poppins"/>
                <a:ea typeface="Poppins"/>
                <a:cs typeface="Poppins"/>
                <a:sym typeface="Poppins"/>
              </a:rPr>
              <a:t>Allows trainers to create and assign workout plans while users can view, complete, and track their exercise routines.</a:t>
            </a:r>
          </a:p>
        </p:txBody>
      </p:sp>
      <p:grpSp>
        <p:nvGrpSpPr>
          <p:cNvPr id="45" name="Group 44">
            <a:extLst>
              <a:ext uri="{FF2B5EF4-FFF2-40B4-BE49-F238E27FC236}">
                <a16:creationId xmlns:a16="http://schemas.microsoft.com/office/drawing/2014/main" id="{D8E13FC6-87DB-4609-B26E-FF0283280618}"/>
              </a:ext>
            </a:extLst>
          </p:cNvPr>
          <p:cNvGrpSpPr/>
          <p:nvPr/>
        </p:nvGrpSpPr>
        <p:grpSpPr>
          <a:xfrm>
            <a:off x="389421" y="5762665"/>
            <a:ext cx="8493194" cy="1272753"/>
            <a:chOff x="98605" y="5820936"/>
            <a:chExt cx="8493194" cy="1272753"/>
          </a:xfrm>
        </p:grpSpPr>
        <p:sp>
          <p:nvSpPr>
            <p:cNvPr id="25" name="TextBox 25"/>
            <p:cNvSpPr txBox="1"/>
            <p:nvPr/>
          </p:nvSpPr>
          <p:spPr>
            <a:xfrm>
              <a:off x="338477" y="5820936"/>
              <a:ext cx="6555453" cy="386695"/>
            </a:xfrm>
            <a:prstGeom prst="rect">
              <a:avLst/>
            </a:prstGeom>
          </p:spPr>
          <p:txBody>
            <a:bodyPr lIns="0" tIns="0" rIns="0" bIns="0" rtlCol="0" anchor="t">
              <a:spAutoFit/>
            </a:bodyPr>
            <a:lstStyle/>
            <a:p>
              <a:pPr marL="0" lvl="0" indent="0" algn="ctr">
                <a:lnSpc>
                  <a:spcPts val="3219"/>
                </a:lnSpc>
                <a:spcBef>
                  <a:spcPct val="0"/>
                </a:spcBef>
              </a:pPr>
              <a:r>
                <a:rPr lang="en-US" sz="2299" b="1" dirty="0">
                  <a:solidFill>
                    <a:srgbClr val="FFFFFF"/>
                  </a:solidFill>
                  <a:latin typeface="Poppins Bold"/>
                  <a:ea typeface="Poppins Bold"/>
                  <a:cs typeface="Poppins Bold"/>
                  <a:sym typeface="Poppins Bold"/>
                </a:rPr>
                <a:t>Module 3: Nutrition &amp; Health Tracking</a:t>
              </a:r>
            </a:p>
          </p:txBody>
        </p:sp>
        <p:sp>
          <p:nvSpPr>
            <p:cNvPr id="26" name="TextBox 26"/>
            <p:cNvSpPr txBox="1"/>
            <p:nvPr/>
          </p:nvSpPr>
          <p:spPr>
            <a:xfrm>
              <a:off x="98605" y="6276190"/>
              <a:ext cx="8493194" cy="817499"/>
            </a:xfrm>
            <a:prstGeom prst="rect">
              <a:avLst/>
            </a:prstGeom>
          </p:spPr>
          <p:txBody>
            <a:bodyPr lIns="0" tIns="0" rIns="0" bIns="0" rtlCol="0" anchor="t">
              <a:spAutoFit/>
            </a:bodyPr>
            <a:lstStyle/>
            <a:p>
              <a:pPr algn="just">
                <a:lnSpc>
                  <a:spcPts val="3346"/>
                </a:lnSpc>
              </a:pPr>
              <a:r>
                <a:rPr lang="en-US" sz="2230" spc="22">
                  <a:solidFill>
                    <a:srgbClr val="FFFFFF"/>
                  </a:solidFill>
                  <a:latin typeface="Poppins"/>
                  <a:ea typeface="Poppins"/>
                  <a:cs typeface="Poppins"/>
                  <a:sym typeface="Poppins"/>
                </a:rPr>
                <a:t>Tracks BMI, calorie intake, and other health-related data to help users maintain balanced fitness goals.s.</a:t>
              </a:r>
            </a:p>
          </p:txBody>
        </p:sp>
      </p:grpSp>
      <p:grpSp>
        <p:nvGrpSpPr>
          <p:cNvPr id="46" name="Group 45">
            <a:extLst>
              <a:ext uri="{FF2B5EF4-FFF2-40B4-BE49-F238E27FC236}">
                <a16:creationId xmlns:a16="http://schemas.microsoft.com/office/drawing/2014/main" id="{9F7634EC-CD07-41BF-914A-D088D3D96716}"/>
              </a:ext>
            </a:extLst>
          </p:cNvPr>
          <p:cNvGrpSpPr/>
          <p:nvPr/>
        </p:nvGrpSpPr>
        <p:grpSpPr>
          <a:xfrm>
            <a:off x="465492" y="8067687"/>
            <a:ext cx="8652215" cy="1360946"/>
            <a:chOff x="250747" y="8141938"/>
            <a:chExt cx="8652215" cy="1360946"/>
          </a:xfrm>
        </p:grpSpPr>
        <p:sp>
          <p:nvSpPr>
            <p:cNvPr id="31" name="TextBox 31"/>
            <p:cNvSpPr txBox="1"/>
            <p:nvPr/>
          </p:nvSpPr>
          <p:spPr>
            <a:xfrm>
              <a:off x="257626" y="8141938"/>
              <a:ext cx="8645336" cy="386695"/>
            </a:xfrm>
            <a:prstGeom prst="rect">
              <a:avLst/>
            </a:prstGeom>
          </p:spPr>
          <p:txBody>
            <a:bodyPr lIns="0" tIns="0" rIns="0" bIns="0" rtlCol="0" anchor="t">
              <a:spAutoFit/>
            </a:bodyPr>
            <a:lstStyle/>
            <a:p>
              <a:pPr marL="0" lvl="0" indent="0" algn="ctr">
                <a:lnSpc>
                  <a:spcPts val="3219"/>
                </a:lnSpc>
                <a:spcBef>
                  <a:spcPct val="0"/>
                </a:spcBef>
              </a:pPr>
              <a:r>
                <a:rPr lang="en-US" sz="2299" b="1" dirty="0">
                  <a:solidFill>
                    <a:srgbClr val="FFFFFF"/>
                  </a:solidFill>
                  <a:latin typeface="Poppins Bold"/>
                  <a:ea typeface="Poppins Bold"/>
                  <a:cs typeface="Poppins Bold"/>
                  <a:sym typeface="Poppins Bold"/>
                </a:rPr>
                <a:t>Module 4: Progress Monitoring &amp; Data Visualization</a:t>
              </a:r>
            </a:p>
          </p:txBody>
        </p:sp>
        <p:sp>
          <p:nvSpPr>
            <p:cNvPr id="32" name="TextBox 32"/>
            <p:cNvSpPr txBox="1"/>
            <p:nvPr/>
          </p:nvSpPr>
          <p:spPr>
            <a:xfrm>
              <a:off x="250747" y="8685385"/>
              <a:ext cx="8493194" cy="817499"/>
            </a:xfrm>
            <a:prstGeom prst="rect">
              <a:avLst/>
            </a:prstGeom>
          </p:spPr>
          <p:txBody>
            <a:bodyPr lIns="0" tIns="0" rIns="0" bIns="0" rtlCol="0" anchor="t">
              <a:spAutoFit/>
            </a:bodyPr>
            <a:lstStyle/>
            <a:p>
              <a:pPr algn="l">
                <a:lnSpc>
                  <a:spcPts val="3346"/>
                </a:lnSpc>
              </a:pPr>
              <a:r>
                <a:rPr lang="en-US" sz="2230" spc="22" dirty="0">
                  <a:solidFill>
                    <a:srgbClr val="FFFFFF"/>
                  </a:solidFill>
                  <a:latin typeface="Poppins"/>
                  <a:ea typeface="Poppins"/>
                  <a:cs typeface="Poppins"/>
                  <a:sym typeface="Poppins"/>
                </a:rPr>
                <a:t>Displays workout progress, weight changes, and performance statistics through charts and reports.</a:t>
              </a:r>
            </a:p>
          </p:txBody>
        </p:sp>
      </p:grpSp>
      <p:sp>
        <p:nvSpPr>
          <p:cNvPr id="37" name="TextBox 37"/>
          <p:cNvSpPr txBox="1"/>
          <p:nvPr/>
        </p:nvSpPr>
        <p:spPr>
          <a:xfrm>
            <a:off x="9503303" y="5864079"/>
            <a:ext cx="8645336" cy="386695"/>
          </a:xfrm>
          <a:prstGeom prst="rect">
            <a:avLst/>
          </a:prstGeom>
        </p:spPr>
        <p:txBody>
          <a:bodyPr lIns="0" tIns="0" rIns="0" bIns="0" rtlCol="0" anchor="t">
            <a:spAutoFit/>
          </a:bodyPr>
          <a:lstStyle/>
          <a:p>
            <a:pPr marL="0" lvl="0" indent="0" algn="ctr">
              <a:lnSpc>
                <a:spcPts val="3219"/>
              </a:lnSpc>
              <a:spcBef>
                <a:spcPct val="0"/>
              </a:spcBef>
            </a:pPr>
            <a:r>
              <a:rPr lang="en-US" sz="2299" b="1">
                <a:solidFill>
                  <a:srgbClr val="FFFFFF"/>
                </a:solidFill>
                <a:latin typeface="Poppins Bold"/>
                <a:ea typeface="Poppins Bold"/>
                <a:cs typeface="Poppins Bold"/>
                <a:sym typeface="Poppins Bold"/>
              </a:rPr>
              <a:t>Module 5: Trainer–Client Communication</a:t>
            </a:r>
          </a:p>
        </p:txBody>
      </p:sp>
      <p:sp>
        <p:nvSpPr>
          <p:cNvPr id="38" name="TextBox 38"/>
          <p:cNvSpPr txBox="1"/>
          <p:nvPr/>
        </p:nvSpPr>
        <p:spPr>
          <a:xfrm>
            <a:off x="9579374" y="6357620"/>
            <a:ext cx="8493194" cy="817499"/>
          </a:xfrm>
          <a:prstGeom prst="rect">
            <a:avLst/>
          </a:prstGeom>
        </p:spPr>
        <p:txBody>
          <a:bodyPr lIns="0" tIns="0" rIns="0" bIns="0" rtlCol="0" anchor="t">
            <a:spAutoFit/>
          </a:bodyPr>
          <a:lstStyle/>
          <a:p>
            <a:pPr algn="l">
              <a:lnSpc>
                <a:spcPts val="3346"/>
              </a:lnSpc>
            </a:pPr>
            <a:r>
              <a:rPr lang="en-US" sz="2230" spc="22">
                <a:solidFill>
                  <a:srgbClr val="FFFFFF"/>
                </a:solidFill>
                <a:latin typeface="Poppins"/>
                <a:ea typeface="Poppins"/>
                <a:cs typeface="Poppins"/>
                <a:sym typeface="Poppins"/>
              </a:rPr>
              <a:t>Provides a messaging platform for trainers and clients to communicate, share guidance, and provide feedback.</a:t>
            </a:r>
          </a:p>
        </p:txBody>
      </p:sp>
      <p:sp>
        <p:nvSpPr>
          <p:cNvPr id="43" name="TextBox 43"/>
          <p:cNvSpPr txBox="1"/>
          <p:nvPr/>
        </p:nvSpPr>
        <p:spPr>
          <a:xfrm>
            <a:off x="9503303" y="8277566"/>
            <a:ext cx="8645336" cy="386695"/>
          </a:xfrm>
          <a:prstGeom prst="rect">
            <a:avLst/>
          </a:prstGeom>
        </p:spPr>
        <p:txBody>
          <a:bodyPr lIns="0" tIns="0" rIns="0" bIns="0" rtlCol="0" anchor="t">
            <a:spAutoFit/>
          </a:bodyPr>
          <a:lstStyle/>
          <a:p>
            <a:pPr marL="0" lvl="0" indent="0" algn="ctr">
              <a:lnSpc>
                <a:spcPts val="3219"/>
              </a:lnSpc>
              <a:spcBef>
                <a:spcPct val="0"/>
              </a:spcBef>
            </a:pPr>
            <a:r>
              <a:rPr lang="en-US" sz="2299" b="1">
                <a:solidFill>
                  <a:srgbClr val="FFFFFF"/>
                </a:solidFill>
                <a:latin typeface="Poppins Bold"/>
                <a:ea typeface="Poppins Bold"/>
                <a:cs typeface="Poppins Bold"/>
                <a:sym typeface="Poppins Bold"/>
              </a:rPr>
              <a:t>Module 6: Exercise Tutorial System</a:t>
            </a:r>
          </a:p>
        </p:txBody>
      </p:sp>
      <p:sp>
        <p:nvSpPr>
          <p:cNvPr id="44" name="TextBox 44"/>
          <p:cNvSpPr txBox="1"/>
          <p:nvPr/>
        </p:nvSpPr>
        <p:spPr>
          <a:xfrm>
            <a:off x="9579374" y="8771107"/>
            <a:ext cx="8493194" cy="817499"/>
          </a:xfrm>
          <a:prstGeom prst="rect">
            <a:avLst/>
          </a:prstGeom>
        </p:spPr>
        <p:txBody>
          <a:bodyPr lIns="0" tIns="0" rIns="0" bIns="0" rtlCol="0" anchor="t">
            <a:spAutoFit/>
          </a:bodyPr>
          <a:lstStyle/>
          <a:p>
            <a:pPr algn="l">
              <a:lnSpc>
                <a:spcPts val="3346"/>
              </a:lnSpc>
            </a:pPr>
            <a:r>
              <a:rPr lang="en-US" sz="2230" spc="22" dirty="0">
                <a:solidFill>
                  <a:srgbClr val="FFFFFF"/>
                </a:solidFill>
                <a:latin typeface="Poppins"/>
                <a:ea typeface="Poppins"/>
                <a:cs typeface="Poppins"/>
                <a:sym typeface="Poppins"/>
              </a:rPr>
              <a:t>Provides instructional videos and guides to help users perform exercises correctly and safely.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8" name="Group 8"/>
          <p:cNvGrpSpPr/>
          <p:nvPr/>
        </p:nvGrpSpPr>
        <p:grpSpPr>
          <a:xfrm rot="-5400000">
            <a:off x="15267562" y="7266562"/>
            <a:ext cx="2954777" cy="3086100"/>
            <a:chOff x="0" y="0"/>
            <a:chExt cx="571500" cy="596900"/>
          </a:xfrm>
        </p:grpSpPr>
        <p:sp>
          <p:nvSpPr>
            <p:cNvPr id="9" name="Freeform 9"/>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gradFill rotWithShape="1">
              <a:gsLst>
                <a:gs pos="0">
                  <a:srgbClr val="287EFF">
                    <a:alpha val="100000"/>
                  </a:srgbClr>
                </a:gs>
                <a:gs pos="100000">
                  <a:srgbClr val="1FB5FF">
                    <a:alpha val="100000"/>
                  </a:srgbClr>
                </a:gs>
              </a:gsLst>
              <a:lin ang="0"/>
            </a:gradFill>
          </p:spPr>
        </p:sp>
        <p:sp>
          <p:nvSpPr>
            <p:cNvPr id="10" name="TextBox 10"/>
            <p:cNvSpPr txBox="1"/>
            <p:nvPr/>
          </p:nvSpPr>
          <p:spPr>
            <a:xfrm>
              <a:off x="0" y="241300"/>
              <a:ext cx="285750" cy="354330"/>
            </a:xfrm>
            <a:prstGeom prst="rect">
              <a:avLst/>
            </a:prstGeom>
          </p:spPr>
          <p:txBody>
            <a:bodyPr lIns="50800" tIns="50800" rIns="50800" bIns="50800" rtlCol="0" anchor="ctr"/>
            <a:lstStyle/>
            <a:p>
              <a:pPr algn="ctr">
                <a:lnSpc>
                  <a:spcPts val="3219"/>
                </a:lnSpc>
              </a:pPr>
              <a:endParaRPr/>
            </a:p>
          </p:txBody>
        </p:sp>
      </p:grpSp>
      <p:sp>
        <p:nvSpPr>
          <p:cNvPr id="11" name="TextBox 11"/>
          <p:cNvSpPr txBox="1"/>
          <p:nvPr/>
        </p:nvSpPr>
        <p:spPr>
          <a:xfrm>
            <a:off x="548878" y="89218"/>
            <a:ext cx="5273515" cy="1350455"/>
          </a:xfrm>
          <a:prstGeom prst="rect">
            <a:avLst/>
          </a:prstGeom>
        </p:spPr>
        <p:txBody>
          <a:bodyPr lIns="0" tIns="0" rIns="0" bIns="0" rtlCol="0" anchor="t">
            <a:spAutoFit/>
          </a:bodyPr>
          <a:lstStyle/>
          <a:p>
            <a:pPr algn="l">
              <a:lnSpc>
                <a:spcPts val="10882"/>
              </a:lnSpc>
            </a:pPr>
            <a:r>
              <a:rPr lang="en-US" sz="8502" i="1">
                <a:solidFill>
                  <a:srgbClr val="FFFFFF"/>
                </a:solidFill>
                <a:latin typeface="Anton Italics"/>
                <a:ea typeface="Anton Italics"/>
                <a:cs typeface="Anton Italics"/>
                <a:sym typeface="Anton Italics"/>
              </a:rPr>
              <a:t>MODULE 1:</a:t>
            </a:r>
          </a:p>
        </p:txBody>
      </p:sp>
      <p:sp>
        <p:nvSpPr>
          <p:cNvPr id="12" name="TextBox 12"/>
          <p:cNvSpPr txBox="1"/>
          <p:nvPr/>
        </p:nvSpPr>
        <p:spPr>
          <a:xfrm>
            <a:off x="548878" y="1363473"/>
            <a:ext cx="15627216" cy="1701224"/>
          </a:xfrm>
          <a:prstGeom prst="rect">
            <a:avLst/>
          </a:prstGeom>
        </p:spPr>
        <p:txBody>
          <a:bodyPr lIns="0" tIns="0" rIns="0" bIns="0" rtlCol="0" anchor="t">
            <a:spAutoFit/>
          </a:bodyPr>
          <a:lstStyle/>
          <a:p>
            <a:pPr algn="l">
              <a:lnSpc>
                <a:spcPts val="13775"/>
              </a:lnSpc>
            </a:pPr>
            <a:r>
              <a:rPr lang="en-US" sz="10762" i="1">
                <a:solidFill>
                  <a:srgbClr val="02C2FF"/>
                </a:solidFill>
                <a:latin typeface="Anton Italics"/>
                <a:ea typeface="Anton Italics"/>
                <a:cs typeface="Anton Italics"/>
                <a:sym typeface="Anton Italics"/>
              </a:rPr>
              <a:t>USER MANAGEMENT MODULE</a:t>
            </a:r>
          </a:p>
        </p:txBody>
      </p:sp>
      <p:sp>
        <p:nvSpPr>
          <p:cNvPr id="13" name="TextBox 13"/>
          <p:cNvSpPr txBox="1"/>
          <p:nvPr/>
        </p:nvSpPr>
        <p:spPr>
          <a:xfrm>
            <a:off x="202418" y="7031738"/>
            <a:ext cx="8085147" cy="2582520"/>
          </a:xfrm>
          <a:prstGeom prst="rect">
            <a:avLst/>
          </a:prstGeom>
        </p:spPr>
        <p:txBody>
          <a:bodyPr lIns="0" tIns="0" rIns="0" bIns="0" rtlCol="0" anchor="t">
            <a:spAutoFit/>
          </a:bodyPr>
          <a:lstStyle/>
          <a:p>
            <a:pPr algn="l">
              <a:lnSpc>
                <a:spcPts val="3468"/>
              </a:lnSpc>
            </a:pPr>
            <a:r>
              <a:rPr lang="en-US" sz="2312" b="1" spc="23">
                <a:solidFill>
                  <a:srgbClr val="FFFFFF"/>
                </a:solidFill>
                <a:latin typeface="Poppins Bold"/>
                <a:ea typeface="Poppins Bold"/>
                <a:cs typeface="Poppins Bold"/>
                <a:sym typeface="Poppins Bold"/>
              </a:rPr>
              <a:t>Key Features</a:t>
            </a:r>
          </a:p>
          <a:p>
            <a:pPr marL="499171" lvl="1" indent="-249586" algn="l">
              <a:lnSpc>
                <a:spcPts val="3468"/>
              </a:lnSpc>
              <a:buFont typeface="Arial"/>
              <a:buChar char="•"/>
            </a:pPr>
            <a:r>
              <a:rPr lang="en-US" sz="2312" spc="23">
                <a:solidFill>
                  <a:srgbClr val="FFFFFF"/>
                </a:solidFill>
                <a:latin typeface="Poppins"/>
                <a:ea typeface="Poppins"/>
                <a:cs typeface="Poppins"/>
                <a:sym typeface="Poppins"/>
              </a:rPr>
              <a:t>User registration and login</a:t>
            </a:r>
          </a:p>
          <a:p>
            <a:pPr marL="499171" lvl="1" indent="-249586" algn="l">
              <a:lnSpc>
                <a:spcPts val="3468"/>
              </a:lnSpc>
              <a:buFont typeface="Arial"/>
              <a:buChar char="•"/>
            </a:pPr>
            <a:r>
              <a:rPr lang="en-US" sz="2312" spc="23">
                <a:solidFill>
                  <a:srgbClr val="FFFFFF"/>
                </a:solidFill>
                <a:latin typeface="Poppins"/>
                <a:ea typeface="Poppins"/>
                <a:cs typeface="Poppins"/>
                <a:sym typeface="Poppins"/>
              </a:rPr>
              <a:t>Secure authentication system</a:t>
            </a:r>
          </a:p>
          <a:p>
            <a:pPr marL="499171" lvl="1" indent="-249586" algn="l">
              <a:lnSpc>
                <a:spcPts val="3468"/>
              </a:lnSpc>
              <a:buFont typeface="Arial"/>
              <a:buChar char="•"/>
            </a:pPr>
            <a:r>
              <a:rPr lang="en-US" sz="2312" spc="23">
                <a:solidFill>
                  <a:srgbClr val="FFFFFF"/>
                </a:solidFill>
                <a:latin typeface="Poppins"/>
                <a:ea typeface="Poppins"/>
                <a:cs typeface="Poppins"/>
                <a:sym typeface="Poppins"/>
              </a:rPr>
              <a:t>Profile management (age, weight, height, goals)</a:t>
            </a:r>
          </a:p>
          <a:p>
            <a:pPr marL="499171" lvl="1" indent="-249586" algn="l">
              <a:lnSpc>
                <a:spcPts val="3468"/>
              </a:lnSpc>
              <a:buFont typeface="Arial"/>
              <a:buChar char="•"/>
            </a:pPr>
            <a:r>
              <a:rPr lang="en-US" sz="2312" spc="23">
                <a:solidFill>
                  <a:srgbClr val="FFFFFF"/>
                </a:solidFill>
                <a:latin typeface="Poppins"/>
                <a:ea typeface="Poppins"/>
                <a:cs typeface="Poppins"/>
                <a:sym typeface="Poppins"/>
              </a:rPr>
              <a:t>Role management (trainer / client)</a:t>
            </a:r>
          </a:p>
          <a:p>
            <a:pPr algn="l">
              <a:lnSpc>
                <a:spcPts val="3468"/>
              </a:lnSpc>
            </a:pPr>
            <a:endParaRPr lang="en-US" sz="2312" spc="23">
              <a:solidFill>
                <a:srgbClr val="FFFFFF"/>
              </a:solidFill>
              <a:latin typeface="Poppins"/>
              <a:ea typeface="Poppins"/>
              <a:cs typeface="Poppins"/>
              <a:sym typeface="Poppins"/>
            </a:endParaRPr>
          </a:p>
        </p:txBody>
      </p:sp>
      <p:sp>
        <p:nvSpPr>
          <p:cNvPr id="14" name="TextBox 14"/>
          <p:cNvSpPr txBox="1"/>
          <p:nvPr/>
        </p:nvSpPr>
        <p:spPr>
          <a:xfrm>
            <a:off x="202418" y="3930386"/>
            <a:ext cx="9870678" cy="2178861"/>
          </a:xfrm>
          <a:prstGeom prst="rect">
            <a:avLst/>
          </a:prstGeom>
        </p:spPr>
        <p:txBody>
          <a:bodyPr lIns="0" tIns="0" rIns="0" bIns="0" rtlCol="0" anchor="t">
            <a:spAutoFit/>
          </a:bodyPr>
          <a:lstStyle/>
          <a:p>
            <a:pPr algn="l">
              <a:lnSpc>
                <a:spcPts val="3468"/>
              </a:lnSpc>
            </a:pPr>
            <a:r>
              <a:rPr lang="en-US" sz="2312" b="1" spc="23">
                <a:solidFill>
                  <a:srgbClr val="FFFFFF"/>
                </a:solidFill>
                <a:latin typeface="Poppins Bold"/>
                <a:ea typeface="Poppins Bold"/>
                <a:cs typeface="Poppins Bold"/>
                <a:sym typeface="Poppins Bold"/>
              </a:rPr>
              <a:t>Description</a:t>
            </a:r>
          </a:p>
          <a:p>
            <a:pPr algn="l">
              <a:lnSpc>
                <a:spcPts val="3468"/>
              </a:lnSpc>
            </a:pPr>
            <a:r>
              <a:rPr lang="en-US" sz="2312" spc="23">
                <a:solidFill>
                  <a:srgbClr val="FFFFFF"/>
                </a:solidFill>
                <a:latin typeface="Poppins"/>
                <a:ea typeface="Poppins"/>
                <a:cs typeface="Poppins"/>
                <a:sym typeface="Poppins"/>
              </a:rPr>
              <a:t>The User Management Module handles user registration, login authentication, and profile management for both trainers and clients. It ensures secure access to the system and allows users to maintain their personal fitness information.</a:t>
            </a:r>
          </a:p>
        </p:txBody>
      </p:sp>
      <p:grpSp>
        <p:nvGrpSpPr>
          <p:cNvPr id="15" name="Group 15"/>
          <p:cNvGrpSpPr/>
          <p:nvPr/>
        </p:nvGrpSpPr>
        <p:grpSpPr>
          <a:xfrm>
            <a:off x="16744950" y="8809612"/>
            <a:ext cx="1083206" cy="1075479"/>
            <a:chOff x="0" y="0"/>
            <a:chExt cx="1444274" cy="1433972"/>
          </a:xfrm>
        </p:grpSpPr>
        <p:grpSp>
          <p:nvGrpSpPr>
            <p:cNvPr id="16" name="Group 16"/>
            <p:cNvGrpSpPr/>
            <p:nvPr/>
          </p:nvGrpSpPr>
          <p:grpSpPr>
            <a:xfrm>
              <a:off x="0" y="0"/>
              <a:ext cx="1444274" cy="1433972"/>
              <a:chOff x="0" y="0"/>
              <a:chExt cx="289003" cy="286941"/>
            </a:xfrm>
          </p:grpSpPr>
          <p:sp>
            <p:nvSpPr>
              <p:cNvPr id="17" name="Freeform 17"/>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ln w="19050" cap="rnd">
                <a:solidFill>
                  <a:srgbClr val="FFFFFF"/>
                </a:solidFill>
                <a:prstDash val="solid"/>
                <a:round/>
              </a:ln>
            </p:spPr>
          </p:sp>
          <p:sp>
            <p:nvSpPr>
              <p:cNvPr id="18" name="TextBox 18"/>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rot="-5400000">
              <a:off x="494533" y="384849"/>
              <a:ext cx="491563" cy="664274"/>
            </a:xfrm>
            <a:custGeom>
              <a:avLst/>
              <a:gdLst/>
              <a:ahLst/>
              <a:cxnLst/>
              <a:rect l="l" t="t" r="r" b="b"/>
              <a:pathLst>
                <a:path w="491563" h="664274">
                  <a:moveTo>
                    <a:pt x="0" y="0"/>
                  </a:moveTo>
                  <a:lnTo>
                    <a:pt x="491563" y="0"/>
                  </a:lnTo>
                  <a:lnTo>
                    <a:pt x="491563" y="664274"/>
                  </a:lnTo>
                  <a:lnTo>
                    <a:pt x="0" y="66427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5" name="Group 5"/>
          <p:cNvGrpSpPr/>
          <p:nvPr/>
        </p:nvGrpSpPr>
        <p:grpSpPr>
          <a:xfrm>
            <a:off x="16176094" y="8387423"/>
            <a:ext cx="1083206" cy="1075479"/>
            <a:chOff x="0" y="0"/>
            <a:chExt cx="1444274" cy="1433972"/>
          </a:xfrm>
        </p:grpSpPr>
        <p:grpSp>
          <p:nvGrpSpPr>
            <p:cNvPr id="6" name="Group 6"/>
            <p:cNvGrpSpPr/>
            <p:nvPr/>
          </p:nvGrpSpPr>
          <p:grpSpPr>
            <a:xfrm>
              <a:off x="0" y="0"/>
              <a:ext cx="1444274" cy="1433972"/>
              <a:chOff x="0" y="0"/>
              <a:chExt cx="289003" cy="286941"/>
            </a:xfrm>
          </p:grpSpPr>
          <p:sp>
            <p:nvSpPr>
              <p:cNvPr id="7" name="Freeform 7"/>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ln w="19050" cap="rnd">
                <a:solidFill>
                  <a:srgbClr val="FFFFFF"/>
                </a:solidFill>
                <a:prstDash val="solid"/>
                <a:round/>
              </a:ln>
            </p:spPr>
          </p:sp>
          <p:sp>
            <p:nvSpPr>
              <p:cNvPr id="8" name="TextBox 8"/>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rot="-5400000">
              <a:off x="494533" y="384849"/>
              <a:ext cx="491563" cy="664274"/>
            </a:xfrm>
            <a:custGeom>
              <a:avLst/>
              <a:gdLst/>
              <a:ahLst/>
              <a:cxnLst/>
              <a:rect l="l" t="t" r="r" b="b"/>
              <a:pathLst>
                <a:path w="491563" h="664274">
                  <a:moveTo>
                    <a:pt x="0" y="0"/>
                  </a:moveTo>
                  <a:lnTo>
                    <a:pt x="491563" y="0"/>
                  </a:lnTo>
                  <a:lnTo>
                    <a:pt x="491563" y="664274"/>
                  </a:lnTo>
                  <a:lnTo>
                    <a:pt x="0" y="66427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sp>
        <p:nvSpPr>
          <p:cNvPr id="10" name="TextBox 10"/>
          <p:cNvSpPr txBox="1"/>
          <p:nvPr/>
        </p:nvSpPr>
        <p:spPr>
          <a:xfrm>
            <a:off x="1131216" y="7170570"/>
            <a:ext cx="14465482" cy="3073837"/>
          </a:xfrm>
          <a:prstGeom prst="rect">
            <a:avLst/>
          </a:prstGeom>
        </p:spPr>
        <p:txBody>
          <a:bodyPr lIns="0" tIns="0" rIns="0" bIns="0" rtlCol="0" anchor="t">
            <a:spAutoFit/>
          </a:bodyPr>
          <a:lstStyle/>
          <a:p>
            <a:pPr algn="l">
              <a:lnSpc>
                <a:spcPts val="12271"/>
              </a:lnSpc>
            </a:pPr>
            <a:r>
              <a:rPr lang="en-US" sz="9587" i="1" dirty="0">
                <a:solidFill>
                  <a:srgbClr val="02C2FF"/>
                </a:solidFill>
                <a:latin typeface="Anton Italics"/>
                <a:ea typeface="Anton Italics"/>
                <a:cs typeface="Anton Italics"/>
                <a:sym typeface="Anton Italics"/>
              </a:rPr>
              <a:t>WORKOUT MANAGEMENT MODULE</a:t>
            </a:r>
          </a:p>
        </p:txBody>
      </p:sp>
      <p:sp>
        <p:nvSpPr>
          <p:cNvPr id="11" name="TextBox 11"/>
          <p:cNvSpPr txBox="1"/>
          <p:nvPr/>
        </p:nvSpPr>
        <p:spPr>
          <a:xfrm>
            <a:off x="1028700" y="981075"/>
            <a:ext cx="2836917" cy="433564"/>
          </a:xfrm>
          <a:prstGeom prst="rect">
            <a:avLst/>
          </a:prstGeom>
        </p:spPr>
        <p:txBody>
          <a:bodyPr lIns="0" tIns="0" rIns="0" bIns="0" rtlCol="0" anchor="t">
            <a:spAutoFit/>
          </a:bodyPr>
          <a:lstStyle/>
          <a:p>
            <a:pPr algn="l">
              <a:lnSpc>
                <a:spcPts val="3620"/>
              </a:lnSpc>
              <a:spcBef>
                <a:spcPct val="0"/>
              </a:spcBef>
            </a:pPr>
            <a:r>
              <a:rPr lang="en-US" sz="2586" b="1">
                <a:solidFill>
                  <a:srgbClr val="02C2FF"/>
                </a:solidFill>
                <a:latin typeface="Montserrat Bold"/>
                <a:ea typeface="Montserrat Bold"/>
                <a:cs typeface="Montserrat Bold"/>
                <a:sym typeface="Montserrat Bold"/>
              </a:rPr>
              <a:t>Description</a:t>
            </a:r>
          </a:p>
        </p:txBody>
      </p:sp>
      <p:sp>
        <p:nvSpPr>
          <p:cNvPr id="12" name="TextBox 12"/>
          <p:cNvSpPr txBox="1"/>
          <p:nvPr/>
        </p:nvSpPr>
        <p:spPr>
          <a:xfrm>
            <a:off x="10980865" y="4679470"/>
            <a:ext cx="2836917" cy="433564"/>
          </a:xfrm>
          <a:prstGeom prst="rect">
            <a:avLst/>
          </a:prstGeom>
        </p:spPr>
        <p:txBody>
          <a:bodyPr lIns="0" tIns="0" rIns="0" bIns="0" rtlCol="0" anchor="t">
            <a:spAutoFit/>
          </a:bodyPr>
          <a:lstStyle/>
          <a:p>
            <a:pPr algn="l">
              <a:lnSpc>
                <a:spcPts val="3620"/>
              </a:lnSpc>
              <a:spcBef>
                <a:spcPct val="0"/>
              </a:spcBef>
            </a:pPr>
            <a:r>
              <a:rPr lang="en-US" sz="2586" b="1">
                <a:solidFill>
                  <a:srgbClr val="02C2FF"/>
                </a:solidFill>
                <a:latin typeface="Montserrat Bold"/>
                <a:ea typeface="Montserrat Bold"/>
                <a:cs typeface="Montserrat Bold"/>
                <a:sym typeface="Montserrat Bold"/>
              </a:rPr>
              <a:t>KEY FEATURES</a:t>
            </a:r>
          </a:p>
        </p:txBody>
      </p:sp>
      <p:sp>
        <p:nvSpPr>
          <p:cNvPr id="13" name="TextBox 13"/>
          <p:cNvSpPr txBox="1"/>
          <p:nvPr/>
        </p:nvSpPr>
        <p:spPr>
          <a:xfrm>
            <a:off x="1337338" y="6067511"/>
            <a:ext cx="7581900" cy="1297808"/>
          </a:xfrm>
          <a:prstGeom prst="rect">
            <a:avLst/>
          </a:prstGeom>
        </p:spPr>
        <p:txBody>
          <a:bodyPr lIns="0" tIns="0" rIns="0" bIns="0" rtlCol="0" anchor="t">
            <a:spAutoFit/>
          </a:bodyPr>
          <a:lstStyle/>
          <a:p>
            <a:pPr algn="l">
              <a:lnSpc>
                <a:spcPts val="10517"/>
              </a:lnSpc>
            </a:pPr>
            <a:r>
              <a:rPr lang="en-US" sz="8216" i="1">
                <a:solidFill>
                  <a:srgbClr val="FFFFFF"/>
                </a:solidFill>
                <a:latin typeface="Anton Italics"/>
                <a:ea typeface="Anton Italics"/>
                <a:cs typeface="Anton Italics"/>
                <a:sym typeface="Anton Italics"/>
              </a:rPr>
              <a:t>MODULE 2</a:t>
            </a:r>
          </a:p>
        </p:txBody>
      </p:sp>
      <p:sp>
        <p:nvSpPr>
          <p:cNvPr id="14" name="TextBox 14"/>
          <p:cNvSpPr txBox="1"/>
          <p:nvPr/>
        </p:nvSpPr>
        <p:spPr>
          <a:xfrm>
            <a:off x="1028700" y="1677597"/>
            <a:ext cx="7752208" cy="2263126"/>
          </a:xfrm>
          <a:prstGeom prst="rect">
            <a:avLst/>
          </a:prstGeom>
        </p:spPr>
        <p:txBody>
          <a:bodyPr lIns="0" tIns="0" rIns="0" bIns="0" rtlCol="0" anchor="t">
            <a:spAutoFit/>
          </a:bodyPr>
          <a:lstStyle/>
          <a:p>
            <a:pPr algn="just">
              <a:lnSpc>
                <a:spcPts val="3074"/>
              </a:lnSpc>
            </a:pPr>
            <a:r>
              <a:rPr lang="en-US" sz="2794" i="1" spc="-114">
                <a:solidFill>
                  <a:srgbClr val="FFFFFF"/>
                </a:solidFill>
                <a:latin typeface="Montserrat Italics"/>
                <a:ea typeface="Montserrat Italics"/>
                <a:cs typeface="Montserrat Italics"/>
                <a:sym typeface="Montserrat Italics"/>
              </a:rPr>
              <a:t>The Workout Management Module allows trainers to create and assign personalized workout plans based on user fitness goals. Users can view their daily workout routines, mark exercises as completed, and maintain a workout history</a:t>
            </a:r>
          </a:p>
        </p:txBody>
      </p:sp>
      <p:sp>
        <p:nvSpPr>
          <p:cNvPr id="15" name="TextBox 15"/>
          <p:cNvSpPr txBox="1"/>
          <p:nvPr/>
        </p:nvSpPr>
        <p:spPr>
          <a:xfrm>
            <a:off x="10733679" y="5141610"/>
            <a:ext cx="7554321" cy="1845926"/>
          </a:xfrm>
          <a:prstGeom prst="rect">
            <a:avLst/>
          </a:prstGeom>
        </p:spPr>
        <p:txBody>
          <a:bodyPr lIns="0" tIns="0" rIns="0" bIns="0" rtlCol="0" anchor="t">
            <a:spAutoFit/>
          </a:bodyPr>
          <a:lstStyle/>
          <a:p>
            <a:pPr marL="588011" lvl="1" indent="-294006" algn="just">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Create and assign workout plans</a:t>
            </a:r>
          </a:p>
          <a:p>
            <a:pPr marL="588011" lvl="1" indent="-294006" algn="just">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Daily exercise schedule</a:t>
            </a:r>
          </a:p>
          <a:p>
            <a:pPr marL="588011" lvl="1" indent="-294006" algn="just">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Workout completion tracking</a:t>
            </a:r>
          </a:p>
          <a:p>
            <a:pPr marL="588011" lvl="1" indent="-294006" algn="just">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Workout history records</a:t>
            </a:r>
          </a:p>
          <a:p>
            <a:pPr algn="just">
              <a:lnSpc>
                <a:spcPts val="2995"/>
              </a:lnSpc>
            </a:pPr>
            <a:endParaRPr lang="en-US" sz="2723" i="1" spc="-111">
              <a:solidFill>
                <a:srgbClr val="FFFFFF"/>
              </a:solidFill>
              <a:latin typeface="Montserrat Italics"/>
              <a:ea typeface="Montserrat Italics"/>
              <a:cs typeface="Montserrat Italics"/>
              <a:sym typeface="Montserrat Itali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5" name="Group 5"/>
          <p:cNvGrpSpPr/>
          <p:nvPr/>
        </p:nvGrpSpPr>
        <p:grpSpPr>
          <a:xfrm>
            <a:off x="16176094" y="8387423"/>
            <a:ext cx="1083206" cy="1075479"/>
            <a:chOff x="0" y="0"/>
            <a:chExt cx="1444274" cy="1433972"/>
          </a:xfrm>
        </p:grpSpPr>
        <p:grpSp>
          <p:nvGrpSpPr>
            <p:cNvPr id="6" name="Group 6"/>
            <p:cNvGrpSpPr/>
            <p:nvPr/>
          </p:nvGrpSpPr>
          <p:grpSpPr>
            <a:xfrm>
              <a:off x="0" y="0"/>
              <a:ext cx="1444274" cy="1433972"/>
              <a:chOff x="0" y="0"/>
              <a:chExt cx="289003" cy="286941"/>
            </a:xfrm>
          </p:grpSpPr>
          <p:sp>
            <p:nvSpPr>
              <p:cNvPr id="7" name="Freeform 7"/>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ln w="19050" cap="rnd">
                <a:solidFill>
                  <a:srgbClr val="FFFFFF"/>
                </a:solidFill>
                <a:prstDash val="solid"/>
                <a:round/>
              </a:ln>
            </p:spPr>
          </p:sp>
          <p:sp>
            <p:nvSpPr>
              <p:cNvPr id="8" name="TextBox 8"/>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rot="-5400000">
              <a:off x="494533" y="384849"/>
              <a:ext cx="491563" cy="664274"/>
            </a:xfrm>
            <a:custGeom>
              <a:avLst/>
              <a:gdLst/>
              <a:ahLst/>
              <a:cxnLst/>
              <a:rect l="l" t="t" r="r" b="b"/>
              <a:pathLst>
                <a:path w="491563" h="664274">
                  <a:moveTo>
                    <a:pt x="0" y="0"/>
                  </a:moveTo>
                  <a:lnTo>
                    <a:pt x="491563" y="0"/>
                  </a:lnTo>
                  <a:lnTo>
                    <a:pt x="491563" y="664274"/>
                  </a:lnTo>
                  <a:lnTo>
                    <a:pt x="0" y="66427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sp>
        <p:nvSpPr>
          <p:cNvPr id="10" name="TextBox 10"/>
          <p:cNvSpPr txBox="1"/>
          <p:nvPr/>
        </p:nvSpPr>
        <p:spPr>
          <a:xfrm>
            <a:off x="1131216" y="7170570"/>
            <a:ext cx="14465482" cy="3073837"/>
          </a:xfrm>
          <a:prstGeom prst="rect">
            <a:avLst/>
          </a:prstGeom>
        </p:spPr>
        <p:txBody>
          <a:bodyPr lIns="0" tIns="0" rIns="0" bIns="0" rtlCol="0" anchor="t">
            <a:spAutoFit/>
          </a:bodyPr>
          <a:lstStyle/>
          <a:p>
            <a:pPr algn="l">
              <a:lnSpc>
                <a:spcPts val="12271"/>
              </a:lnSpc>
            </a:pPr>
            <a:r>
              <a:rPr lang="en-US" sz="9587" i="1">
                <a:solidFill>
                  <a:srgbClr val="02C2FF"/>
                </a:solidFill>
                <a:latin typeface="Anton Italics"/>
                <a:ea typeface="Anton Italics"/>
                <a:cs typeface="Anton Italics"/>
                <a:sym typeface="Anton Italics"/>
              </a:rPr>
              <a:t>PROGRESS TRACKING &amp; DATA VISUALIZATION MODULE</a:t>
            </a:r>
          </a:p>
        </p:txBody>
      </p:sp>
      <p:sp>
        <p:nvSpPr>
          <p:cNvPr id="11" name="TextBox 11"/>
          <p:cNvSpPr txBox="1"/>
          <p:nvPr/>
        </p:nvSpPr>
        <p:spPr>
          <a:xfrm>
            <a:off x="1028700" y="981075"/>
            <a:ext cx="2836917" cy="433564"/>
          </a:xfrm>
          <a:prstGeom prst="rect">
            <a:avLst/>
          </a:prstGeom>
        </p:spPr>
        <p:txBody>
          <a:bodyPr lIns="0" tIns="0" rIns="0" bIns="0" rtlCol="0" anchor="t">
            <a:spAutoFit/>
          </a:bodyPr>
          <a:lstStyle/>
          <a:p>
            <a:pPr algn="l">
              <a:lnSpc>
                <a:spcPts val="3620"/>
              </a:lnSpc>
              <a:spcBef>
                <a:spcPct val="0"/>
              </a:spcBef>
            </a:pPr>
            <a:r>
              <a:rPr lang="en-US" sz="2586" b="1">
                <a:solidFill>
                  <a:srgbClr val="02C2FF"/>
                </a:solidFill>
                <a:latin typeface="Montserrat Bold"/>
                <a:ea typeface="Montserrat Bold"/>
                <a:cs typeface="Montserrat Bold"/>
                <a:sym typeface="Montserrat Bold"/>
              </a:rPr>
              <a:t>Description</a:t>
            </a:r>
          </a:p>
        </p:txBody>
      </p:sp>
      <p:sp>
        <p:nvSpPr>
          <p:cNvPr id="12" name="TextBox 12"/>
          <p:cNvSpPr txBox="1"/>
          <p:nvPr/>
        </p:nvSpPr>
        <p:spPr>
          <a:xfrm>
            <a:off x="10669673" y="4709936"/>
            <a:ext cx="2836917" cy="433564"/>
          </a:xfrm>
          <a:prstGeom prst="rect">
            <a:avLst/>
          </a:prstGeom>
        </p:spPr>
        <p:txBody>
          <a:bodyPr lIns="0" tIns="0" rIns="0" bIns="0" rtlCol="0" anchor="t">
            <a:spAutoFit/>
          </a:bodyPr>
          <a:lstStyle/>
          <a:p>
            <a:pPr algn="l">
              <a:lnSpc>
                <a:spcPts val="3620"/>
              </a:lnSpc>
              <a:spcBef>
                <a:spcPct val="0"/>
              </a:spcBef>
            </a:pPr>
            <a:r>
              <a:rPr lang="en-US" sz="2586" b="1">
                <a:solidFill>
                  <a:srgbClr val="02C2FF"/>
                </a:solidFill>
                <a:latin typeface="Montserrat Bold"/>
                <a:ea typeface="Montserrat Bold"/>
                <a:cs typeface="Montserrat Bold"/>
                <a:sym typeface="Montserrat Bold"/>
              </a:rPr>
              <a:t>KEY FEATURES</a:t>
            </a:r>
          </a:p>
        </p:txBody>
      </p:sp>
      <p:sp>
        <p:nvSpPr>
          <p:cNvPr id="13" name="TextBox 13"/>
          <p:cNvSpPr txBox="1"/>
          <p:nvPr/>
        </p:nvSpPr>
        <p:spPr>
          <a:xfrm>
            <a:off x="1337338" y="6067511"/>
            <a:ext cx="7581900" cy="1297808"/>
          </a:xfrm>
          <a:prstGeom prst="rect">
            <a:avLst/>
          </a:prstGeom>
        </p:spPr>
        <p:txBody>
          <a:bodyPr lIns="0" tIns="0" rIns="0" bIns="0" rtlCol="0" anchor="t">
            <a:spAutoFit/>
          </a:bodyPr>
          <a:lstStyle/>
          <a:p>
            <a:pPr algn="l">
              <a:lnSpc>
                <a:spcPts val="10517"/>
              </a:lnSpc>
            </a:pPr>
            <a:r>
              <a:rPr lang="en-US" sz="8216" i="1">
                <a:solidFill>
                  <a:srgbClr val="FFFFFF"/>
                </a:solidFill>
                <a:latin typeface="Anton Italics"/>
                <a:ea typeface="Anton Italics"/>
                <a:cs typeface="Anton Italics"/>
                <a:sym typeface="Anton Italics"/>
              </a:rPr>
              <a:t>MODULE 3</a:t>
            </a:r>
          </a:p>
        </p:txBody>
      </p:sp>
      <p:sp>
        <p:nvSpPr>
          <p:cNvPr id="14" name="TextBox 14"/>
          <p:cNvSpPr txBox="1"/>
          <p:nvPr/>
        </p:nvSpPr>
        <p:spPr>
          <a:xfrm>
            <a:off x="1028700" y="1677597"/>
            <a:ext cx="7752208" cy="2263126"/>
          </a:xfrm>
          <a:prstGeom prst="rect">
            <a:avLst/>
          </a:prstGeom>
        </p:spPr>
        <p:txBody>
          <a:bodyPr lIns="0" tIns="0" rIns="0" bIns="0" rtlCol="0" anchor="t">
            <a:spAutoFit/>
          </a:bodyPr>
          <a:lstStyle/>
          <a:p>
            <a:pPr algn="just">
              <a:lnSpc>
                <a:spcPts val="3074"/>
              </a:lnSpc>
            </a:pPr>
            <a:r>
              <a:rPr lang="en-US" sz="2794" i="1" spc="-114">
                <a:solidFill>
                  <a:srgbClr val="FFFFFF"/>
                </a:solidFill>
                <a:latin typeface="Montserrat Italics"/>
                <a:ea typeface="Montserrat Italics"/>
                <a:cs typeface="Montserrat Italics"/>
                <a:sym typeface="Montserrat Italics"/>
              </a:rPr>
              <a:t>This module helps users monitor their fitness progress through visual reports and performance statistics. It collects health data such as weight, BMI, calories burned, and workout performance.</a:t>
            </a:r>
          </a:p>
          <a:p>
            <a:pPr algn="just">
              <a:lnSpc>
                <a:spcPts val="3074"/>
              </a:lnSpc>
            </a:pPr>
            <a:endParaRPr lang="en-US" sz="2794" i="1" spc="-114">
              <a:solidFill>
                <a:srgbClr val="FFFFFF"/>
              </a:solidFill>
              <a:latin typeface="Montserrat Italics"/>
              <a:ea typeface="Montserrat Italics"/>
              <a:cs typeface="Montserrat Italics"/>
              <a:sym typeface="Montserrat Italics"/>
            </a:endParaRPr>
          </a:p>
        </p:txBody>
      </p:sp>
      <p:sp>
        <p:nvSpPr>
          <p:cNvPr id="15" name="TextBox 15"/>
          <p:cNvSpPr txBox="1"/>
          <p:nvPr/>
        </p:nvSpPr>
        <p:spPr>
          <a:xfrm>
            <a:off x="10383588" y="5141610"/>
            <a:ext cx="7904412" cy="1845926"/>
          </a:xfrm>
          <a:prstGeom prst="rect">
            <a:avLst/>
          </a:prstGeom>
        </p:spPr>
        <p:txBody>
          <a:bodyPr lIns="0" tIns="0" rIns="0" bIns="0" rtlCol="0" anchor="t">
            <a:spAutoFit/>
          </a:bodyPr>
          <a:lstStyle/>
          <a:p>
            <a:pPr marL="588011" lvl="1" indent="-294006" algn="just">
              <a:lnSpc>
                <a:spcPts val="2995"/>
              </a:lnSpc>
              <a:buFont typeface="Arial"/>
              <a:buChar char="•"/>
            </a:pPr>
            <a:r>
              <a:rPr lang="en-US" sz="2723" spc="-111">
                <a:solidFill>
                  <a:srgbClr val="FFFFFF"/>
                </a:solidFill>
                <a:latin typeface="Montserrat"/>
                <a:ea typeface="Montserrat"/>
                <a:cs typeface="Montserrat"/>
                <a:sym typeface="Montserrat"/>
              </a:rPr>
              <a:t>BMI and calorie tracking</a:t>
            </a:r>
          </a:p>
          <a:p>
            <a:pPr marL="588011" lvl="1" indent="-294006" algn="just">
              <a:lnSpc>
                <a:spcPts val="2995"/>
              </a:lnSpc>
              <a:buFont typeface="Arial"/>
              <a:buChar char="•"/>
            </a:pPr>
            <a:r>
              <a:rPr lang="en-US" sz="2723" spc="-111">
                <a:solidFill>
                  <a:srgbClr val="FFFFFF"/>
                </a:solidFill>
                <a:latin typeface="Montserrat"/>
                <a:ea typeface="Montserrat"/>
                <a:cs typeface="Montserrat"/>
                <a:sym typeface="Montserrat"/>
              </a:rPr>
              <a:t>Weight progress monitoring</a:t>
            </a:r>
          </a:p>
          <a:p>
            <a:pPr marL="588011" lvl="1" indent="-294006" algn="just">
              <a:lnSpc>
                <a:spcPts val="2995"/>
              </a:lnSpc>
              <a:buFont typeface="Arial"/>
              <a:buChar char="•"/>
            </a:pPr>
            <a:r>
              <a:rPr lang="en-US" sz="2723" spc="-111">
                <a:solidFill>
                  <a:srgbClr val="FFFFFF"/>
                </a:solidFill>
                <a:latin typeface="Montserrat"/>
                <a:ea typeface="Montserrat"/>
                <a:cs typeface="Montserrat"/>
                <a:sym typeface="Montserrat"/>
              </a:rPr>
              <a:t>Charts and graphs for progress visualization</a:t>
            </a:r>
          </a:p>
          <a:p>
            <a:pPr marL="588011" lvl="1" indent="-294006" algn="just">
              <a:lnSpc>
                <a:spcPts val="2995"/>
              </a:lnSpc>
              <a:buFont typeface="Arial"/>
              <a:buChar char="•"/>
            </a:pPr>
            <a:r>
              <a:rPr lang="en-US" sz="2723" spc="-111">
                <a:solidFill>
                  <a:srgbClr val="FFFFFF"/>
                </a:solidFill>
                <a:latin typeface="Montserrat"/>
                <a:ea typeface="Montserrat"/>
                <a:cs typeface="Montserrat"/>
                <a:sym typeface="Montserrat"/>
              </a:rPr>
              <a:t>Performance analysis</a:t>
            </a:r>
          </a:p>
          <a:p>
            <a:pPr algn="just">
              <a:lnSpc>
                <a:spcPts val="2995"/>
              </a:lnSpc>
            </a:pPr>
            <a:endParaRPr lang="en-US" sz="2723" spc="-111">
              <a:solidFill>
                <a:srgbClr val="FFFFFF"/>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5" name="Group 5"/>
          <p:cNvGrpSpPr/>
          <p:nvPr/>
        </p:nvGrpSpPr>
        <p:grpSpPr>
          <a:xfrm>
            <a:off x="16176094" y="8387423"/>
            <a:ext cx="1083206" cy="1075479"/>
            <a:chOff x="0" y="0"/>
            <a:chExt cx="1444274" cy="1433972"/>
          </a:xfrm>
        </p:grpSpPr>
        <p:grpSp>
          <p:nvGrpSpPr>
            <p:cNvPr id="6" name="Group 6"/>
            <p:cNvGrpSpPr/>
            <p:nvPr/>
          </p:nvGrpSpPr>
          <p:grpSpPr>
            <a:xfrm>
              <a:off x="0" y="0"/>
              <a:ext cx="1444274" cy="1433972"/>
              <a:chOff x="0" y="0"/>
              <a:chExt cx="289003" cy="286941"/>
            </a:xfrm>
          </p:grpSpPr>
          <p:sp>
            <p:nvSpPr>
              <p:cNvPr id="7" name="Freeform 7"/>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ln w="19050" cap="rnd">
                <a:solidFill>
                  <a:srgbClr val="FFFFFF"/>
                </a:solidFill>
                <a:prstDash val="solid"/>
                <a:round/>
              </a:ln>
            </p:spPr>
          </p:sp>
          <p:sp>
            <p:nvSpPr>
              <p:cNvPr id="8" name="TextBox 8"/>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rot="-5400000">
              <a:off x="494533" y="384849"/>
              <a:ext cx="491563" cy="664274"/>
            </a:xfrm>
            <a:custGeom>
              <a:avLst/>
              <a:gdLst/>
              <a:ahLst/>
              <a:cxnLst/>
              <a:rect l="l" t="t" r="r" b="b"/>
              <a:pathLst>
                <a:path w="491563" h="664274">
                  <a:moveTo>
                    <a:pt x="0" y="0"/>
                  </a:moveTo>
                  <a:lnTo>
                    <a:pt x="491563" y="0"/>
                  </a:lnTo>
                  <a:lnTo>
                    <a:pt x="491563" y="664274"/>
                  </a:lnTo>
                  <a:lnTo>
                    <a:pt x="0" y="66427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sp>
        <p:nvSpPr>
          <p:cNvPr id="10" name="TextBox 10"/>
          <p:cNvSpPr txBox="1"/>
          <p:nvPr/>
        </p:nvSpPr>
        <p:spPr>
          <a:xfrm>
            <a:off x="1131216" y="7170570"/>
            <a:ext cx="14465482" cy="3073837"/>
          </a:xfrm>
          <a:prstGeom prst="rect">
            <a:avLst/>
          </a:prstGeom>
        </p:spPr>
        <p:txBody>
          <a:bodyPr lIns="0" tIns="0" rIns="0" bIns="0" rtlCol="0" anchor="t">
            <a:spAutoFit/>
          </a:bodyPr>
          <a:lstStyle/>
          <a:p>
            <a:pPr algn="l">
              <a:lnSpc>
                <a:spcPts val="12271"/>
              </a:lnSpc>
            </a:pPr>
            <a:r>
              <a:rPr lang="en-US" sz="9587" i="1">
                <a:solidFill>
                  <a:srgbClr val="02C2FF"/>
                </a:solidFill>
                <a:latin typeface="Anton Italics"/>
                <a:ea typeface="Anton Italics"/>
                <a:cs typeface="Anton Italics"/>
                <a:sym typeface="Anton Italics"/>
              </a:rPr>
              <a:t>NUTRITION &amp; DIET TRACKING MODULE</a:t>
            </a:r>
          </a:p>
        </p:txBody>
      </p:sp>
      <p:sp>
        <p:nvSpPr>
          <p:cNvPr id="11" name="TextBox 11"/>
          <p:cNvSpPr txBox="1"/>
          <p:nvPr/>
        </p:nvSpPr>
        <p:spPr>
          <a:xfrm>
            <a:off x="1028700" y="981075"/>
            <a:ext cx="2836917" cy="433564"/>
          </a:xfrm>
          <a:prstGeom prst="rect">
            <a:avLst/>
          </a:prstGeom>
        </p:spPr>
        <p:txBody>
          <a:bodyPr lIns="0" tIns="0" rIns="0" bIns="0" rtlCol="0" anchor="t">
            <a:spAutoFit/>
          </a:bodyPr>
          <a:lstStyle/>
          <a:p>
            <a:pPr algn="l">
              <a:lnSpc>
                <a:spcPts val="3620"/>
              </a:lnSpc>
              <a:spcBef>
                <a:spcPct val="0"/>
              </a:spcBef>
            </a:pPr>
            <a:r>
              <a:rPr lang="en-US" sz="2586" b="1">
                <a:solidFill>
                  <a:srgbClr val="02C2FF"/>
                </a:solidFill>
                <a:latin typeface="Montserrat Bold"/>
                <a:ea typeface="Montserrat Bold"/>
                <a:cs typeface="Montserrat Bold"/>
                <a:sym typeface="Montserrat Bold"/>
              </a:rPr>
              <a:t>Description</a:t>
            </a:r>
          </a:p>
        </p:txBody>
      </p:sp>
      <p:sp>
        <p:nvSpPr>
          <p:cNvPr id="12" name="TextBox 12"/>
          <p:cNvSpPr txBox="1"/>
          <p:nvPr/>
        </p:nvSpPr>
        <p:spPr>
          <a:xfrm>
            <a:off x="10669673" y="4709936"/>
            <a:ext cx="2836917" cy="433564"/>
          </a:xfrm>
          <a:prstGeom prst="rect">
            <a:avLst/>
          </a:prstGeom>
        </p:spPr>
        <p:txBody>
          <a:bodyPr lIns="0" tIns="0" rIns="0" bIns="0" rtlCol="0" anchor="t">
            <a:spAutoFit/>
          </a:bodyPr>
          <a:lstStyle/>
          <a:p>
            <a:pPr algn="l">
              <a:lnSpc>
                <a:spcPts val="3620"/>
              </a:lnSpc>
              <a:spcBef>
                <a:spcPct val="0"/>
              </a:spcBef>
            </a:pPr>
            <a:r>
              <a:rPr lang="en-US" sz="2586" b="1">
                <a:solidFill>
                  <a:srgbClr val="02C2FF"/>
                </a:solidFill>
                <a:latin typeface="Montserrat Bold"/>
                <a:ea typeface="Montserrat Bold"/>
                <a:cs typeface="Montserrat Bold"/>
                <a:sym typeface="Montserrat Bold"/>
              </a:rPr>
              <a:t>KEY FEATURES</a:t>
            </a:r>
          </a:p>
        </p:txBody>
      </p:sp>
      <p:sp>
        <p:nvSpPr>
          <p:cNvPr id="13" name="TextBox 13"/>
          <p:cNvSpPr txBox="1"/>
          <p:nvPr/>
        </p:nvSpPr>
        <p:spPr>
          <a:xfrm>
            <a:off x="1346863" y="6067511"/>
            <a:ext cx="7581900" cy="1297808"/>
          </a:xfrm>
          <a:prstGeom prst="rect">
            <a:avLst/>
          </a:prstGeom>
        </p:spPr>
        <p:txBody>
          <a:bodyPr lIns="0" tIns="0" rIns="0" bIns="0" rtlCol="0" anchor="t">
            <a:spAutoFit/>
          </a:bodyPr>
          <a:lstStyle/>
          <a:p>
            <a:pPr algn="l">
              <a:lnSpc>
                <a:spcPts val="10517"/>
              </a:lnSpc>
            </a:pPr>
            <a:r>
              <a:rPr lang="en-US" sz="8216" i="1">
                <a:solidFill>
                  <a:srgbClr val="FFFFFF"/>
                </a:solidFill>
                <a:latin typeface="Anton Italics"/>
                <a:ea typeface="Anton Italics"/>
                <a:cs typeface="Anton Italics"/>
                <a:sym typeface="Anton Italics"/>
              </a:rPr>
              <a:t>MODULE 4</a:t>
            </a:r>
          </a:p>
        </p:txBody>
      </p:sp>
      <p:sp>
        <p:nvSpPr>
          <p:cNvPr id="14" name="TextBox 14"/>
          <p:cNvSpPr txBox="1"/>
          <p:nvPr/>
        </p:nvSpPr>
        <p:spPr>
          <a:xfrm>
            <a:off x="1028700" y="1677597"/>
            <a:ext cx="7752208" cy="1885504"/>
          </a:xfrm>
          <a:prstGeom prst="rect">
            <a:avLst/>
          </a:prstGeom>
        </p:spPr>
        <p:txBody>
          <a:bodyPr lIns="0" tIns="0" rIns="0" bIns="0" rtlCol="0" anchor="t">
            <a:spAutoFit/>
          </a:bodyPr>
          <a:lstStyle/>
          <a:p>
            <a:pPr algn="just">
              <a:lnSpc>
                <a:spcPts val="3074"/>
              </a:lnSpc>
            </a:pPr>
            <a:r>
              <a:rPr lang="en-US" sz="2794" i="1" spc="-114">
                <a:solidFill>
                  <a:srgbClr val="FFFFFF"/>
                </a:solidFill>
                <a:latin typeface="Montserrat Italics"/>
                <a:ea typeface="Montserrat Italics"/>
                <a:cs typeface="Montserrat Italics"/>
                <a:sym typeface="Montserrat Italics"/>
              </a:rPr>
              <a:t>This module allows users to monitor their daily nutrition and calorie intake. It helps users maintain a balanced diet by tracking protein, calories, and other nutritional information according to their fitness goals.</a:t>
            </a:r>
          </a:p>
        </p:txBody>
      </p:sp>
      <p:sp>
        <p:nvSpPr>
          <p:cNvPr id="15" name="TextBox 15"/>
          <p:cNvSpPr txBox="1"/>
          <p:nvPr/>
        </p:nvSpPr>
        <p:spPr>
          <a:xfrm>
            <a:off x="10383588" y="5141610"/>
            <a:ext cx="7904412" cy="1491914"/>
          </a:xfrm>
          <a:prstGeom prst="rect">
            <a:avLst/>
          </a:prstGeom>
        </p:spPr>
        <p:txBody>
          <a:bodyPr lIns="0" tIns="0" rIns="0" bIns="0" rtlCol="0" anchor="t">
            <a:spAutoFit/>
          </a:bodyPr>
          <a:lstStyle/>
          <a:p>
            <a:pPr marL="588011" lvl="1" indent="-294006" algn="l">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Calorie intake tracking</a:t>
            </a:r>
          </a:p>
          <a:p>
            <a:pPr marL="588011" lvl="1" indent="-294006" algn="l">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Protein and nutrition monitoring</a:t>
            </a:r>
          </a:p>
          <a:p>
            <a:pPr marL="588011" lvl="1" indent="-294006" algn="l">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Diet plan recommendations</a:t>
            </a:r>
          </a:p>
          <a:p>
            <a:pPr marL="588011" lvl="1" indent="-294006" algn="l">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Daily nutrition records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5" name="Group 5"/>
          <p:cNvGrpSpPr/>
          <p:nvPr/>
        </p:nvGrpSpPr>
        <p:grpSpPr>
          <a:xfrm>
            <a:off x="16176094" y="8387423"/>
            <a:ext cx="1083206" cy="1075479"/>
            <a:chOff x="0" y="0"/>
            <a:chExt cx="1444274" cy="1433972"/>
          </a:xfrm>
        </p:grpSpPr>
        <p:grpSp>
          <p:nvGrpSpPr>
            <p:cNvPr id="6" name="Group 6"/>
            <p:cNvGrpSpPr/>
            <p:nvPr/>
          </p:nvGrpSpPr>
          <p:grpSpPr>
            <a:xfrm>
              <a:off x="0" y="0"/>
              <a:ext cx="1444274" cy="1433972"/>
              <a:chOff x="0" y="0"/>
              <a:chExt cx="289003" cy="286941"/>
            </a:xfrm>
          </p:grpSpPr>
          <p:sp>
            <p:nvSpPr>
              <p:cNvPr id="7" name="Freeform 7"/>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ln w="19050" cap="rnd">
                <a:solidFill>
                  <a:srgbClr val="FFFFFF"/>
                </a:solidFill>
                <a:prstDash val="solid"/>
                <a:round/>
              </a:ln>
            </p:spPr>
          </p:sp>
          <p:sp>
            <p:nvSpPr>
              <p:cNvPr id="8" name="TextBox 8"/>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rot="-5400000">
              <a:off x="494533" y="384849"/>
              <a:ext cx="491563" cy="664274"/>
            </a:xfrm>
            <a:custGeom>
              <a:avLst/>
              <a:gdLst/>
              <a:ahLst/>
              <a:cxnLst/>
              <a:rect l="l" t="t" r="r" b="b"/>
              <a:pathLst>
                <a:path w="491563" h="664274">
                  <a:moveTo>
                    <a:pt x="0" y="0"/>
                  </a:moveTo>
                  <a:lnTo>
                    <a:pt x="491563" y="0"/>
                  </a:lnTo>
                  <a:lnTo>
                    <a:pt x="491563" y="664274"/>
                  </a:lnTo>
                  <a:lnTo>
                    <a:pt x="0" y="66427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sp>
        <p:nvSpPr>
          <p:cNvPr id="10" name="TextBox 10"/>
          <p:cNvSpPr txBox="1"/>
          <p:nvPr/>
        </p:nvSpPr>
        <p:spPr>
          <a:xfrm>
            <a:off x="1131216" y="7170570"/>
            <a:ext cx="14465482" cy="3073837"/>
          </a:xfrm>
          <a:prstGeom prst="rect">
            <a:avLst/>
          </a:prstGeom>
        </p:spPr>
        <p:txBody>
          <a:bodyPr lIns="0" tIns="0" rIns="0" bIns="0" rtlCol="0" anchor="t">
            <a:spAutoFit/>
          </a:bodyPr>
          <a:lstStyle/>
          <a:p>
            <a:pPr algn="l">
              <a:lnSpc>
                <a:spcPts val="12271"/>
              </a:lnSpc>
            </a:pPr>
            <a:r>
              <a:rPr lang="en-US" sz="9587" i="1">
                <a:solidFill>
                  <a:srgbClr val="02C2FF"/>
                </a:solidFill>
                <a:latin typeface="Anton Italics"/>
                <a:ea typeface="Anton Italics"/>
                <a:cs typeface="Anton Italics"/>
                <a:sym typeface="Anton Italics"/>
              </a:rPr>
              <a:t>TRAINER–CLIENT COMMUNICATION MODULE</a:t>
            </a:r>
          </a:p>
        </p:txBody>
      </p:sp>
      <p:sp>
        <p:nvSpPr>
          <p:cNvPr id="11" name="TextBox 11"/>
          <p:cNvSpPr txBox="1"/>
          <p:nvPr/>
        </p:nvSpPr>
        <p:spPr>
          <a:xfrm>
            <a:off x="1028700" y="981075"/>
            <a:ext cx="2836917" cy="433564"/>
          </a:xfrm>
          <a:prstGeom prst="rect">
            <a:avLst/>
          </a:prstGeom>
        </p:spPr>
        <p:txBody>
          <a:bodyPr lIns="0" tIns="0" rIns="0" bIns="0" rtlCol="0" anchor="t">
            <a:spAutoFit/>
          </a:bodyPr>
          <a:lstStyle/>
          <a:p>
            <a:pPr algn="l">
              <a:lnSpc>
                <a:spcPts val="3620"/>
              </a:lnSpc>
              <a:spcBef>
                <a:spcPct val="0"/>
              </a:spcBef>
            </a:pPr>
            <a:r>
              <a:rPr lang="en-US" sz="2586" b="1">
                <a:solidFill>
                  <a:srgbClr val="02C2FF"/>
                </a:solidFill>
                <a:latin typeface="Montserrat Bold"/>
                <a:ea typeface="Montserrat Bold"/>
                <a:cs typeface="Montserrat Bold"/>
                <a:sym typeface="Montserrat Bold"/>
              </a:rPr>
              <a:t>Description</a:t>
            </a:r>
          </a:p>
        </p:txBody>
      </p:sp>
      <p:sp>
        <p:nvSpPr>
          <p:cNvPr id="12" name="TextBox 12"/>
          <p:cNvSpPr txBox="1"/>
          <p:nvPr/>
        </p:nvSpPr>
        <p:spPr>
          <a:xfrm>
            <a:off x="10669673" y="4709936"/>
            <a:ext cx="2836917" cy="433564"/>
          </a:xfrm>
          <a:prstGeom prst="rect">
            <a:avLst/>
          </a:prstGeom>
        </p:spPr>
        <p:txBody>
          <a:bodyPr lIns="0" tIns="0" rIns="0" bIns="0" rtlCol="0" anchor="t">
            <a:spAutoFit/>
          </a:bodyPr>
          <a:lstStyle/>
          <a:p>
            <a:pPr algn="l">
              <a:lnSpc>
                <a:spcPts val="3620"/>
              </a:lnSpc>
              <a:spcBef>
                <a:spcPct val="0"/>
              </a:spcBef>
            </a:pPr>
            <a:r>
              <a:rPr lang="en-US" sz="2586" b="1">
                <a:solidFill>
                  <a:srgbClr val="02C2FF"/>
                </a:solidFill>
                <a:latin typeface="Montserrat Bold"/>
                <a:ea typeface="Montserrat Bold"/>
                <a:cs typeface="Montserrat Bold"/>
                <a:sym typeface="Montserrat Bold"/>
              </a:rPr>
              <a:t>KEY FEATURES</a:t>
            </a:r>
          </a:p>
        </p:txBody>
      </p:sp>
      <p:sp>
        <p:nvSpPr>
          <p:cNvPr id="13" name="TextBox 13"/>
          <p:cNvSpPr txBox="1"/>
          <p:nvPr/>
        </p:nvSpPr>
        <p:spPr>
          <a:xfrm>
            <a:off x="1346863" y="6067511"/>
            <a:ext cx="7581900" cy="1297808"/>
          </a:xfrm>
          <a:prstGeom prst="rect">
            <a:avLst/>
          </a:prstGeom>
        </p:spPr>
        <p:txBody>
          <a:bodyPr lIns="0" tIns="0" rIns="0" bIns="0" rtlCol="0" anchor="t">
            <a:spAutoFit/>
          </a:bodyPr>
          <a:lstStyle/>
          <a:p>
            <a:pPr algn="l">
              <a:lnSpc>
                <a:spcPts val="10517"/>
              </a:lnSpc>
            </a:pPr>
            <a:r>
              <a:rPr lang="en-US" sz="8216" i="1">
                <a:solidFill>
                  <a:srgbClr val="FFFFFF"/>
                </a:solidFill>
                <a:latin typeface="Anton Italics"/>
                <a:ea typeface="Anton Italics"/>
                <a:cs typeface="Anton Italics"/>
                <a:sym typeface="Anton Italics"/>
              </a:rPr>
              <a:t>MODULE 5</a:t>
            </a:r>
          </a:p>
        </p:txBody>
      </p:sp>
      <p:sp>
        <p:nvSpPr>
          <p:cNvPr id="14" name="TextBox 14"/>
          <p:cNvSpPr txBox="1"/>
          <p:nvPr/>
        </p:nvSpPr>
        <p:spPr>
          <a:xfrm>
            <a:off x="1028700" y="1677597"/>
            <a:ext cx="8469215" cy="1885504"/>
          </a:xfrm>
          <a:prstGeom prst="rect">
            <a:avLst/>
          </a:prstGeom>
        </p:spPr>
        <p:txBody>
          <a:bodyPr lIns="0" tIns="0" rIns="0" bIns="0" rtlCol="0" anchor="t">
            <a:spAutoFit/>
          </a:bodyPr>
          <a:lstStyle/>
          <a:p>
            <a:pPr algn="just">
              <a:lnSpc>
                <a:spcPts val="3074"/>
              </a:lnSpc>
            </a:pPr>
            <a:r>
              <a:rPr lang="en-US" sz="2794" i="1" spc="-114">
                <a:solidFill>
                  <a:srgbClr val="FFFFFF"/>
                </a:solidFill>
                <a:latin typeface="Montserrat Italics"/>
                <a:ea typeface="Montserrat Italics"/>
                <a:cs typeface="Montserrat Italics"/>
                <a:sym typeface="Montserrat Italics"/>
              </a:rPr>
              <a:t>This module enables communication between trainers and clients through a messaging system. Trainers can provide guidance, feedback, and workout corrections to help users achieve their fitness goals effectively.</a:t>
            </a:r>
          </a:p>
        </p:txBody>
      </p:sp>
      <p:sp>
        <p:nvSpPr>
          <p:cNvPr id="15" name="TextBox 15"/>
          <p:cNvSpPr txBox="1"/>
          <p:nvPr/>
        </p:nvSpPr>
        <p:spPr>
          <a:xfrm>
            <a:off x="10383588" y="5141610"/>
            <a:ext cx="7904412" cy="1863389"/>
          </a:xfrm>
          <a:prstGeom prst="rect">
            <a:avLst/>
          </a:prstGeom>
        </p:spPr>
        <p:txBody>
          <a:bodyPr lIns="0" tIns="0" rIns="0" bIns="0" rtlCol="0" anchor="t">
            <a:spAutoFit/>
          </a:bodyPr>
          <a:lstStyle/>
          <a:p>
            <a:pPr marL="588011" lvl="1" indent="-294006" algn="l">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Direct messaging system</a:t>
            </a:r>
          </a:p>
          <a:p>
            <a:pPr marL="588011" lvl="1" indent="-294006" algn="l">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Trainer feedback and guidance</a:t>
            </a:r>
          </a:p>
          <a:p>
            <a:pPr marL="588011" lvl="1" indent="-294006" algn="l">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Workout advice and corrections</a:t>
            </a:r>
          </a:p>
          <a:p>
            <a:pPr marL="588011" lvl="1" indent="-294006" algn="l">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Progress discussion between trainer and client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5" name="Group 5"/>
          <p:cNvGrpSpPr/>
          <p:nvPr/>
        </p:nvGrpSpPr>
        <p:grpSpPr>
          <a:xfrm>
            <a:off x="16185619" y="8387423"/>
            <a:ext cx="1083206" cy="1075479"/>
            <a:chOff x="0" y="0"/>
            <a:chExt cx="1444274" cy="1433972"/>
          </a:xfrm>
        </p:grpSpPr>
        <p:grpSp>
          <p:nvGrpSpPr>
            <p:cNvPr id="6" name="Group 6"/>
            <p:cNvGrpSpPr/>
            <p:nvPr/>
          </p:nvGrpSpPr>
          <p:grpSpPr>
            <a:xfrm>
              <a:off x="0" y="0"/>
              <a:ext cx="1444274" cy="1433972"/>
              <a:chOff x="0" y="0"/>
              <a:chExt cx="289003" cy="286941"/>
            </a:xfrm>
          </p:grpSpPr>
          <p:sp>
            <p:nvSpPr>
              <p:cNvPr id="7" name="Freeform 7"/>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ln w="19050" cap="rnd">
                <a:solidFill>
                  <a:srgbClr val="FFFFFF"/>
                </a:solidFill>
                <a:prstDash val="solid"/>
                <a:round/>
              </a:ln>
            </p:spPr>
          </p:sp>
          <p:sp>
            <p:nvSpPr>
              <p:cNvPr id="8" name="TextBox 8"/>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rot="-5400000">
              <a:off x="494533" y="384849"/>
              <a:ext cx="491563" cy="664274"/>
            </a:xfrm>
            <a:custGeom>
              <a:avLst/>
              <a:gdLst/>
              <a:ahLst/>
              <a:cxnLst/>
              <a:rect l="l" t="t" r="r" b="b"/>
              <a:pathLst>
                <a:path w="491563" h="664274">
                  <a:moveTo>
                    <a:pt x="0" y="0"/>
                  </a:moveTo>
                  <a:lnTo>
                    <a:pt x="491563" y="0"/>
                  </a:lnTo>
                  <a:lnTo>
                    <a:pt x="491563" y="664274"/>
                  </a:lnTo>
                  <a:lnTo>
                    <a:pt x="0" y="664274"/>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grpSp>
      <p:sp>
        <p:nvSpPr>
          <p:cNvPr id="10" name="TextBox 10"/>
          <p:cNvSpPr txBox="1"/>
          <p:nvPr/>
        </p:nvSpPr>
        <p:spPr>
          <a:xfrm>
            <a:off x="1131216" y="7170570"/>
            <a:ext cx="14465482" cy="1521554"/>
          </a:xfrm>
          <a:prstGeom prst="rect">
            <a:avLst/>
          </a:prstGeom>
        </p:spPr>
        <p:txBody>
          <a:bodyPr lIns="0" tIns="0" rIns="0" bIns="0" rtlCol="0" anchor="t">
            <a:spAutoFit/>
          </a:bodyPr>
          <a:lstStyle/>
          <a:p>
            <a:pPr algn="l">
              <a:lnSpc>
                <a:spcPts val="12271"/>
              </a:lnSpc>
            </a:pPr>
            <a:r>
              <a:rPr lang="en-US" sz="9587" i="1">
                <a:solidFill>
                  <a:srgbClr val="02C2FF"/>
                </a:solidFill>
                <a:latin typeface="Anton Italics"/>
                <a:ea typeface="Anton Italics"/>
                <a:cs typeface="Anton Italics"/>
                <a:sym typeface="Anton Italics"/>
              </a:rPr>
              <a:t>EXERCISE TUTORIAL MODULE</a:t>
            </a:r>
          </a:p>
        </p:txBody>
      </p:sp>
      <p:sp>
        <p:nvSpPr>
          <p:cNvPr id="11" name="TextBox 11"/>
          <p:cNvSpPr txBox="1"/>
          <p:nvPr/>
        </p:nvSpPr>
        <p:spPr>
          <a:xfrm>
            <a:off x="1028700" y="981075"/>
            <a:ext cx="2836917" cy="433564"/>
          </a:xfrm>
          <a:prstGeom prst="rect">
            <a:avLst/>
          </a:prstGeom>
        </p:spPr>
        <p:txBody>
          <a:bodyPr lIns="0" tIns="0" rIns="0" bIns="0" rtlCol="0" anchor="t">
            <a:spAutoFit/>
          </a:bodyPr>
          <a:lstStyle/>
          <a:p>
            <a:pPr algn="l">
              <a:lnSpc>
                <a:spcPts val="3620"/>
              </a:lnSpc>
              <a:spcBef>
                <a:spcPct val="0"/>
              </a:spcBef>
            </a:pPr>
            <a:r>
              <a:rPr lang="en-US" sz="2586" b="1">
                <a:solidFill>
                  <a:srgbClr val="02C2FF"/>
                </a:solidFill>
                <a:latin typeface="Montserrat Bold"/>
                <a:ea typeface="Montserrat Bold"/>
                <a:cs typeface="Montserrat Bold"/>
                <a:sym typeface="Montserrat Bold"/>
              </a:rPr>
              <a:t>Description</a:t>
            </a:r>
          </a:p>
        </p:txBody>
      </p:sp>
      <p:sp>
        <p:nvSpPr>
          <p:cNvPr id="12" name="TextBox 12"/>
          <p:cNvSpPr txBox="1"/>
          <p:nvPr/>
        </p:nvSpPr>
        <p:spPr>
          <a:xfrm>
            <a:off x="10669673" y="4709936"/>
            <a:ext cx="2836917" cy="433564"/>
          </a:xfrm>
          <a:prstGeom prst="rect">
            <a:avLst/>
          </a:prstGeom>
        </p:spPr>
        <p:txBody>
          <a:bodyPr lIns="0" tIns="0" rIns="0" bIns="0" rtlCol="0" anchor="t">
            <a:spAutoFit/>
          </a:bodyPr>
          <a:lstStyle/>
          <a:p>
            <a:pPr algn="l">
              <a:lnSpc>
                <a:spcPts val="3620"/>
              </a:lnSpc>
              <a:spcBef>
                <a:spcPct val="0"/>
              </a:spcBef>
            </a:pPr>
            <a:r>
              <a:rPr lang="en-US" sz="2586" b="1">
                <a:solidFill>
                  <a:srgbClr val="02C2FF"/>
                </a:solidFill>
                <a:latin typeface="Montserrat Bold"/>
                <a:ea typeface="Montserrat Bold"/>
                <a:cs typeface="Montserrat Bold"/>
                <a:sym typeface="Montserrat Bold"/>
              </a:rPr>
              <a:t>KEY FEATURES</a:t>
            </a:r>
          </a:p>
        </p:txBody>
      </p:sp>
      <p:sp>
        <p:nvSpPr>
          <p:cNvPr id="13" name="TextBox 13"/>
          <p:cNvSpPr txBox="1"/>
          <p:nvPr/>
        </p:nvSpPr>
        <p:spPr>
          <a:xfrm>
            <a:off x="1346863" y="6067511"/>
            <a:ext cx="7581900" cy="1297808"/>
          </a:xfrm>
          <a:prstGeom prst="rect">
            <a:avLst/>
          </a:prstGeom>
        </p:spPr>
        <p:txBody>
          <a:bodyPr lIns="0" tIns="0" rIns="0" bIns="0" rtlCol="0" anchor="t">
            <a:spAutoFit/>
          </a:bodyPr>
          <a:lstStyle/>
          <a:p>
            <a:pPr algn="l">
              <a:lnSpc>
                <a:spcPts val="10517"/>
              </a:lnSpc>
            </a:pPr>
            <a:r>
              <a:rPr lang="en-US" sz="8216" i="1">
                <a:solidFill>
                  <a:srgbClr val="FFFFFF"/>
                </a:solidFill>
                <a:latin typeface="Anton Italics"/>
                <a:ea typeface="Anton Italics"/>
                <a:cs typeface="Anton Italics"/>
                <a:sym typeface="Anton Italics"/>
              </a:rPr>
              <a:t>MODULE 6</a:t>
            </a:r>
          </a:p>
        </p:txBody>
      </p:sp>
      <p:sp>
        <p:nvSpPr>
          <p:cNvPr id="14" name="TextBox 14"/>
          <p:cNvSpPr txBox="1"/>
          <p:nvPr/>
        </p:nvSpPr>
        <p:spPr>
          <a:xfrm>
            <a:off x="1028700" y="1677597"/>
            <a:ext cx="8469215" cy="1507882"/>
          </a:xfrm>
          <a:prstGeom prst="rect">
            <a:avLst/>
          </a:prstGeom>
        </p:spPr>
        <p:txBody>
          <a:bodyPr lIns="0" tIns="0" rIns="0" bIns="0" rtlCol="0" anchor="t">
            <a:spAutoFit/>
          </a:bodyPr>
          <a:lstStyle/>
          <a:p>
            <a:pPr algn="just">
              <a:lnSpc>
                <a:spcPts val="3074"/>
              </a:lnSpc>
            </a:pPr>
            <a:r>
              <a:rPr lang="en-US" sz="2794" i="1" spc="-114">
                <a:solidFill>
                  <a:srgbClr val="FFFFFF"/>
                </a:solidFill>
                <a:latin typeface="Montserrat Italics"/>
                <a:ea typeface="Montserrat Italics"/>
                <a:cs typeface="Montserrat Italics"/>
                <a:sym typeface="Montserrat Italics"/>
              </a:rPr>
              <a:t>The Exercise Tutorial Module provides instructional videos and guides for different workouts. It helps users learn the correct exercise techniques and reduces the risk of injury during workouts.</a:t>
            </a:r>
          </a:p>
        </p:txBody>
      </p:sp>
      <p:sp>
        <p:nvSpPr>
          <p:cNvPr id="15" name="TextBox 15"/>
          <p:cNvSpPr txBox="1"/>
          <p:nvPr/>
        </p:nvSpPr>
        <p:spPr>
          <a:xfrm>
            <a:off x="10383588" y="5141610"/>
            <a:ext cx="7904412" cy="1491914"/>
          </a:xfrm>
          <a:prstGeom prst="rect">
            <a:avLst/>
          </a:prstGeom>
        </p:spPr>
        <p:txBody>
          <a:bodyPr lIns="0" tIns="0" rIns="0" bIns="0" rtlCol="0" anchor="t">
            <a:spAutoFit/>
          </a:bodyPr>
          <a:lstStyle/>
          <a:p>
            <a:pPr marL="588011" lvl="1" indent="-294006" algn="l">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Exercise tutorial videos</a:t>
            </a:r>
          </a:p>
          <a:p>
            <a:pPr marL="588011" lvl="1" indent="-294006" algn="l">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Step-by-step workout instructions</a:t>
            </a:r>
          </a:p>
          <a:p>
            <a:pPr marL="588011" lvl="1" indent="-294006" algn="l">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Equipment usage guidance</a:t>
            </a:r>
          </a:p>
          <a:p>
            <a:pPr marL="588011" lvl="1" indent="-294006" algn="l">
              <a:lnSpc>
                <a:spcPts val="2995"/>
              </a:lnSpc>
              <a:buFont typeface="Arial"/>
              <a:buChar char="•"/>
            </a:pPr>
            <a:r>
              <a:rPr lang="en-US" sz="2723" i="1" spc="-111">
                <a:solidFill>
                  <a:srgbClr val="FFFFFF"/>
                </a:solidFill>
                <a:latin typeface="Montserrat Italics"/>
                <a:ea typeface="Montserrat Italics"/>
                <a:cs typeface="Montserrat Italics"/>
                <a:sym typeface="Montserrat Italics"/>
              </a:rPr>
              <a:t>Safe exercise practices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sp>
        <p:nvSpPr>
          <p:cNvPr id="2" name="TextBox 2"/>
          <p:cNvSpPr txBox="1"/>
          <p:nvPr/>
        </p:nvSpPr>
        <p:spPr>
          <a:xfrm>
            <a:off x="1527929" y="469210"/>
            <a:ext cx="15232142" cy="1566544"/>
          </a:xfrm>
          <a:prstGeom prst="rect">
            <a:avLst/>
          </a:prstGeom>
        </p:spPr>
        <p:txBody>
          <a:bodyPr lIns="0" tIns="0" rIns="0" bIns="0" rtlCol="0" anchor="t">
            <a:spAutoFit/>
          </a:bodyPr>
          <a:lstStyle/>
          <a:p>
            <a:pPr algn="ctr">
              <a:lnSpc>
                <a:spcPts val="12880"/>
              </a:lnSpc>
            </a:pPr>
            <a:r>
              <a:rPr lang="en-US" sz="9200">
                <a:solidFill>
                  <a:srgbClr val="02C2FF"/>
                </a:solidFill>
                <a:latin typeface="League Spartan"/>
                <a:ea typeface="League Spartan"/>
                <a:cs typeface="League Spartan"/>
                <a:sym typeface="League Spartan"/>
              </a:rPr>
              <a:t>Limitations &amp; Constraints</a:t>
            </a:r>
          </a:p>
        </p:txBody>
      </p:sp>
      <p:grpSp>
        <p:nvGrpSpPr>
          <p:cNvPr id="3" name="Group 3"/>
          <p:cNvGrpSpPr/>
          <p:nvPr/>
        </p:nvGrpSpPr>
        <p:grpSpPr>
          <a:xfrm>
            <a:off x="780308" y="3041049"/>
            <a:ext cx="3810742" cy="801067"/>
            <a:chOff x="0" y="0"/>
            <a:chExt cx="1003652" cy="210981"/>
          </a:xfrm>
        </p:grpSpPr>
        <p:sp>
          <p:nvSpPr>
            <p:cNvPr id="4" name="Freeform 4"/>
            <p:cNvSpPr/>
            <p:nvPr/>
          </p:nvSpPr>
          <p:spPr>
            <a:xfrm>
              <a:off x="0" y="0"/>
              <a:ext cx="1003652" cy="210981"/>
            </a:xfrm>
            <a:custGeom>
              <a:avLst/>
              <a:gdLst/>
              <a:ahLst/>
              <a:cxnLst/>
              <a:rect l="l" t="t" r="r" b="b"/>
              <a:pathLst>
                <a:path w="1003652" h="210981">
                  <a:moveTo>
                    <a:pt x="103612" y="0"/>
                  </a:moveTo>
                  <a:lnTo>
                    <a:pt x="900040" y="0"/>
                  </a:lnTo>
                  <a:cubicBezTo>
                    <a:pt x="927520" y="0"/>
                    <a:pt x="953874" y="10916"/>
                    <a:pt x="973305" y="30347"/>
                  </a:cubicBezTo>
                  <a:cubicBezTo>
                    <a:pt x="992736" y="49778"/>
                    <a:pt x="1003652" y="76132"/>
                    <a:pt x="1003652" y="103612"/>
                  </a:cubicBezTo>
                  <a:lnTo>
                    <a:pt x="1003652" y="107369"/>
                  </a:lnTo>
                  <a:cubicBezTo>
                    <a:pt x="1003652" y="164592"/>
                    <a:pt x="957263" y="210981"/>
                    <a:pt x="900040" y="210981"/>
                  </a:cubicBezTo>
                  <a:lnTo>
                    <a:pt x="103612" y="210981"/>
                  </a:lnTo>
                  <a:cubicBezTo>
                    <a:pt x="76132" y="210981"/>
                    <a:pt x="49778" y="200064"/>
                    <a:pt x="30347" y="180633"/>
                  </a:cubicBezTo>
                  <a:cubicBezTo>
                    <a:pt x="10916" y="161202"/>
                    <a:pt x="0" y="134848"/>
                    <a:pt x="0" y="107369"/>
                  </a:cubicBezTo>
                  <a:lnTo>
                    <a:pt x="0" y="103612"/>
                  </a:lnTo>
                  <a:cubicBezTo>
                    <a:pt x="0" y="76132"/>
                    <a:pt x="10916" y="49778"/>
                    <a:pt x="30347" y="30347"/>
                  </a:cubicBezTo>
                  <a:cubicBezTo>
                    <a:pt x="49778" y="10916"/>
                    <a:pt x="76132" y="0"/>
                    <a:pt x="103612" y="0"/>
                  </a:cubicBezTo>
                  <a:close/>
                </a:path>
              </a:pathLst>
            </a:custGeom>
            <a:solidFill>
              <a:srgbClr val="EFEFEF"/>
            </a:solidFill>
          </p:spPr>
        </p:sp>
        <p:sp>
          <p:nvSpPr>
            <p:cNvPr id="5" name="TextBox 5"/>
            <p:cNvSpPr txBox="1"/>
            <p:nvPr/>
          </p:nvSpPr>
          <p:spPr>
            <a:xfrm>
              <a:off x="0" y="-66675"/>
              <a:ext cx="1003652" cy="277656"/>
            </a:xfrm>
            <a:prstGeom prst="rect">
              <a:avLst/>
            </a:prstGeom>
          </p:spPr>
          <p:txBody>
            <a:bodyPr lIns="50800" tIns="50800" rIns="50800" bIns="50800" rtlCol="0" anchor="ctr"/>
            <a:lstStyle/>
            <a:p>
              <a:pPr algn="ctr">
                <a:lnSpc>
                  <a:spcPts val="3151"/>
                </a:lnSpc>
              </a:pPr>
              <a:r>
                <a:rPr lang="en-US" sz="2251" b="1">
                  <a:solidFill>
                    <a:srgbClr val="3168AB"/>
                  </a:solidFill>
                  <a:latin typeface="Poppins Bold"/>
                  <a:ea typeface="Poppins Bold"/>
                  <a:cs typeface="Poppins Bold"/>
                  <a:sym typeface="Poppins Bold"/>
                </a:rPr>
                <a:t>User Accountability:</a:t>
              </a:r>
            </a:p>
          </p:txBody>
        </p:sp>
      </p:grpSp>
      <p:grpSp>
        <p:nvGrpSpPr>
          <p:cNvPr id="6" name="Group 6"/>
          <p:cNvGrpSpPr/>
          <p:nvPr/>
        </p:nvGrpSpPr>
        <p:grpSpPr>
          <a:xfrm>
            <a:off x="5084867" y="3041049"/>
            <a:ext cx="3810742" cy="801067"/>
            <a:chOff x="0" y="0"/>
            <a:chExt cx="1003652" cy="210981"/>
          </a:xfrm>
        </p:grpSpPr>
        <p:sp>
          <p:nvSpPr>
            <p:cNvPr id="7" name="Freeform 7"/>
            <p:cNvSpPr/>
            <p:nvPr/>
          </p:nvSpPr>
          <p:spPr>
            <a:xfrm>
              <a:off x="0" y="0"/>
              <a:ext cx="1003652" cy="210981"/>
            </a:xfrm>
            <a:custGeom>
              <a:avLst/>
              <a:gdLst/>
              <a:ahLst/>
              <a:cxnLst/>
              <a:rect l="l" t="t" r="r" b="b"/>
              <a:pathLst>
                <a:path w="1003652" h="210981">
                  <a:moveTo>
                    <a:pt x="103612" y="0"/>
                  </a:moveTo>
                  <a:lnTo>
                    <a:pt x="900040" y="0"/>
                  </a:lnTo>
                  <a:cubicBezTo>
                    <a:pt x="927520" y="0"/>
                    <a:pt x="953874" y="10916"/>
                    <a:pt x="973305" y="30347"/>
                  </a:cubicBezTo>
                  <a:cubicBezTo>
                    <a:pt x="992736" y="49778"/>
                    <a:pt x="1003652" y="76132"/>
                    <a:pt x="1003652" y="103612"/>
                  </a:cubicBezTo>
                  <a:lnTo>
                    <a:pt x="1003652" y="107369"/>
                  </a:lnTo>
                  <a:cubicBezTo>
                    <a:pt x="1003652" y="164592"/>
                    <a:pt x="957263" y="210981"/>
                    <a:pt x="900040" y="210981"/>
                  </a:cubicBezTo>
                  <a:lnTo>
                    <a:pt x="103612" y="210981"/>
                  </a:lnTo>
                  <a:cubicBezTo>
                    <a:pt x="76132" y="210981"/>
                    <a:pt x="49778" y="200064"/>
                    <a:pt x="30347" y="180633"/>
                  </a:cubicBezTo>
                  <a:cubicBezTo>
                    <a:pt x="10916" y="161202"/>
                    <a:pt x="0" y="134848"/>
                    <a:pt x="0" y="107369"/>
                  </a:cubicBezTo>
                  <a:lnTo>
                    <a:pt x="0" y="103612"/>
                  </a:lnTo>
                  <a:cubicBezTo>
                    <a:pt x="0" y="76132"/>
                    <a:pt x="10916" y="49778"/>
                    <a:pt x="30347" y="30347"/>
                  </a:cubicBezTo>
                  <a:cubicBezTo>
                    <a:pt x="49778" y="10916"/>
                    <a:pt x="76132" y="0"/>
                    <a:pt x="103612" y="0"/>
                  </a:cubicBezTo>
                  <a:close/>
                </a:path>
              </a:pathLst>
            </a:custGeom>
            <a:solidFill>
              <a:srgbClr val="EFEFEF"/>
            </a:solidFill>
          </p:spPr>
        </p:sp>
        <p:sp>
          <p:nvSpPr>
            <p:cNvPr id="8" name="TextBox 8"/>
            <p:cNvSpPr txBox="1"/>
            <p:nvPr/>
          </p:nvSpPr>
          <p:spPr>
            <a:xfrm>
              <a:off x="0" y="-66675"/>
              <a:ext cx="1003652" cy="277656"/>
            </a:xfrm>
            <a:prstGeom prst="rect">
              <a:avLst/>
            </a:prstGeom>
          </p:spPr>
          <p:txBody>
            <a:bodyPr lIns="50800" tIns="50800" rIns="50800" bIns="50800" rtlCol="0" anchor="ctr"/>
            <a:lstStyle/>
            <a:p>
              <a:pPr algn="ctr">
                <a:lnSpc>
                  <a:spcPts val="3151"/>
                </a:lnSpc>
              </a:pPr>
              <a:r>
                <a:rPr lang="en-US" sz="2251" b="1">
                  <a:solidFill>
                    <a:srgbClr val="3168AB"/>
                  </a:solidFill>
                  <a:latin typeface="Poppins Bold"/>
                  <a:ea typeface="Poppins Bold"/>
                  <a:cs typeface="Poppins Bold"/>
                  <a:sym typeface="Poppins Bold"/>
                </a:rPr>
                <a:t>Connectivity:</a:t>
              </a:r>
            </a:p>
          </p:txBody>
        </p:sp>
      </p:grpSp>
      <p:grpSp>
        <p:nvGrpSpPr>
          <p:cNvPr id="9" name="Group 9"/>
          <p:cNvGrpSpPr/>
          <p:nvPr/>
        </p:nvGrpSpPr>
        <p:grpSpPr>
          <a:xfrm>
            <a:off x="9390908" y="3041049"/>
            <a:ext cx="3810742" cy="801067"/>
            <a:chOff x="0" y="0"/>
            <a:chExt cx="1003652" cy="210981"/>
          </a:xfrm>
        </p:grpSpPr>
        <p:sp>
          <p:nvSpPr>
            <p:cNvPr id="10" name="Freeform 10"/>
            <p:cNvSpPr/>
            <p:nvPr/>
          </p:nvSpPr>
          <p:spPr>
            <a:xfrm>
              <a:off x="0" y="0"/>
              <a:ext cx="1003652" cy="210981"/>
            </a:xfrm>
            <a:custGeom>
              <a:avLst/>
              <a:gdLst/>
              <a:ahLst/>
              <a:cxnLst/>
              <a:rect l="l" t="t" r="r" b="b"/>
              <a:pathLst>
                <a:path w="1003652" h="210981">
                  <a:moveTo>
                    <a:pt x="103612" y="0"/>
                  </a:moveTo>
                  <a:lnTo>
                    <a:pt x="900040" y="0"/>
                  </a:lnTo>
                  <a:cubicBezTo>
                    <a:pt x="927520" y="0"/>
                    <a:pt x="953874" y="10916"/>
                    <a:pt x="973305" y="30347"/>
                  </a:cubicBezTo>
                  <a:cubicBezTo>
                    <a:pt x="992736" y="49778"/>
                    <a:pt x="1003652" y="76132"/>
                    <a:pt x="1003652" y="103612"/>
                  </a:cubicBezTo>
                  <a:lnTo>
                    <a:pt x="1003652" y="107369"/>
                  </a:lnTo>
                  <a:cubicBezTo>
                    <a:pt x="1003652" y="164592"/>
                    <a:pt x="957263" y="210981"/>
                    <a:pt x="900040" y="210981"/>
                  </a:cubicBezTo>
                  <a:lnTo>
                    <a:pt x="103612" y="210981"/>
                  </a:lnTo>
                  <a:cubicBezTo>
                    <a:pt x="76132" y="210981"/>
                    <a:pt x="49778" y="200064"/>
                    <a:pt x="30347" y="180633"/>
                  </a:cubicBezTo>
                  <a:cubicBezTo>
                    <a:pt x="10916" y="161202"/>
                    <a:pt x="0" y="134848"/>
                    <a:pt x="0" y="107369"/>
                  </a:cubicBezTo>
                  <a:lnTo>
                    <a:pt x="0" y="103612"/>
                  </a:lnTo>
                  <a:cubicBezTo>
                    <a:pt x="0" y="76132"/>
                    <a:pt x="10916" y="49778"/>
                    <a:pt x="30347" y="30347"/>
                  </a:cubicBezTo>
                  <a:cubicBezTo>
                    <a:pt x="49778" y="10916"/>
                    <a:pt x="76132" y="0"/>
                    <a:pt x="103612" y="0"/>
                  </a:cubicBezTo>
                  <a:close/>
                </a:path>
              </a:pathLst>
            </a:custGeom>
            <a:solidFill>
              <a:srgbClr val="EFEFEF"/>
            </a:solidFill>
          </p:spPr>
        </p:sp>
        <p:sp>
          <p:nvSpPr>
            <p:cNvPr id="11" name="TextBox 11"/>
            <p:cNvSpPr txBox="1"/>
            <p:nvPr/>
          </p:nvSpPr>
          <p:spPr>
            <a:xfrm>
              <a:off x="0" y="-66675"/>
              <a:ext cx="1003652" cy="277656"/>
            </a:xfrm>
            <a:prstGeom prst="rect">
              <a:avLst/>
            </a:prstGeom>
          </p:spPr>
          <p:txBody>
            <a:bodyPr lIns="50800" tIns="50800" rIns="50800" bIns="50800" rtlCol="0" anchor="ctr"/>
            <a:lstStyle/>
            <a:p>
              <a:pPr algn="ctr">
                <a:lnSpc>
                  <a:spcPts val="3151"/>
                </a:lnSpc>
              </a:pPr>
              <a:r>
                <a:rPr lang="en-US" sz="2251" b="1">
                  <a:solidFill>
                    <a:srgbClr val="3168AB"/>
                  </a:solidFill>
                  <a:latin typeface="Poppins Bold"/>
                  <a:ea typeface="Poppins Bold"/>
                  <a:cs typeface="Poppins Bold"/>
                  <a:sym typeface="Poppins Bold"/>
                </a:rPr>
                <a:t>Payment Simulation:</a:t>
              </a:r>
            </a:p>
          </p:txBody>
        </p:sp>
      </p:grpSp>
      <p:grpSp>
        <p:nvGrpSpPr>
          <p:cNvPr id="12" name="Group 12"/>
          <p:cNvGrpSpPr/>
          <p:nvPr/>
        </p:nvGrpSpPr>
        <p:grpSpPr>
          <a:xfrm>
            <a:off x="13696950" y="3041049"/>
            <a:ext cx="3810742" cy="801067"/>
            <a:chOff x="0" y="0"/>
            <a:chExt cx="1003652" cy="210981"/>
          </a:xfrm>
        </p:grpSpPr>
        <p:sp>
          <p:nvSpPr>
            <p:cNvPr id="13" name="Freeform 13"/>
            <p:cNvSpPr/>
            <p:nvPr/>
          </p:nvSpPr>
          <p:spPr>
            <a:xfrm>
              <a:off x="0" y="0"/>
              <a:ext cx="1003652" cy="210981"/>
            </a:xfrm>
            <a:custGeom>
              <a:avLst/>
              <a:gdLst/>
              <a:ahLst/>
              <a:cxnLst/>
              <a:rect l="l" t="t" r="r" b="b"/>
              <a:pathLst>
                <a:path w="1003652" h="210981">
                  <a:moveTo>
                    <a:pt x="103612" y="0"/>
                  </a:moveTo>
                  <a:lnTo>
                    <a:pt x="900040" y="0"/>
                  </a:lnTo>
                  <a:cubicBezTo>
                    <a:pt x="927520" y="0"/>
                    <a:pt x="953874" y="10916"/>
                    <a:pt x="973305" y="30347"/>
                  </a:cubicBezTo>
                  <a:cubicBezTo>
                    <a:pt x="992736" y="49778"/>
                    <a:pt x="1003652" y="76132"/>
                    <a:pt x="1003652" y="103612"/>
                  </a:cubicBezTo>
                  <a:lnTo>
                    <a:pt x="1003652" y="107369"/>
                  </a:lnTo>
                  <a:cubicBezTo>
                    <a:pt x="1003652" y="164592"/>
                    <a:pt x="957263" y="210981"/>
                    <a:pt x="900040" y="210981"/>
                  </a:cubicBezTo>
                  <a:lnTo>
                    <a:pt x="103612" y="210981"/>
                  </a:lnTo>
                  <a:cubicBezTo>
                    <a:pt x="76132" y="210981"/>
                    <a:pt x="49778" y="200064"/>
                    <a:pt x="30347" y="180633"/>
                  </a:cubicBezTo>
                  <a:cubicBezTo>
                    <a:pt x="10916" y="161202"/>
                    <a:pt x="0" y="134848"/>
                    <a:pt x="0" y="107369"/>
                  </a:cubicBezTo>
                  <a:lnTo>
                    <a:pt x="0" y="103612"/>
                  </a:lnTo>
                  <a:cubicBezTo>
                    <a:pt x="0" y="76132"/>
                    <a:pt x="10916" y="49778"/>
                    <a:pt x="30347" y="30347"/>
                  </a:cubicBezTo>
                  <a:cubicBezTo>
                    <a:pt x="49778" y="10916"/>
                    <a:pt x="76132" y="0"/>
                    <a:pt x="103612" y="0"/>
                  </a:cubicBezTo>
                  <a:close/>
                </a:path>
              </a:pathLst>
            </a:custGeom>
            <a:solidFill>
              <a:srgbClr val="EFEFEF"/>
            </a:solidFill>
          </p:spPr>
        </p:sp>
        <p:sp>
          <p:nvSpPr>
            <p:cNvPr id="14" name="TextBox 14"/>
            <p:cNvSpPr txBox="1"/>
            <p:nvPr/>
          </p:nvSpPr>
          <p:spPr>
            <a:xfrm>
              <a:off x="0" y="-66675"/>
              <a:ext cx="1003652" cy="277656"/>
            </a:xfrm>
            <a:prstGeom prst="rect">
              <a:avLst/>
            </a:prstGeom>
          </p:spPr>
          <p:txBody>
            <a:bodyPr lIns="50800" tIns="50800" rIns="50800" bIns="50800" rtlCol="0" anchor="ctr"/>
            <a:lstStyle/>
            <a:p>
              <a:pPr algn="ctr">
                <a:lnSpc>
                  <a:spcPts val="3151"/>
                </a:lnSpc>
              </a:pPr>
              <a:r>
                <a:rPr lang="en-US" sz="2251" b="1">
                  <a:solidFill>
                    <a:srgbClr val="3168AB"/>
                  </a:solidFill>
                  <a:latin typeface="Poppins Bold"/>
                  <a:ea typeface="Poppins Bold"/>
                  <a:cs typeface="Poppins Bold"/>
                  <a:sym typeface="Poppins Bold"/>
                </a:rPr>
                <a:t>Content Scope: </a:t>
              </a:r>
            </a:p>
          </p:txBody>
        </p:sp>
      </p:grpSp>
      <p:sp>
        <p:nvSpPr>
          <p:cNvPr id="15" name="TextBox 15"/>
          <p:cNvSpPr txBox="1"/>
          <p:nvPr/>
        </p:nvSpPr>
        <p:spPr>
          <a:xfrm>
            <a:off x="11123341" y="2197714"/>
            <a:ext cx="172938" cy="409541"/>
          </a:xfrm>
          <a:prstGeom prst="rect">
            <a:avLst/>
          </a:prstGeom>
        </p:spPr>
        <p:txBody>
          <a:bodyPr lIns="0" tIns="0" rIns="0" bIns="0" rtlCol="0" anchor="t">
            <a:spAutoFit/>
          </a:bodyPr>
          <a:lstStyle/>
          <a:p>
            <a:pPr algn="ctr">
              <a:lnSpc>
                <a:spcPts val="3151"/>
              </a:lnSpc>
              <a:spcBef>
                <a:spcPct val="0"/>
              </a:spcBef>
            </a:pPr>
            <a:r>
              <a:rPr lang="en-US" sz="2251" b="1">
                <a:solidFill>
                  <a:srgbClr val="FFFFFF"/>
                </a:solidFill>
                <a:latin typeface="Poppins Bold"/>
                <a:ea typeface="Poppins Bold"/>
                <a:cs typeface="Poppins Bold"/>
                <a:sym typeface="Poppins Bold"/>
              </a:rPr>
              <a:t>3</a:t>
            </a:r>
          </a:p>
        </p:txBody>
      </p:sp>
      <p:sp>
        <p:nvSpPr>
          <p:cNvPr id="16" name="TextBox 16"/>
          <p:cNvSpPr txBox="1"/>
          <p:nvPr/>
        </p:nvSpPr>
        <p:spPr>
          <a:xfrm>
            <a:off x="15467070" y="2174273"/>
            <a:ext cx="193625" cy="409541"/>
          </a:xfrm>
          <a:prstGeom prst="rect">
            <a:avLst/>
          </a:prstGeom>
        </p:spPr>
        <p:txBody>
          <a:bodyPr lIns="0" tIns="0" rIns="0" bIns="0" rtlCol="0" anchor="t">
            <a:spAutoFit/>
          </a:bodyPr>
          <a:lstStyle/>
          <a:p>
            <a:pPr algn="ctr">
              <a:lnSpc>
                <a:spcPts val="3151"/>
              </a:lnSpc>
              <a:spcBef>
                <a:spcPct val="0"/>
              </a:spcBef>
            </a:pPr>
            <a:r>
              <a:rPr lang="en-US" sz="2251" b="1">
                <a:solidFill>
                  <a:srgbClr val="FFFFFF"/>
                </a:solidFill>
                <a:latin typeface="Poppins Bold"/>
                <a:ea typeface="Poppins Bold"/>
                <a:cs typeface="Poppins Bold"/>
                <a:sym typeface="Poppins Bold"/>
              </a:rPr>
              <a:t>4</a:t>
            </a:r>
          </a:p>
        </p:txBody>
      </p:sp>
      <p:grpSp>
        <p:nvGrpSpPr>
          <p:cNvPr id="17" name="Group 17"/>
          <p:cNvGrpSpPr/>
          <p:nvPr/>
        </p:nvGrpSpPr>
        <p:grpSpPr>
          <a:xfrm>
            <a:off x="883293" y="4375516"/>
            <a:ext cx="3604773" cy="3656945"/>
            <a:chOff x="0" y="0"/>
            <a:chExt cx="4806364" cy="4875927"/>
          </a:xfrm>
        </p:grpSpPr>
        <p:grpSp>
          <p:nvGrpSpPr>
            <p:cNvPr id="18" name="Group 18"/>
            <p:cNvGrpSpPr/>
            <p:nvPr/>
          </p:nvGrpSpPr>
          <p:grpSpPr>
            <a:xfrm>
              <a:off x="0" y="0"/>
              <a:ext cx="4806364" cy="4875927"/>
              <a:chOff x="0" y="0"/>
              <a:chExt cx="1358475" cy="1378136"/>
            </a:xfrm>
          </p:grpSpPr>
          <p:sp>
            <p:nvSpPr>
              <p:cNvPr id="19" name="Freeform 19"/>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gradFill rotWithShape="1">
                <a:gsLst>
                  <a:gs pos="0">
                    <a:srgbClr val="287EFF">
                      <a:alpha val="100000"/>
                    </a:srgbClr>
                  </a:gs>
                  <a:gs pos="100000">
                    <a:srgbClr val="1FB5FF">
                      <a:alpha val="100000"/>
                    </a:srgbClr>
                  </a:gs>
                </a:gsLst>
                <a:lin ang="0"/>
              </a:gradFill>
            </p:spPr>
          </p:sp>
          <p:sp>
            <p:nvSpPr>
              <p:cNvPr id="20" name="TextBox 20"/>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21"/>
            <p:cNvSpPr txBox="1"/>
            <p:nvPr/>
          </p:nvSpPr>
          <p:spPr>
            <a:xfrm>
              <a:off x="238326" y="238043"/>
              <a:ext cx="4329711" cy="4333165"/>
            </a:xfrm>
            <a:prstGeom prst="rect">
              <a:avLst/>
            </a:prstGeom>
          </p:spPr>
          <p:txBody>
            <a:bodyPr lIns="0" tIns="0" rIns="0" bIns="0" rtlCol="0" anchor="t">
              <a:spAutoFit/>
            </a:bodyPr>
            <a:lstStyle/>
            <a:p>
              <a:pPr algn="ctr">
                <a:lnSpc>
                  <a:spcPts val="3676"/>
                </a:lnSpc>
                <a:spcBef>
                  <a:spcPct val="0"/>
                </a:spcBef>
              </a:pPr>
              <a:r>
                <a:rPr lang="en-US" sz="2626" b="1">
                  <a:solidFill>
                    <a:srgbClr val="FFFFFF"/>
                  </a:solidFill>
                  <a:latin typeface="Poppins Bold"/>
                  <a:ea typeface="Poppins Bold"/>
                  <a:cs typeface="Poppins Bold"/>
                  <a:sym typeface="Poppins Bold"/>
                </a:rPr>
                <a:t> The system relies on self-reported workout data; it cannot physically verify if a user completed their set.</a:t>
              </a:r>
            </a:p>
          </p:txBody>
        </p:sp>
      </p:grpSp>
      <p:grpSp>
        <p:nvGrpSpPr>
          <p:cNvPr id="22" name="Group 22"/>
          <p:cNvGrpSpPr/>
          <p:nvPr/>
        </p:nvGrpSpPr>
        <p:grpSpPr>
          <a:xfrm>
            <a:off x="5215682" y="4375516"/>
            <a:ext cx="3604773" cy="3656945"/>
            <a:chOff x="0" y="0"/>
            <a:chExt cx="4806364" cy="4875927"/>
          </a:xfrm>
        </p:grpSpPr>
        <p:grpSp>
          <p:nvGrpSpPr>
            <p:cNvPr id="23" name="Group 23"/>
            <p:cNvGrpSpPr/>
            <p:nvPr/>
          </p:nvGrpSpPr>
          <p:grpSpPr>
            <a:xfrm>
              <a:off x="0" y="0"/>
              <a:ext cx="4806364" cy="4875927"/>
              <a:chOff x="0" y="0"/>
              <a:chExt cx="1358475" cy="1378136"/>
            </a:xfrm>
          </p:grpSpPr>
          <p:sp>
            <p:nvSpPr>
              <p:cNvPr id="24" name="Freeform 24"/>
              <p:cNvSpPr/>
              <p:nvPr/>
            </p:nvSpPr>
            <p:spPr>
              <a:xfrm>
                <a:off x="0" y="0"/>
                <a:ext cx="1358475" cy="1378136"/>
              </a:xfrm>
              <a:custGeom>
                <a:avLst/>
                <a:gdLst/>
                <a:ahLst/>
                <a:cxnLst/>
                <a:rect l="l" t="t" r="r" b="b"/>
                <a:pathLst>
                  <a:path w="1358475" h="1378136">
                    <a:moveTo>
                      <a:pt x="62283" y="0"/>
                    </a:moveTo>
                    <a:lnTo>
                      <a:pt x="1296192" y="0"/>
                    </a:lnTo>
                    <a:cubicBezTo>
                      <a:pt x="1312710" y="0"/>
                      <a:pt x="1328552" y="6562"/>
                      <a:pt x="1340233" y="18242"/>
                    </a:cubicBezTo>
                    <a:cubicBezTo>
                      <a:pt x="1351913" y="29923"/>
                      <a:pt x="1358475" y="45764"/>
                      <a:pt x="1358475" y="62283"/>
                    </a:cubicBezTo>
                    <a:lnTo>
                      <a:pt x="1358475" y="1315853"/>
                    </a:lnTo>
                    <a:cubicBezTo>
                      <a:pt x="1358475" y="1332372"/>
                      <a:pt x="1351913" y="1348214"/>
                      <a:pt x="1340233" y="1359894"/>
                    </a:cubicBezTo>
                    <a:cubicBezTo>
                      <a:pt x="1328552" y="1371574"/>
                      <a:pt x="1312710" y="1378136"/>
                      <a:pt x="1296192" y="1378136"/>
                    </a:cubicBezTo>
                    <a:lnTo>
                      <a:pt x="62283" y="1378136"/>
                    </a:lnTo>
                    <a:cubicBezTo>
                      <a:pt x="45764" y="1378136"/>
                      <a:pt x="29923" y="1371574"/>
                      <a:pt x="18242" y="1359894"/>
                    </a:cubicBezTo>
                    <a:cubicBezTo>
                      <a:pt x="6562" y="1348214"/>
                      <a:pt x="0" y="1332372"/>
                      <a:pt x="0" y="1315853"/>
                    </a:cubicBezTo>
                    <a:lnTo>
                      <a:pt x="0" y="62283"/>
                    </a:lnTo>
                    <a:cubicBezTo>
                      <a:pt x="0" y="45764"/>
                      <a:pt x="6562" y="29923"/>
                      <a:pt x="18242" y="18242"/>
                    </a:cubicBezTo>
                    <a:cubicBezTo>
                      <a:pt x="29923" y="6562"/>
                      <a:pt x="45764" y="0"/>
                      <a:pt x="62283" y="0"/>
                    </a:cubicBezTo>
                    <a:close/>
                  </a:path>
                </a:pathLst>
              </a:custGeom>
              <a:ln w="38100" cap="rnd">
                <a:gradFill>
                  <a:gsLst>
                    <a:gs pos="0">
                      <a:srgbClr val="287EFF">
                        <a:alpha val="100000"/>
                      </a:srgbClr>
                    </a:gs>
                    <a:gs pos="100000">
                      <a:srgbClr val="1FB5FF">
                        <a:alpha val="100000"/>
                      </a:srgbClr>
                    </a:gs>
                  </a:gsLst>
                  <a:lin ang="0"/>
                </a:gradFill>
                <a:prstDash val="solid"/>
                <a:round/>
              </a:ln>
            </p:spPr>
          </p:sp>
          <p:sp>
            <p:nvSpPr>
              <p:cNvPr id="25" name="TextBox 25"/>
              <p:cNvSpPr txBox="1"/>
              <p:nvPr/>
            </p:nvSpPr>
            <p:spPr>
              <a:xfrm>
                <a:off x="0" y="-38100"/>
                <a:ext cx="1358475" cy="1416236"/>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p:cNvSpPr txBox="1"/>
            <p:nvPr/>
          </p:nvSpPr>
          <p:spPr>
            <a:xfrm>
              <a:off x="238326" y="238043"/>
              <a:ext cx="4329711" cy="4333165"/>
            </a:xfrm>
            <a:prstGeom prst="rect">
              <a:avLst/>
            </a:prstGeom>
          </p:spPr>
          <p:txBody>
            <a:bodyPr lIns="0" tIns="0" rIns="0" bIns="0" rtlCol="0" anchor="t">
              <a:spAutoFit/>
            </a:bodyPr>
            <a:lstStyle/>
            <a:p>
              <a:pPr algn="ctr">
                <a:lnSpc>
                  <a:spcPts val="3676"/>
                </a:lnSpc>
                <a:spcBef>
                  <a:spcPct val="0"/>
                </a:spcBef>
              </a:pPr>
              <a:r>
                <a:rPr lang="en-US" sz="2626" b="1">
                  <a:solidFill>
                    <a:srgbClr val="FFFFFF"/>
                  </a:solidFill>
                  <a:latin typeface="Poppins Bold"/>
                  <a:ea typeface="Poppins Bold"/>
                  <a:cs typeface="Poppins Bold"/>
                  <a:sym typeface="Poppins Bold"/>
                </a:rPr>
                <a:t> The portal requires a stable internet connection for real-time trainer chat and progress syncing.</a:t>
              </a:r>
            </a:p>
          </p:txBody>
        </p:sp>
      </p:grpSp>
      <p:grpSp>
        <p:nvGrpSpPr>
          <p:cNvPr id="27" name="Group 27"/>
          <p:cNvGrpSpPr/>
          <p:nvPr/>
        </p:nvGrpSpPr>
        <p:grpSpPr>
          <a:xfrm>
            <a:off x="9808629" y="4412763"/>
            <a:ext cx="3463605" cy="3582451"/>
            <a:chOff x="0" y="0"/>
            <a:chExt cx="4618140" cy="4776601"/>
          </a:xfrm>
        </p:grpSpPr>
        <p:grpSp>
          <p:nvGrpSpPr>
            <p:cNvPr id="28" name="Group 28"/>
            <p:cNvGrpSpPr/>
            <p:nvPr/>
          </p:nvGrpSpPr>
          <p:grpSpPr>
            <a:xfrm>
              <a:off x="0" y="0"/>
              <a:ext cx="4618140" cy="4776601"/>
              <a:chOff x="0" y="0"/>
              <a:chExt cx="1502444" cy="1553997"/>
            </a:xfrm>
          </p:grpSpPr>
          <p:sp>
            <p:nvSpPr>
              <p:cNvPr id="29" name="Freeform 29"/>
              <p:cNvSpPr/>
              <p:nvPr/>
            </p:nvSpPr>
            <p:spPr>
              <a:xfrm>
                <a:off x="0" y="0"/>
                <a:ext cx="1502444" cy="1553997"/>
              </a:xfrm>
              <a:custGeom>
                <a:avLst/>
                <a:gdLst/>
                <a:ahLst/>
                <a:cxnLst/>
                <a:rect l="l" t="t" r="r" b="b"/>
                <a:pathLst>
                  <a:path w="1502444" h="1553997">
                    <a:moveTo>
                      <a:pt x="56315" y="0"/>
                    </a:moveTo>
                    <a:lnTo>
                      <a:pt x="1446129" y="0"/>
                    </a:lnTo>
                    <a:cubicBezTo>
                      <a:pt x="1477231" y="0"/>
                      <a:pt x="1502444" y="25213"/>
                      <a:pt x="1502444" y="56315"/>
                    </a:cubicBezTo>
                    <a:lnTo>
                      <a:pt x="1502444" y="1497682"/>
                    </a:lnTo>
                    <a:cubicBezTo>
                      <a:pt x="1502444" y="1528784"/>
                      <a:pt x="1477231" y="1553997"/>
                      <a:pt x="1446129" y="1553997"/>
                    </a:cubicBezTo>
                    <a:lnTo>
                      <a:pt x="56315" y="1553997"/>
                    </a:lnTo>
                    <a:cubicBezTo>
                      <a:pt x="25213" y="1553997"/>
                      <a:pt x="0" y="1528784"/>
                      <a:pt x="0" y="1497682"/>
                    </a:cubicBezTo>
                    <a:lnTo>
                      <a:pt x="0" y="56315"/>
                    </a:lnTo>
                    <a:cubicBezTo>
                      <a:pt x="0" y="25213"/>
                      <a:pt x="25213" y="0"/>
                      <a:pt x="56315" y="0"/>
                    </a:cubicBezTo>
                    <a:close/>
                  </a:path>
                </a:pathLst>
              </a:custGeom>
              <a:gradFill rotWithShape="1">
                <a:gsLst>
                  <a:gs pos="0">
                    <a:srgbClr val="287EFF">
                      <a:alpha val="100000"/>
                    </a:srgbClr>
                  </a:gs>
                  <a:gs pos="100000">
                    <a:srgbClr val="1FB5FF">
                      <a:alpha val="100000"/>
                    </a:srgbClr>
                  </a:gs>
                </a:gsLst>
                <a:lin ang="0"/>
              </a:gradFill>
            </p:spPr>
          </p:sp>
          <p:sp>
            <p:nvSpPr>
              <p:cNvPr id="30" name="TextBox 30"/>
              <p:cNvSpPr txBox="1"/>
              <p:nvPr/>
            </p:nvSpPr>
            <p:spPr>
              <a:xfrm>
                <a:off x="0" y="-38100"/>
                <a:ext cx="1502444" cy="1592097"/>
              </a:xfrm>
              <a:prstGeom prst="rect">
                <a:avLst/>
              </a:prstGeom>
            </p:spPr>
            <p:txBody>
              <a:bodyPr lIns="50800" tIns="50800" rIns="50800" bIns="50800" rtlCol="0" anchor="ctr"/>
              <a:lstStyle/>
              <a:p>
                <a:pPr algn="ctr">
                  <a:lnSpc>
                    <a:spcPts val="2659"/>
                  </a:lnSpc>
                  <a:spcBef>
                    <a:spcPct val="0"/>
                  </a:spcBef>
                </a:pPr>
                <a:endParaRPr/>
              </a:p>
            </p:txBody>
          </p:sp>
        </p:grpSp>
        <p:sp>
          <p:nvSpPr>
            <p:cNvPr id="31" name="TextBox 31"/>
            <p:cNvSpPr txBox="1"/>
            <p:nvPr/>
          </p:nvSpPr>
          <p:spPr>
            <a:xfrm>
              <a:off x="228993" y="198055"/>
              <a:ext cx="4160154" cy="4313817"/>
            </a:xfrm>
            <a:prstGeom prst="rect">
              <a:avLst/>
            </a:prstGeom>
          </p:spPr>
          <p:txBody>
            <a:bodyPr lIns="0" tIns="0" rIns="0" bIns="0" rtlCol="0" anchor="t">
              <a:spAutoFit/>
            </a:bodyPr>
            <a:lstStyle/>
            <a:p>
              <a:pPr algn="ctr">
                <a:lnSpc>
                  <a:spcPts val="3194"/>
                </a:lnSpc>
              </a:pPr>
              <a:r>
                <a:rPr lang="en-US" sz="2281" b="1">
                  <a:solidFill>
                    <a:srgbClr val="FFFFFF"/>
                  </a:solidFill>
                  <a:latin typeface="Poppins Bold"/>
                  <a:ea typeface="Poppins Bold"/>
                  <a:cs typeface="Poppins Bold"/>
                  <a:sym typeface="Poppins Bold"/>
                </a:rPr>
                <a:t>Due to the scope of an Intro to SE project, the "Protein Shop" uses a simulated checkout rather than a live banking AP</a:t>
              </a:r>
            </a:p>
            <a:p>
              <a:pPr algn="ctr">
                <a:lnSpc>
                  <a:spcPts val="3194"/>
                </a:lnSpc>
                <a:spcBef>
                  <a:spcPct val="0"/>
                </a:spcBef>
              </a:pPr>
              <a:endParaRPr lang="en-US" sz="2281" b="1">
                <a:solidFill>
                  <a:srgbClr val="FFFFFF"/>
                </a:solidFill>
                <a:latin typeface="Poppins Bold"/>
                <a:ea typeface="Poppins Bold"/>
                <a:cs typeface="Poppins Bold"/>
                <a:sym typeface="Poppins Bold"/>
              </a:endParaRPr>
            </a:p>
          </p:txBody>
        </p:sp>
      </p:grpSp>
      <p:grpSp>
        <p:nvGrpSpPr>
          <p:cNvPr id="32" name="Group 32"/>
          <p:cNvGrpSpPr/>
          <p:nvPr/>
        </p:nvGrpSpPr>
        <p:grpSpPr>
          <a:xfrm>
            <a:off x="14262834" y="4375516"/>
            <a:ext cx="3164273" cy="3619698"/>
            <a:chOff x="0" y="0"/>
            <a:chExt cx="4219030" cy="4826264"/>
          </a:xfrm>
        </p:grpSpPr>
        <p:grpSp>
          <p:nvGrpSpPr>
            <p:cNvPr id="33" name="Group 33"/>
            <p:cNvGrpSpPr/>
            <p:nvPr/>
          </p:nvGrpSpPr>
          <p:grpSpPr>
            <a:xfrm>
              <a:off x="0" y="0"/>
              <a:ext cx="4219030" cy="4826264"/>
              <a:chOff x="0" y="0"/>
              <a:chExt cx="1358475" cy="1553997"/>
            </a:xfrm>
          </p:grpSpPr>
          <p:sp>
            <p:nvSpPr>
              <p:cNvPr id="34" name="Freeform 34"/>
              <p:cNvSpPr/>
              <p:nvPr/>
            </p:nvSpPr>
            <p:spPr>
              <a:xfrm>
                <a:off x="0" y="0"/>
                <a:ext cx="1358475" cy="1553997"/>
              </a:xfrm>
              <a:custGeom>
                <a:avLst/>
                <a:gdLst/>
                <a:ahLst/>
                <a:cxnLst/>
                <a:rect l="l" t="t" r="r" b="b"/>
                <a:pathLst>
                  <a:path w="1358475" h="1553997">
                    <a:moveTo>
                      <a:pt x="62283" y="0"/>
                    </a:moveTo>
                    <a:lnTo>
                      <a:pt x="1296192" y="0"/>
                    </a:lnTo>
                    <a:cubicBezTo>
                      <a:pt x="1312710" y="0"/>
                      <a:pt x="1328552" y="6562"/>
                      <a:pt x="1340233" y="18242"/>
                    </a:cubicBezTo>
                    <a:cubicBezTo>
                      <a:pt x="1351913" y="29923"/>
                      <a:pt x="1358475" y="45764"/>
                      <a:pt x="1358475" y="62283"/>
                    </a:cubicBezTo>
                    <a:lnTo>
                      <a:pt x="1358475" y="1491714"/>
                    </a:lnTo>
                    <a:cubicBezTo>
                      <a:pt x="1358475" y="1508232"/>
                      <a:pt x="1351913" y="1524074"/>
                      <a:pt x="1340233" y="1535754"/>
                    </a:cubicBezTo>
                    <a:cubicBezTo>
                      <a:pt x="1328552" y="1547435"/>
                      <a:pt x="1312710" y="1553997"/>
                      <a:pt x="1296192" y="1553997"/>
                    </a:cubicBezTo>
                    <a:lnTo>
                      <a:pt x="62283" y="1553997"/>
                    </a:lnTo>
                    <a:cubicBezTo>
                      <a:pt x="45764" y="1553997"/>
                      <a:pt x="29923" y="1547435"/>
                      <a:pt x="18242" y="1535754"/>
                    </a:cubicBezTo>
                    <a:cubicBezTo>
                      <a:pt x="6562" y="1524074"/>
                      <a:pt x="0" y="1508232"/>
                      <a:pt x="0" y="1491714"/>
                    </a:cubicBezTo>
                    <a:lnTo>
                      <a:pt x="0" y="62283"/>
                    </a:lnTo>
                    <a:cubicBezTo>
                      <a:pt x="0" y="45764"/>
                      <a:pt x="6562" y="29923"/>
                      <a:pt x="18242" y="18242"/>
                    </a:cubicBezTo>
                    <a:cubicBezTo>
                      <a:pt x="29923" y="6562"/>
                      <a:pt x="45764" y="0"/>
                      <a:pt x="62283" y="0"/>
                    </a:cubicBezTo>
                    <a:close/>
                  </a:path>
                </a:pathLst>
              </a:custGeom>
              <a:ln w="38100" cap="rnd">
                <a:gradFill>
                  <a:gsLst>
                    <a:gs pos="0">
                      <a:srgbClr val="287EFF">
                        <a:alpha val="100000"/>
                      </a:srgbClr>
                    </a:gs>
                    <a:gs pos="100000">
                      <a:srgbClr val="1FB5FF">
                        <a:alpha val="100000"/>
                      </a:srgbClr>
                    </a:gs>
                  </a:gsLst>
                  <a:lin ang="0"/>
                </a:gradFill>
                <a:prstDash val="solid"/>
                <a:round/>
              </a:ln>
            </p:spPr>
          </p:sp>
          <p:sp>
            <p:nvSpPr>
              <p:cNvPr id="35" name="TextBox 35"/>
              <p:cNvSpPr txBox="1"/>
              <p:nvPr/>
            </p:nvSpPr>
            <p:spPr>
              <a:xfrm>
                <a:off x="0" y="-38100"/>
                <a:ext cx="1358475" cy="1592097"/>
              </a:xfrm>
              <a:prstGeom prst="rect">
                <a:avLst/>
              </a:prstGeom>
            </p:spPr>
            <p:txBody>
              <a:bodyPr lIns="50800" tIns="50800" rIns="50800" bIns="50800" rtlCol="0" anchor="ctr"/>
              <a:lstStyle/>
              <a:p>
                <a:pPr algn="ctr">
                  <a:lnSpc>
                    <a:spcPts val="2659"/>
                  </a:lnSpc>
                  <a:spcBef>
                    <a:spcPct val="0"/>
                  </a:spcBef>
                </a:pPr>
                <a:endParaRPr/>
              </a:p>
            </p:txBody>
          </p:sp>
        </p:grpSp>
        <p:sp>
          <p:nvSpPr>
            <p:cNvPr id="36" name="TextBox 36"/>
            <p:cNvSpPr txBox="1"/>
            <p:nvPr/>
          </p:nvSpPr>
          <p:spPr>
            <a:xfrm>
              <a:off x="209203" y="210332"/>
              <a:ext cx="3800624" cy="4348450"/>
            </a:xfrm>
            <a:prstGeom prst="rect">
              <a:avLst/>
            </a:prstGeom>
          </p:spPr>
          <p:txBody>
            <a:bodyPr lIns="0" tIns="0" rIns="0" bIns="0" rtlCol="0" anchor="t">
              <a:spAutoFit/>
            </a:bodyPr>
            <a:lstStyle/>
            <a:p>
              <a:pPr algn="ctr">
                <a:lnSpc>
                  <a:spcPts val="3227"/>
                </a:lnSpc>
              </a:pPr>
              <a:r>
                <a:rPr lang="en-US" sz="2305" b="1">
                  <a:solidFill>
                    <a:srgbClr val="FFFFFF"/>
                  </a:solidFill>
                  <a:latin typeface="Poppins Bold"/>
                  <a:ea typeface="Poppins Bold"/>
                  <a:cs typeface="Poppins Bold"/>
                  <a:sym typeface="Poppins Bold"/>
                </a:rPr>
                <a:t>The exercise library is limited to pre-uploaded tutorials and does not support live video streaming sessions.</a:t>
              </a:r>
            </a:p>
            <a:p>
              <a:pPr algn="ctr">
                <a:lnSpc>
                  <a:spcPts val="3227"/>
                </a:lnSpc>
                <a:spcBef>
                  <a:spcPct val="0"/>
                </a:spcBef>
              </a:pPr>
              <a:endParaRPr lang="en-US" sz="2305" b="1">
                <a:solidFill>
                  <a:srgbClr val="FFFFFF"/>
                </a:solidFill>
                <a:latin typeface="Poppins Bold"/>
                <a:ea typeface="Poppins Bold"/>
                <a:cs typeface="Poppins Bold"/>
                <a:sym typeface="Poppins Bold"/>
              </a:endParaRPr>
            </a:p>
          </p:txBody>
        </p:sp>
      </p:grpSp>
      <p:grpSp>
        <p:nvGrpSpPr>
          <p:cNvPr id="37" name="Group 37"/>
          <p:cNvGrpSpPr/>
          <p:nvPr/>
        </p:nvGrpSpPr>
        <p:grpSpPr>
          <a:xfrm>
            <a:off x="2144076" y="1874641"/>
            <a:ext cx="1083206" cy="1075479"/>
            <a:chOff x="0" y="0"/>
            <a:chExt cx="1444274" cy="1433972"/>
          </a:xfrm>
        </p:grpSpPr>
        <p:sp>
          <p:nvSpPr>
            <p:cNvPr id="38" name="TextBox 38"/>
            <p:cNvSpPr txBox="1"/>
            <p:nvPr/>
          </p:nvSpPr>
          <p:spPr>
            <a:xfrm>
              <a:off x="650402" y="452988"/>
              <a:ext cx="143470" cy="523829"/>
            </a:xfrm>
            <a:prstGeom prst="rect">
              <a:avLst/>
            </a:prstGeom>
          </p:spPr>
          <p:txBody>
            <a:bodyPr lIns="0" tIns="0" rIns="0" bIns="0" rtlCol="0" anchor="t">
              <a:spAutoFit/>
            </a:bodyPr>
            <a:lstStyle/>
            <a:p>
              <a:pPr algn="ctr">
                <a:lnSpc>
                  <a:spcPts val="3151"/>
                </a:lnSpc>
                <a:spcBef>
                  <a:spcPct val="0"/>
                </a:spcBef>
              </a:pPr>
              <a:r>
                <a:rPr lang="en-US" sz="2251" b="1">
                  <a:solidFill>
                    <a:srgbClr val="FFFFFF"/>
                  </a:solidFill>
                  <a:latin typeface="Poppins Bold"/>
                  <a:ea typeface="Poppins Bold"/>
                  <a:cs typeface="Poppins Bold"/>
                  <a:sym typeface="Poppins Bold"/>
                </a:rPr>
                <a:t>1</a:t>
              </a:r>
            </a:p>
          </p:txBody>
        </p:sp>
        <p:grpSp>
          <p:nvGrpSpPr>
            <p:cNvPr id="39" name="Group 39"/>
            <p:cNvGrpSpPr/>
            <p:nvPr/>
          </p:nvGrpSpPr>
          <p:grpSpPr>
            <a:xfrm>
              <a:off x="0" y="0"/>
              <a:ext cx="1444274" cy="1433972"/>
              <a:chOff x="0" y="0"/>
              <a:chExt cx="289003" cy="286941"/>
            </a:xfrm>
          </p:grpSpPr>
          <p:sp>
            <p:nvSpPr>
              <p:cNvPr id="40" name="Freeform 40"/>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ln w="19050" cap="rnd">
                <a:solidFill>
                  <a:srgbClr val="FFFFFF"/>
                </a:solidFill>
                <a:prstDash val="solid"/>
                <a:round/>
              </a:ln>
            </p:spPr>
          </p:sp>
          <p:sp>
            <p:nvSpPr>
              <p:cNvPr id="41" name="TextBox 41"/>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grpSp>
      <p:sp>
        <p:nvSpPr>
          <p:cNvPr id="42" name="TextBox 42"/>
          <p:cNvSpPr txBox="1"/>
          <p:nvPr/>
        </p:nvSpPr>
        <p:spPr>
          <a:xfrm>
            <a:off x="6936436" y="2197714"/>
            <a:ext cx="107603" cy="409541"/>
          </a:xfrm>
          <a:prstGeom prst="rect">
            <a:avLst/>
          </a:prstGeom>
        </p:spPr>
        <p:txBody>
          <a:bodyPr lIns="0" tIns="0" rIns="0" bIns="0" rtlCol="0" anchor="t">
            <a:spAutoFit/>
          </a:bodyPr>
          <a:lstStyle/>
          <a:p>
            <a:pPr algn="ctr">
              <a:lnSpc>
                <a:spcPts val="3151"/>
              </a:lnSpc>
              <a:spcBef>
                <a:spcPct val="0"/>
              </a:spcBef>
            </a:pPr>
            <a:r>
              <a:rPr lang="en-US" sz="2251" b="1">
                <a:solidFill>
                  <a:srgbClr val="FFFFFF"/>
                </a:solidFill>
                <a:latin typeface="Poppins Bold"/>
                <a:ea typeface="Poppins Bold"/>
                <a:cs typeface="Poppins Bold"/>
                <a:sym typeface="Poppins Bold"/>
              </a:rPr>
              <a:t>2</a:t>
            </a:r>
          </a:p>
        </p:txBody>
      </p:sp>
      <p:grpSp>
        <p:nvGrpSpPr>
          <p:cNvPr id="43" name="Group 43"/>
          <p:cNvGrpSpPr/>
          <p:nvPr/>
        </p:nvGrpSpPr>
        <p:grpSpPr>
          <a:xfrm>
            <a:off x="6476466" y="1898082"/>
            <a:ext cx="1083206" cy="1075479"/>
            <a:chOff x="0" y="0"/>
            <a:chExt cx="289003" cy="286941"/>
          </a:xfrm>
        </p:grpSpPr>
        <p:sp>
          <p:nvSpPr>
            <p:cNvPr id="44" name="Freeform 44"/>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ln w="19050" cap="rnd">
              <a:solidFill>
                <a:srgbClr val="FFFFFF"/>
              </a:solidFill>
              <a:prstDash val="solid"/>
              <a:round/>
            </a:ln>
          </p:spPr>
        </p:sp>
        <p:sp>
          <p:nvSpPr>
            <p:cNvPr id="45" name="TextBox 45"/>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grpSp>
        <p:nvGrpSpPr>
          <p:cNvPr id="46" name="Group 46"/>
          <p:cNvGrpSpPr/>
          <p:nvPr/>
        </p:nvGrpSpPr>
        <p:grpSpPr>
          <a:xfrm>
            <a:off x="10657775" y="1874641"/>
            <a:ext cx="1104070" cy="1075479"/>
            <a:chOff x="0" y="0"/>
            <a:chExt cx="294569" cy="286941"/>
          </a:xfrm>
        </p:grpSpPr>
        <p:sp>
          <p:nvSpPr>
            <p:cNvPr id="47" name="Freeform 47"/>
            <p:cNvSpPr/>
            <p:nvPr/>
          </p:nvSpPr>
          <p:spPr>
            <a:xfrm>
              <a:off x="0" y="0"/>
              <a:ext cx="294569" cy="286941"/>
            </a:xfrm>
            <a:custGeom>
              <a:avLst/>
              <a:gdLst/>
              <a:ahLst/>
              <a:cxnLst/>
              <a:rect l="l" t="t" r="r" b="b"/>
              <a:pathLst>
                <a:path w="294569" h="286941">
                  <a:moveTo>
                    <a:pt x="143471" y="0"/>
                  </a:moveTo>
                  <a:lnTo>
                    <a:pt x="151099" y="0"/>
                  </a:lnTo>
                  <a:cubicBezTo>
                    <a:pt x="230335" y="0"/>
                    <a:pt x="294569" y="64234"/>
                    <a:pt x="294569" y="143471"/>
                  </a:cubicBezTo>
                  <a:lnTo>
                    <a:pt x="294569" y="143471"/>
                  </a:lnTo>
                  <a:cubicBezTo>
                    <a:pt x="294569" y="181521"/>
                    <a:pt x="279454" y="218014"/>
                    <a:pt x="252548" y="244920"/>
                  </a:cubicBezTo>
                  <a:cubicBezTo>
                    <a:pt x="225642" y="271826"/>
                    <a:pt x="189149" y="286941"/>
                    <a:pt x="151099"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ln w="19050" cap="rnd">
              <a:solidFill>
                <a:srgbClr val="FFFFFF"/>
              </a:solidFill>
              <a:prstDash val="solid"/>
              <a:round/>
            </a:ln>
          </p:spPr>
        </p:sp>
        <p:sp>
          <p:nvSpPr>
            <p:cNvPr id="48" name="TextBox 48"/>
            <p:cNvSpPr txBox="1"/>
            <p:nvPr/>
          </p:nvSpPr>
          <p:spPr>
            <a:xfrm>
              <a:off x="0" y="-38100"/>
              <a:ext cx="294569" cy="325041"/>
            </a:xfrm>
            <a:prstGeom prst="rect">
              <a:avLst/>
            </a:prstGeom>
          </p:spPr>
          <p:txBody>
            <a:bodyPr lIns="50800" tIns="50800" rIns="50800" bIns="50800" rtlCol="0" anchor="ctr"/>
            <a:lstStyle/>
            <a:p>
              <a:pPr algn="ctr">
                <a:lnSpc>
                  <a:spcPts val="2659"/>
                </a:lnSpc>
              </a:pPr>
              <a:endParaRPr/>
            </a:p>
          </p:txBody>
        </p:sp>
      </p:grpSp>
      <p:grpSp>
        <p:nvGrpSpPr>
          <p:cNvPr id="49" name="Group 49"/>
          <p:cNvGrpSpPr/>
          <p:nvPr/>
        </p:nvGrpSpPr>
        <p:grpSpPr>
          <a:xfrm>
            <a:off x="15011848" y="1898082"/>
            <a:ext cx="1100655" cy="1052038"/>
            <a:chOff x="0" y="0"/>
            <a:chExt cx="293658" cy="280687"/>
          </a:xfrm>
        </p:grpSpPr>
        <p:sp>
          <p:nvSpPr>
            <p:cNvPr id="50" name="Freeform 50"/>
            <p:cNvSpPr/>
            <p:nvPr/>
          </p:nvSpPr>
          <p:spPr>
            <a:xfrm>
              <a:off x="0" y="0"/>
              <a:ext cx="293658" cy="280687"/>
            </a:xfrm>
            <a:custGeom>
              <a:avLst/>
              <a:gdLst/>
              <a:ahLst/>
              <a:cxnLst/>
              <a:rect l="l" t="t" r="r" b="b"/>
              <a:pathLst>
                <a:path w="293658" h="280687">
                  <a:moveTo>
                    <a:pt x="140344" y="0"/>
                  </a:moveTo>
                  <a:lnTo>
                    <a:pt x="153315" y="0"/>
                  </a:lnTo>
                  <a:cubicBezTo>
                    <a:pt x="230824" y="0"/>
                    <a:pt x="293658" y="62834"/>
                    <a:pt x="293658" y="140344"/>
                  </a:cubicBezTo>
                  <a:lnTo>
                    <a:pt x="293658" y="140344"/>
                  </a:lnTo>
                  <a:cubicBezTo>
                    <a:pt x="293658" y="177565"/>
                    <a:pt x="278872" y="213262"/>
                    <a:pt x="252553" y="239581"/>
                  </a:cubicBezTo>
                  <a:cubicBezTo>
                    <a:pt x="226233" y="265901"/>
                    <a:pt x="190536" y="280687"/>
                    <a:pt x="153315" y="280687"/>
                  </a:cubicBezTo>
                  <a:lnTo>
                    <a:pt x="140344" y="280687"/>
                  </a:lnTo>
                  <a:cubicBezTo>
                    <a:pt x="103122" y="280687"/>
                    <a:pt x="67425" y="265901"/>
                    <a:pt x="41106" y="239581"/>
                  </a:cubicBezTo>
                  <a:cubicBezTo>
                    <a:pt x="14786" y="213262"/>
                    <a:pt x="0" y="177565"/>
                    <a:pt x="0" y="140344"/>
                  </a:cubicBezTo>
                  <a:lnTo>
                    <a:pt x="0" y="140344"/>
                  </a:lnTo>
                  <a:cubicBezTo>
                    <a:pt x="0" y="103122"/>
                    <a:pt x="14786" y="67425"/>
                    <a:pt x="41106" y="41106"/>
                  </a:cubicBezTo>
                  <a:cubicBezTo>
                    <a:pt x="67425" y="14786"/>
                    <a:pt x="103122" y="0"/>
                    <a:pt x="140344" y="0"/>
                  </a:cubicBezTo>
                  <a:close/>
                </a:path>
              </a:pathLst>
            </a:custGeom>
            <a:ln w="19050" cap="rnd">
              <a:solidFill>
                <a:srgbClr val="FFFFFF"/>
              </a:solidFill>
              <a:prstDash val="solid"/>
              <a:round/>
            </a:ln>
          </p:spPr>
        </p:sp>
        <p:sp>
          <p:nvSpPr>
            <p:cNvPr id="51" name="TextBox 51"/>
            <p:cNvSpPr txBox="1"/>
            <p:nvPr/>
          </p:nvSpPr>
          <p:spPr>
            <a:xfrm>
              <a:off x="0" y="-38100"/>
              <a:ext cx="293658" cy="318787"/>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sp>
        <p:nvSpPr>
          <p:cNvPr id="2" name="TextBox 2"/>
          <p:cNvSpPr txBox="1"/>
          <p:nvPr/>
        </p:nvSpPr>
        <p:spPr>
          <a:xfrm>
            <a:off x="1263957" y="65528"/>
            <a:ext cx="16077116" cy="1429645"/>
          </a:xfrm>
          <a:prstGeom prst="rect">
            <a:avLst/>
          </a:prstGeom>
        </p:spPr>
        <p:txBody>
          <a:bodyPr lIns="0" tIns="0" rIns="0" bIns="0" rtlCol="0" anchor="t">
            <a:spAutoFit/>
          </a:bodyPr>
          <a:lstStyle/>
          <a:p>
            <a:pPr algn="ctr">
              <a:lnSpc>
                <a:spcPts val="11792"/>
              </a:lnSpc>
            </a:pPr>
            <a:r>
              <a:rPr lang="en-US" sz="8422" b="1">
                <a:solidFill>
                  <a:srgbClr val="FFFFFF"/>
                </a:solidFill>
                <a:latin typeface="Canva Sans Bold"/>
                <a:ea typeface="Canva Sans Bold"/>
                <a:cs typeface="Canva Sans Bold"/>
                <a:sym typeface="Canva Sans Bold"/>
              </a:rPr>
              <a:t>Process &amp; Design Methodology</a:t>
            </a:r>
          </a:p>
        </p:txBody>
      </p:sp>
      <p:sp>
        <p:nvSpPr>
          <p:cNvPr id="3" name="TextBox 3"/>
          <p:cNvSpPr txBox="1"/>
          <p:nvPr/>
        </p:nvSpPr>
        <p:spPr>
          <a:xfrm>
            <a:off x="0" y="3637510"/>
            <a:ext cx="18288000" cy="1802096"/>
          </a:xfrm>
          <a:prstGeom prst="rect">
            <a:avLst/>
          </a:prstGeom>
        </p:spPr>
        <p:txBody>
          <a:bodyPr lIns="0" tIns="0" rIns="0" bIns="0" rtlCol="0" anchor="t">
            <a:spAutoFit/>
          </a:bodyPr>
          <a:lstStyle/>
          <a:p>
            <a:pPr algn="ctr">
              <a:lnSpc>
                <a:spcPts val="3571"/>
              </a:lnSpc>
              <a:spcBef>
                <a:spcPct val="0"/>
              </a:spcBef>
            </a:pPr>
            <a:r>
              <a:rPr lang="en-US" sz="2551" b="1">
                <a:solidFill>
                  <a:srgbClr val="FFFFFF"/>
                </a:solidFill>
                <a:latin typeface="Poppins Bold"/>
                <a:ea typeface="Poppins Bold"/>
                <a:cs typeface="Poppins Bold"/>
                <a:sym typeface="Poppins Bold"/>
              </a:rPr>
              <a:t>Why?</a:t>
            </a:r>
          </a:p>
          <a:p>
            <a:pPr algn="ctr">
              <a:lnSpc>
                <a:spcPts val="3571"/>
              </a:lnSpc>
              <a:spcBef>
                <a:spcPct val="0"/>
              </a:spcBef>
            </a:pPr>
            <a:r>
              <a:rPr lang="en-US" sz="2551" b="1">
                <a:solidFill>
                  <a:srgbClr val="FFFFFF"/>
                </a:solidFill>
                <a:latin typeface="Poppins Bold"/>
                <a:ea typeface="Poppins Bold"/>
                <a:cs typeface="Poppins Bold"/>
                <a:sym typeface="Poppins Bold"/>
              </a:rPr>
              <a:t>   Allows for iterative development. We can deploy the "Login" and "Calculators" first, gather feedback, and then refine the "Trainer Chat" and "Protein Shop" modules.</a:t>
            </a:r>
          </a:p>
          <a:p>
            <a:pPr algn="ctr">
              <a:lnSpc>
                <a:spcPts val="3571"/>
              </a:lnSpc>
              <a:spcBef>
                <a:spcPct val="0"/>
              </a:spcBef>
            </a:pPr>
            <a:endParaRPr lang="en-US" sz="2551" b="1">
              <a:solidFill>
                <a:srgbClr val="FFFFFF"/>
              </a:solidFill>
              <a:latin typeface="Poppins Bold"/>
              <a:ea typeface="Poppins Bold"/>
              <a:cs typeface="Poppins Bold"/>
              <a:sym typeface="Poppins Bold"/>
            </a:endParaRPr>
          </a:p>
        </p:txBody>
      </p:sp>
      <p:grpSp>
        <p:nvGrpSpPr>
          <p:cNvPr id="4" name="Group 4"/>
          <p:cNvGrpSpPr/>
          <p:nvPr/>
        </p:nvGrpSpPr>
        <p:grpSpPr>
          <a:xfrm>
            <a:off x="7391400" y="3048042"/>
            <a:ext cx="3830379" cy="445846"/>
            <a:chOff x="0" y="0"/>
            <a:chExt cx="1030723" cy="263179"/>
          </a:xfrm>
        </p:grpSpPr>
        <p:sp>
          <p:nvSpPr>
            <p:cNvPr id="5" name="Freeform 5"/>
            <p:cNvSpPr/>
            <p:nvPr/>
          </p:nvSpPr>
          <p:spPr>
            <a:xfrm>
              <a:off x="0" y="0"/>
              <a:ext cx="1030723" cy="263179"/>
            </a:xfrm>
            <a:custGeom>
              <a:avLst/>
              <a:gdLst/>
              <a:ahLst/>
              <a:cxnLst/>
              <a:rect l="l" t="t" r="r" b="b"/>
              <a:pathLst>
                <a:path w="1030723" h="263179">
                  <a:moveTo>
                    <a:pt x="100891" y="0"/>
                  </a:moveTo>
                  <a:lnTo>
                    <a:pt x="929833" y="0"/>
                  </a:lnTo>
                  <a:cubicBezTo>
                    <a:pt x="956591" y="0"/>
                    <a:pt x="982253" y="10630"/>
                    <a:pt x="1001173" y="29550"/>
                  </a:cubicBezTo>
                  <a:cubicBezTo>
                    <a:pt x="1020094" y="48471"/>
                    <a:pt x="1030723" y="74133"/>
                    <a:pt x="1030723" y="100891"/>
                  </a:cubicBezTo>
                  <a:lnTo>
                    <a:pt x="1030723" y="162289"/>
                  </a:lnTo>
                  <a:cubicBezTo>
                    <a:pt x="1030723" y="218009"/>
                    <a:pt x="985553" y="263179"/>
                    <a:pt x="929833" y="263179"/>
                  </a:cubicBezTo>
                  <a:lnTo>
                    <a:pt x="100891" y="263179"/>
                  </a:lnTo>
                  <a:cubicBezTo>
                    <a:pt x="45170" y="263179"/>
                    <a:pt x="0" y="218009"/>
                    <a:pt x="0" y="162289"/>
                  </a:cubicBezTo>
                  <a:lnTo>
                    <a:pt x="0" y="100891"/>
                  </a:lnTo>
                  <a:cubicBezTo>
                    <a:pt x="0" y="45170"/>
                    <a:pt x="45170" y="0"/>
                    <a:pt x="100891" y="0"/>
                  </a:cubicBezTo>
                  <a:close/>
                </a:path>
              </a:pathLst>
            </a:custGeom>
            <a:solidFill>
              <a:srgbClr val="EFEFEF"/>
            </a:solidFill>
          </p:spPr>
        </p:sp>
        <p:sp>
          <p:nvSpPr>
            <p:cNvPr id="6" name="TextBox 6"/>
            <p:cNvSpPr txBox="1"/>
            <p:nvPr/>
          </p:nvSpPr>
          <p:spPr>
            <a:xfrm>
              <a:off x="0" y="-76200"/>
              <a:ext cx="1030723" cy="339379"/>
            </a:xfrm>
            <a:prstGeom prst="rect">
              <a:avLst/>
            </a:prstGeom>
          </p:spPr>
          <p:txBody>
            <a:bodyPr lIns="50800" tIns="50800" rIns="50800" bIns="50800" rtlCol="0" anchor="ctr"/>
            <a:lstStyle/>
            <a:p>
              <a:pPr algn="ctr">
                <a:lnSpc>
                  <a:spcPts val="3571"/>
                </a:lnSpc>
              </a:pPr>
              <a:r>
                <a:rPr lang="en-US" sz="2551" b="1" dirty="0">
                  <a:solidFill>
                    <a:srgbClr val="3168AB"/>
                  </a:solidFill>
                  <a:latin typeface="Poppins Bold"/>
                  <a:ea typeface="Poppins Bold"/>
                  <a:cs typeface="Poppins Bold"/>
                  <a:sym typeface="Poppins Bold"/>
                </a:rPr>
                <a:t>Process: Agile </a:t>
              </a:r>
            </a:p>
          </p:txBody>
        </p:sp>
      </p:grpSp>
      <p:sp>
        <p:nvSpPr>
          <p:cNvPr id="7" name="TextBox 7"/>
          <p:cNvSpPr txBox="1"/>
          <p:nvPr/>
        </p:nvSpPr>
        <p:spPr>
          <a:xfrm>
            <a:off x="0" y="6992475"/>
            <a:ext cx="18288000" cy="1875756"/>
          </a:xfrm>
          <a:prstGeom prst="rect">
            <a:avLst/>
          </a:prstGeom>
        </p:spPr>
        <p:txBody>
          <a:bodyPr lIns="0" tIns="0" rIns="0" bIns="0" rtlCol="0" anchor="t">
            <a:spAutoFit/>
          </a:bodyPr>
          <a:lstStyle/>
          <a:p>
            <a:pPr algn="ctr">
              <a:lnSpc>
                <a:spcPts val="3711"/>
              </a:lnSpc>
            </a:pPr>
            <a:r>
              <a:rPr lang="en-US" sz="2651" b="1">
                <a:solidFill>
                  <a:srgbClr val="FFFFFF"/>
                </a:solidFill>
                <a:latin typeface="Poppins Bold"/>
                <a:ea typeface="Poppins Bold"/>
                <a:cs typeface="Poppins Bold"/>
                <a:sym typeface="Poppins Bold"/>
              </a:rPr>
              <a:t>Why?</a:t>
            </a:r>
          </a:p>
          <a:p>
            <a:pPr algn="ctr">
              <a:lnSpc>
                <a:spcPts val="3711"/>
              </a:lnSpc>
              <a:spcBef>
                <a:spcPct val="0"/>
              </a:spcBef>
            </a:pPr>
            <a:r>
              <a:rPr lang="en-US" sz="2651" b="1">
                <a:solidFill>
                  <a:srgbClr val="FFFFFF"/>
                </a:solidFill>
                <a:latin typeface="Poppins Bold"/>
                <a:ea typeface="Poppins Bold"/>
                <a:cs typeface="Poppins Bold"/>
                <a:sym typeface="Poppins Bold"/>
              </a:rPr>
              <a:t> The system is built around distinct entities (User, Member, Trainer, DietPlan). Using OOD allows for modularity and easier maintenance of the code.</a:t>
            </a:r>
          </a:p>
          <a:p>
            <a:pPr algn="ctr">
              <a:lnSpc>
                <a:spcPts val="3711"/>
              </a:lnSpc>
              <a:spcBef>
                <a:spcPct val="0"/>
              </a:spcBef>
            </a:pPr>
            <a:endParaRPr lang="en-US" sz="2651" b="1">
              <a:solidFill>
                <a:srgbClr val="FFFFFF"/>
              </a:solidFill>
              <a:latin typeface="Poppins Bold"/>
              <a:ea typeface="Poppins Bold"/>
              <a:cs typeface="Poppins Bold"/>
              <a:sym typeface="Poppins Bold"/>
            </a:endParaRPr>
          </a:p>
        </p:txBody>
      </p:sp>
      <p:grpSp>
        <p:nvGrpSpPr>
          <p:cNvPr id="8" name="Group 8"/>
          <p:cNvGrpSpPr/>
          <p:nvPr/>
        </p:nvGrpSpPr>
        <p:grpSpPr>
          <a:xfrm>
            <a:off x="6213499" y="5658680"/>
            <a:ext cx="6178032" cy="1153650"/>
            <a:chOff x="0" y="0"/>
            <a:chExt cx="1627136" cy="303842"/>
          </a:xfrm>
        </p:grpSpPr>
        <p:sp>
          <p:nvSpPr>
            <p:cNvPr id="9" name="Freeform 9"/>
            <p:cNvSpPr/>
            <p:nvPr/>
          </p:nvSpPr>
          <p:spPr>
            <a:xfrm>
              <a:off x="0" y="0"/>
              <a:ext cx="1627136" cy="303842"/>
            </a:xfrm>
            <a:custGeom>
              <a:avLst/>
              <a:gdLst/>
              <a:ahLst/>
              <a:cxnLst/>
              <a:rect l="l" t="t" r="r" b="b"/>
              <a:pathLst>
                <a:path w="1627136" h="303842">
                  <a:moveTo>
                    <a:pt x="63910" y="0"/>
                  </a:moveTo>
                  <a:lnTo>
                    <a:pt x="1563226" y="0"/>
                  </a:lnTo>
                  <a:cubicBezTo>
                    <a:pt x="1580176" y="0"/>
                    <a:pt x="1596432" y="6733"/>
                    <a:pt x="1608417" y="18719"/>
                  </a:cubicBezTo>
                  <a:cubicBezTo>
                    <a:pt x="1620403" y="30704"/>
                    <a:pt x="1627136" y="46960"/>
                    <a:pt x="1627136" y="63910"/>
                  </a:cubicBezTo>
                  <a:lnTo>
                    <a:pt x="1627136" y="239932"/>
                  </a:lnTo>
                  <a:cubicBezTo>
                    <a:pt x="1627136" y="275228"/>
                    <a:pt x="1598523" y="303842"/>
                    <a:pt x="1563226" y="303842"/>
                  </a:cubicBezTo>
                  <a:lnTo>
                    <a:pt x="63910" y="303842"/>
                  </a:lnTo>
                  <a:cubicBezTo>
                    <a:pt x="46960" y="303842"/>
                    <a:pt x="30704" y="297108"/>
                    <a:pt x="18719" y="285123"/>
                  </a:cubicBezTo>
                  <a:cubicBezTo>
                    <a:pt x="6733" y="273138"/>
                    <a:pt x="0" y="256882"/>
                    <a:pt x="0" y="239932"/>
                  </a:cubicBezTo>
                  <a:lnTo>
                    <a:pt x="0" y="63910"/>
                  </a:lnTo>
                  <a:cubicBezTo>
                    <a:pt x="0" y="46960"/>
                    <a:pt x="6733" y="30704"/>
                    <a:pt x="18719" y="18719"/>
                  </a:cubicBezTo>
                  <a:cubicBezTo>
                    <a:pt x="30704" y="6733"/>
                    <a:pt x="46960" y="0"/>
                    <a:pt x="63910" y="0"/>
                  </a:cubicBezTo>
                  <a:close/>
                </a:path>
              </a:pathLst>
            </a:custGeom>
            <a:solidFill>
              <a:srgbClr val="EFEFEF"/>
            </a:solidFill>
          </p:spPr>
        </p:sp>
        <p:sp>
          <p:nvSpPr>
            <p:cNvPr id="10" name="TextBox 10"/>
            <p:cNvSpPr txBox="1"/>
            <p:nvPr/>
          </p:nvSpPr>
          <p:spPr>
            <a:xfrm>
              <a:off x="0" y="-76200"/>
              <a:ext cx="1627136" cy="380042"/>
            </a:xfrm>
            <a:prstGeom prst="rect">
              <a:avLst/>
            </a:prstGeom>
          </p:spPr>
          <p:txBody>
            <a:bodyPr lIns="50800" tIns="50800" rIns="50800" bIns="50800" rtlCol="0" anchor="ctr"/>
            <a:lstStyle/>
            <a:p>
              <a:pPr algn="ctr">
                <a:lnSpc>
                  <a:spcPts val="3571"/>
                </a:lnSpc>
              </a:pPr>
              <a:r>
                <a:rPr lang="en-US" sz="2551" b="1">
                  <a:solidFill>
                    <a:srgbClr val="3168AB"/>
                  </a:solidFill>
                  <a:latin typeface="Poppins Bold"/>
                  <a:ea typeface="Poppins Bold"/>
                  <a:cs typeface="Poppins Bold"/>
                  <a:sym typeface="Poppins Bold"/>
                </a:rPr>
                <a:t>Design: Object-Oriented Design (OOD)</a:t>
              </a:r>
            </a:p>
          </p:txBody>
        </p:sp>
      </p:grpSp>
      <p:sp>
        <p:nvSpPr>
          <p:cNvPr id="11" name="TextBox 11"/>
          <p:cNvSpPr txBox="1"/>
          <p:nvPr/>
        </p:nvSpPr>
        <p:spPr>
          <a:xfrm>
            <a:off x="13456084" y="9828574"/>
            <a:ext cx="4684663" cy="307940"/>
          </a:xfrm>
          <a:prstGeom prst="rect">
            <a:avLst/>
          </a:prstGeom>
        </p:spPr>
        <p:txBody>
          <a:bodyPr lIns="0" tIns="0" rIns="0" bIns="0" rtlCol="0" anchor="t">
            <a:spAutoFit/>
          </a:bodyPr>
          <a:lstStyle/>
          <a:p>
            <a:pPr algn="ctr">
              <a:lnSpc>
                <a:spcPts val="2451"/>
              </a:lnSpc>
              <a:spcBef>
                <a:spcPct val="0"/>
              </a:spcBef>
            </a:pPr>
            <a:r>
              <a:rPr lang="en-US" sz="1751" b="1">
                <a:solidFill>
                  <a:srgbClr val="FFFFFF"/>
                </a:solidFill>
                <a:latin typeface="Poppins Bold"/>
                <a:ea typeface="Poppins Bold"/>
                <a:cs typeface="Poppins Bold"/>
                <a:sym typeface="Poppins Bold"/>
              </a:rPr>
              <a:t>the selection of model is not confirme yet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B4D">
                <a:alpha val="100000"/>
              </a:srgbClr>
            </a:gs>
            <a:gs pos="100000">
              <a:srgbClr val="1F2489">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4698716" y="91916"/>
            <a:ext cx="9407702" cy="1273949"/>
          </a:xfrm>
          <a:prstGeom prst="rect">
            <a:avLst/>
          </a:prstGeom>
        </p:spPr>
        <p:txBody>
          <a:bodyPr lIns="0" tIns="0" rIns="0" bIns="0" rtlCol="0" anchor="t">
            <a:spAutoFit/>
          </a:bodyPr>
          <a:lstStyle/>
          <a:p>
            <a:pPr marL="0" lvl="0" indent="0" algn="ctr">
              <a:lnSpc>
                <a:spcPts val="8679"/>
              </a:lnSpc>
              <a:spcBef>
                <a:spcPct val="0"/>
              </a:spcBef>
            </a:pPr>
            <a:r>
              <a:rPr lang="en-US" sz="7890" spc="-157">
                <a:solidFill>
                  <a:srgbClr val="FFFFFF"/>
                </a:solidFill>
                <a:latin typeface="Impact"/>
                <a:ea typeface="Impact"/>
                <a:cs typeface="Impact"/>
                <a:sym typeface="Impact"/>
              </a:rPr>
              <a:t>Tools &amp; technology used</a:t>
            </a:r>
          </a:p>
        </p:txBody>
      </p:sp>
      <p:grpSp>
        <p:nvGrpSpPr>
          <p:cNvPr id="3" name="Group 3"/>
          <p:cNvGrpSpPr/>
          <p:nvPr/>
        </p:nvGrpSpPr>
        <p:grpSpPr>
          <a:xfrm rot="-10800000">
            <a:off x="15221092" y="-1135396"/>
            <a:ext cx="9198915" cy="2270792"/>
            <a:chOff x="0" y="0"/>
            <a:chExt cx="1623398" cy="400743"/>
          </a:xfrm>
        </p:grpSpPr>
        <p:sp>
          <p:nvSpPr>
            <p:cNvPr id="4" name="Freeform 4"/>
            <p:cNvSpPr/>
            <p:nvPr/>
          </p:nvSpPr>
          <p:spPr>
            <a:xfrm>
              <a:off x="8118" y="0"/>
              <a:ext cx="1607162" cy="400743"/>
            </a:xfrm>
            <a:custGeom>
              <a:avLst/>
              <a:gdLst/>
              <a:ahLst/>
              <a:cxnLst/>
              <a:rect l="l" t="t" r="r" b="b"/>
              <a:pathLst>
                <a:path w="1607162" h="400743">
                  <a:moveTo>
                    <a:pt x="216122" y="0"/>
                  </a:moveTo>
                  <a:lnTo>
                    <a:pt x="1594240" y="0"/>
                  </a:lnTo>
                  <a:cubicBezTo>
                    <a:pt x="1598731" y="0"/>
                    <a:pt x="1602901" y="2332"/>
                    <a:pt x="1605251" y="6159"/>
                  </a:cubicBezTo>
                  <a:cubicBezTo>
                    <a:pt x="1607602" y="9987"/>
                    <a:pt x="1607796" y="14760"/>
                    <a:pt x="1605765" y="18766"/>
                  </a:cubicBezTo>
                  <a:lnTo>
                    <a:pt x="1421596" y="381977"/>
                  </a:lnTo>
                  <a:cubicBezTo>
                    <a:pt x="1415759" y="393489"/>
                    <a:pt x="1403947" y="400743"/>
                    <a:pt x="1391040" y="400743"/>
                  </a:cubicBezTo>
                  <a:lnTo>
                    <a:pt x="12922" y="400743"/>
                  </a:lnTo>
                  <a:cubicBezTo>
                    <a:pt x="8431" y="400743"/>
                    <a:pt x="4262" y="398411"/>
                    <a:pt x="1911" y="394584"/>
                  </a:cubicBezTo>
                  <a:cubicBezTo>
                    <a:pt x="-439" y="390756"/>
                    <a:pt x="-634" y="385983"/>
                    <a:pt x="1397" y="381977"/>
                  </a:cubicBezTo>
                  <a:lnTo>
                    <a:pt x="185567" y="18766"/>
                  </a:lnTo>
                  <a:cubicBezTo>
                    <a:pt x="191404" y="7254"/>
                    <a:pt x="203215" y="0"/>
                    <a:pt x="216122" y="0"/>
                  </a:cubicBezTo>
                  <a:close/>
                </a:path>
              </a:pathLst>
            </a:custGeom>
            <a:gradFill rotWithShape="1">
              <a:gsLst>
                <a:gs pos="0">
                  <a:srgbClr val="5DE0E6">
                    <a:alpha val="100000"/>
                  </a:srgbClr>
                </a:gs>
                <a:gs pos="100000">
                  <a:srgbClr val="004AAD">
                    <a:alpha val="100000"/>
                  </a:srgbClr>
                </a:gs>
              </a:gsLst>
              <a:lin ang="0"/>
            </a:gradFill>
          </p:spPr>
        </p:sp>
        <p:sp>
          <p:nvSpPr>
            <p:cNvPr id="5" name="TextBox 5"/>
            <p:cNvSpPr txBox="1"/>
            <p:nvPr/>
          </p:nvSpPr>
          <p:spPr>
            <a:xfrm>
              <a:off x="101600" y="-66675"/>
              <a:ext cx="1420198" cy="467418"/>
            </a:xfrm>
            <a:prstGeom prst="rect">
              <a:avLst/>
            </a:prstGeom>
          </p:spPr>
          <p:txBody>
            <a:bodyPr lIns="50800" tIns="50800" rIns="50800" bIns="50800" rtlCol="0" anchor="ctr"/>
            <a:lstStyle/>
            <a:p>
              <a:pPr algn="ctr">
                <a:lnSpc>
                  <a:spcPts val="3151"/>
                </a:lnSpc>
              </a:pPr>
              <a:endParaRPr/>
            </a:p>
          </p:txBody>
        </p:sp>
      </p:grpSp>
      <p:graphicFrame>
        <p:nvGraphicFramePr>
          <p:cNvPr id="6" name="Table 6"/>
          <p:cNvGraphicFramePr>
            <a:graphicFrameLocks noGrp="1"/>
          </p:cNvGraphicFramePr>
          <p:nvPr/>
        </p:nvGraphicFramePr>
        <p:xfrm>
          <a:off x="2214527" y="1400232"/>
          <a:ext cx="14459435" cy="8487205"/>
        </p:xfrm>
        <a:graphic>
          <a:graphicData uri="http://schemas.openxmlformats.org/drawingml/2006/table">
            <a:tbl>
              <a:tblPr/>
              <a:tblGrid>
                <a:gridCol w="3879518">
                  <a:extLst>
                    <a:ext uri="{9D8B030D-6E8A-4147-A177-3AD203B41FA5}">
                      <a16:colId xmlns:a16="http://schemas.microsoft.com/office/drawing/2014/main" val="20000"/>
                    </a:ext>
                  </a:extLst>
                </a:gridCol>
                <a:gridCol w="4606290">
                  <a:extLst>
                    <a:ext uri="{9D8B030D-6E8A-4147-A177-3AD203B41FA5}">
                      <a16:colId xmlns:a16="http://schemas.microsoft.com/office/drawing/2014/main" val="20001"/>
                    </a:ext>
                  </a:extLst>
                </a:gridCol>
                <a:gridCol w="5973626">
                  <a:extLst>
                    <a:ext uri="{9D8B030D-6E8A-4147-A177-3AD203B41FA5}">
                      <a16:colId xmlns:a16="http://schemas.microsoft.com/office/drawing/2014/main" val="20002"/>
                    </a:ext>
                  </a:extLst>
                </a:gridCol>
              </a:tblGrid>
              <a:tr h="707413">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0"/>
                  </a:ext>
                </a:extLst>
              </a:tr>
              <a:tr h="707413">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1"/>
                  </a:ext>
                </a:extLst>
              </a:tr>
              <a:tr h="707413">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2"/>
                  </a:ext>
                </a:extLst>
              </a:tr>
              <a:tr h="706538">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3"/>
                  </a:ext>
                </a:extLst>
              </a:tr>
              <a:tr h="707413">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4"/>
                  </a:ext>
                </a:extLst>
              </a:tr>
              <a:tr h="707413">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5"/>
                  </a:ext>
                </a:extLst>
              </a:tr>
              <a:tr h="707413">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6"/>
                  </a:ext>
                </a:extLst>
              </a:tr>
              <a:tr h="707413">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7"/>
                  </a:ext>
                </a:extLst>
              </a:tr>
              <a:tr h="707413">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8"/>
                  </a:ext>
                </a:extLst>
              </a:tr>
              <a:tr h="707413">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9"/>
                  </a:ext>
                </a:extLst>
              </a:tr>
              <a:tr h="707413">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10"/>
                  </a:ext>
                </a:extLst>
              </a:tr>
              <a:tr h="706538">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1835"/>
                        </a:lnSpc>
                        <a:defRPr/>
                      </a:pPr>
                      <a:endParaRPr lang="en-US" sz="1100"/>
                    </a:p>
                  </a:txBody>
                  <a:tcPr marL="158369" marR="158369" marT="158369" marB="158369"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11"/>
                  </a:ext>
                </a:extLst>
              </a:tr>
            </a:tbl>
          </a:graphicData>
        </a:graphic>
      </p:graphicFrame>
      <p:sp>
        <p:nvSpPr>
          <p:cNvPr id="7" name="TextBox 7"/>
          <p:cNvSpPr txBox="1"/>
          <p:nvPr/>
        </p:nvSpPr>
        <p:spPr>
          <a:xfrm>
            <a:off x="2305832" y="1444261"/>
            <a:ext cx="3671429" cy="449226"/>
          </a:xfrm>
          <a:prstGeom prst="rect">
            <a:avLst/>
          </a:prstGeom>
        </p:spPr>
        <p:txBody>
          <a:bodyPr lIns="0" tIns="0" rIns="0" bIns="0" rtlCol="0" anchor="t">
            <a:spAutoFit/>
          </a:bodyPr>
          <a:lstStyle/>
          <a:p>
            <a:pPr algn="ctr">
              <a:lnSpc>
                <a:spcPts val="3638"/>
              </a:lnSpc>
            </a:pPr>
            <a:r>
              <a:rPr lang="en-US" sz="2842">
                <a:solidFill>
                  <a:srgbClr val="FFFFFF"/>
                </a:solidFill>
                <a:latin typeface="Anton"/>
                <a:ea typeface="Anton"/>
                <a:cs typeface="Anton"/>
                <a:sym typeface="Anton"/>
              </a:rPr>
              <a:t>TOOLS AND TECHNOLOGY</a:t>
            </a:r>
          </a:p>
        </p:txBody>
      </p:sp>
      <p:sp>
        <p:nvSpPr>
          <p:cNvPr id="8" name="TextBox 8"/>
          <p:cNvSpPr txBox="1"/>
          <p:nvPr/>
        </p:nvSpPr>
        <p:spPr>
          <a:xfrm>
            <a:off x="6633339" y="1469736"/>
            <a:ext cx="3228249" cy="489801"/>
          </a:xfrm>
          <a:prstGeom prst="rect">
            <a:avLst/>
          </a:prstGeom>
        </p:spPr>
        <p:txBody>
          <a:bodyPr lIns="0" tIns="0" rIns="0" bIns="0" rtlCol="0" anchor="t">
            <a:spAutoFit/>
          </a:bodyPr>
          <a:lstStyle/>
          <a:p>
            <a:pPr algn="ctr">
              <a:lnSpc>
                <a:spcPts val="3981"/>
              </a:lnSpc>
            </a:pPr>
            <a:r>
              <a:rPr lang="en-US" sz="3110">
                <a:solidFill>
                  <a:srgbClr val="FFFFFF"/>
                </a:solidFill>
                <a:latin typeface="Anton"/>
                <a:ea typeface="Anton"/>
                <a:cs typeface="Anton"/>
                <a:sym typeface="Anton"/>
              </a:rPr>
              <a:t>VERSION</a:t>
            </a:r>
          </a:p>
        </p:txBody>
      </p:sp>
      <p:sp>
        <p:nvSpPr>
          <p:cNvPr id="9" name="TextBox 9"/>
          <p:cNvSpPr txBox="1"/>
          <p:nvPr/>
        </p:nvSpPr>
        <p:spPr>
          <a:xfrm>
            <a:off x="11784758" y="1426527"/>
            <a:ext cx="3193224" cy="484693"/>
          </a:xfrm>
          <a:prstGeom prst="rect">
            <a:avLst/>
          </a:prstGeom>
        </p:spPr>
        <p:txBody>
          <a:bodyPr lIns="0" tIns="0" rIns="0" bIns="0" rtlCol="0" anchor="t">
            <a:spAutoFit/>
          </a:bodyPr>
          <a:lstStyle/>
          <a:p>
            <a:pPr algn="ctr">
              <a:lnSpc>
                <a:spcPts val="3938"/>
              </a:lnSpc>
            </a:pPr>
            <a:r>
              <a:rPr lang="en-US" sz="3076">
                <a:solidFill>
                  <a:srgbClr val="FFFFFF"/>
                </a:solidFill>
                <a:latin typeface="Anton"/>
                <a:ea typeface="Anton"/>
                <a:cs typeface="Anton"/>
                <a:sym typeface="Anton"/>
              </a:rPr>
              <a:t>RATIONALE</a:t>
            </a:r>
          </a:p>
        </p:txBody>
      </p:sp>
      <p:sp>
        <p:nvSpPr>
          <p:cNvPr id="10" name="TextBox 10"/>
          <p:cNvSpPr txBox="1"/>
          <p:nvPr/>
        </p:nvSpPr>
        <p:spPr>
          <a:xfrm>
            <a:off x="7405105" y="2158618"/>
            <a:ext cx="1678455" cy="437874"/>
          </a:xfrm>
          <a:prstGeom prst="rect">
            <a:avLst/>
          </a:prstGeom>
        </p:spPr>
        <p:txBody>
          <a:bodyPr lIns="0" tIns="0" rIns="0" bIns="0" rtlCol="0" anchor="t">
            <a:spAutoFit/>
          </a:bodyPr>
          <a:lstStyle/>
          <a:p>
            <a:pPr algn="l">
              <a:lnSpc>
                <a:spcPts val="3773"/>
              </a:lnSpc>
            </a:pPr>
            <a:r>
              <a:rPr lang="en-US" sz="2329" spc="549">
                <a:solidFill>
                  <a:srgbClr val="FFFFFF"/>
                </a:solidFill>
                <a:latin typeface="League Spartan"/>
                <a:ea typeface="League Spartan"/>
                <a:cs typeface="League Spartan"/>
                <a:sym typeface="League Spartan"/>
              </a:rPr>
              <a:t>LATEST</a:t>
            </a:r>
          </a:p>
        </p:txBody>
      </p:sp>
      <p:sp>
        <p:nvSpPr>
          <p:cNvPr id="11" name="TextBox 11"/>
          <p:cNvSpPr txBox="1"/>
          <p:nvPr/>
        </p:nvSpPr>
        <p:spPr>
          <a:xfrm>
            <a:off x="10937499" y="2154258"/>
            <a:ext cx="5093193" cy="368652"/>
          </a:xfrm>
          <a:prstGeom prst="rect">
            <a:avLst/>
          </a:prstGeom>
        </p:spPr>
        <p:txBody>
          <a:bodyPr lIns="0" tIns="0" rIns="0" bIns="0" rtlCol="0" anchor="t">
            <a:spAutoFit/>
          </a:bodyPr>
          <a:lstStyle/>
          <a:p>
            <a:pPr algn="l">
              <a:lnSpc>
                <a:spcPts val="2782"/>
              </a:lnSpc>
            </a:pPr>
            <a:r>
              <a:rPr lang="en-US" sz="2174" b="1">
                <a:solidFill>
                  <a:srgbClr val="FFFFFF"/>
                </a:solidFill>
                <a:latin typeface="Poppins Bold"/>
                <a:ea typeface="Poppins Bold"/>
                <a:cs typeface="Poppins Bold"/>
                <a:sym typeface="Poppins Bold"/>
              </a:rPr>
              <a:t>IDE FOR CODING DEVELOPMENT</a:t>
            </a:r>
          </a:p>
        </p:txBody>
      </p:sp>
      <p:sp>
        <p:nvSpPr>
          <p:cNvPr id="12" name="TextBox 12"/>
          <p:cNvSpPr txBox="1"/>
          <p:nvPr/>
        </p:nvSpPr>
        <p:spPr>
          <a:xfrm>
            <a:off x="7405105" y="2855081"/>
            <a:ext cx="1678455" cy="437874"/>
          </a:xfrm>
          <a:prstGeom prst="rect">
            <a:avLst/>
          </a:prstGeom>
        </p:spPr>
        <p:txBody>
          <a:bodyPr lIns="0" tIns="0" rIns="0" bIns="0" rtlCol="0" anchor="t">
            <a:spAutoFit/>
          </a:bodyPr>
          <a:lstStyle/>
          <a:p>
            <a:pPr algn="l">
              <a:lnSpc>
                <a:spcPts val="3773"/>
              </a:lnSpc>
            </a:pPr>
            <a:r>
              <a:rPr lang="en-US" sz="2329" spc="549">
                <a:solidFill>
                  <a:srgbClr val="FFFFFF"/>
                </a:solidFill>
                <a:latin typeface="League Spartan"/>
                <a:ea typeface="League Spartan"/>
                <a:cs typeface="League Spartan"/>
                <a:sym typeface="League Spartan"/>
              </a:rPr>
              <a:t>LATEST</a:t>
            </a:r>
          </a:p>
        </p:txBody>
      </p:sp>
      <p:sp>
        <p:nvSpPr>
          <p:cNvPr id="13" name="TextBox 13"/>
          <p:cNvSpPr txBox="1"/>
          <p:nvPr/>
        </p:nvSpPr>
        <p:spPr>
          <a:xfrm>
            <a:off x="10916781" y="2933575"/>
            <a:ext cx="5113912" cy="347562"/>
          </a:xfrm>
          <a:prstGeom prst="rect">
            <a:avLst/>
          </a:prstGeom>
        </p:spPr>
        <p:txBody>
          <a:bodyPr lIns="0" tIns="0" rIns="0" bIns="0" rtlCol="0" anchor="t">
            <a:spAutoFit/>
          </a:bodyPr>
          <a:lstStyle/>
          <a:p>
            <a:pPr algn="l">
              <a:lnSpc>
                <a:spcPts val="2685"/>
              </a:lnSpc>
            </a:pPr>
            <a:r>
              <a:rPr lang="en-US" sz="2097" b="1">
                <a:solidFill>
                  <a:srgbClr val="FFFFFF"/>
                </a:solidFill>
                <a:latin typeface="Poppins Bold"/>
                <a:ea typeface="Poppins Bold"/>
                <a:cs typeface="Poppins Bold"/>
                <a:sym typeface="Poppins Bold"/>
              </a:rPr>
              <a:t>DATABASE MANAGEMENT SYSTEM</a:t>
            </a:r>
          </a:p>
        </p:txBody>
      </p:sp>
      <p:sp>
        <p:nvSpPr>
          <p:cNvPr id="14" name="TextBox 14"/>
          <p:cNvSpPr txBox="1"/>
          <p:nvPr/>
        </p:nvSpPr>
        <p:spPr>
          <a:xfrm>
            <a:off x="2399472" y="2144733"/>
            <a:ext cx="3172412" cy="430506"/>
          </a:xfrm>
          <a:prstGeom prst="rect">
            <a:avLst/>
          </a:prstGeom>
        </p:spPr>
        <p:txBody>
          <a:bodyPr lIns="0" tIns="0" rIns="0" bIns="0" rtlCol="0" anchor="t">
            <a:spAutoFit/>
          </a:bodyPr>
          <a:lstStyle/>
          <a:p>
            <a:pPr algn="ctr">
              <a:lnSpc>
                <a:spcPts val="3238"/>
              </a:lnSpc>
            </a:pPr>
            <a:r>
              <a:rPr lang="en-US" sz="2529" b="1">
                <a:solidFill>
                  <a:srgbClr val="FFFFFF"/>
                </a:solidFill>
                <a:latin typeface="Poppins Bold"/>
                <a:ea typeface="Poppins Bold"/>
                <a:cs typeface="Poppins Bold"/>
                <a:sym typeface="Poppins Bold"/>
              </a:rPr>
              <a:t>VSCODE</a:t>
            </a:r>
          </a:p>
        </p:txBody>
      </p:sp>
      <p:sp>
        <p:nvSpPr>
          <p:cNvPr id="15" name="TextBox 15"/>
          <p:cNvSpPr txBox="1"/>
          <p:nvPr/>
        </p:nvSpPr>
        <p:spPr>
          <a:xfrm>
            <a:off x="2555340" y="2862450"/>
            <a:ext cx="3172412" cy="430506"/>
          </a:xfrm>
          <a:prstGeom prst="rect">
            <a:avLst/>
          </a:prstGeom>
        </p:spPr>
        <p:txBody>
          <a:bodyPr lIns="0" tIns="0" rIns="0" bIns="0" rtlCol="0" anchor="t">
            <a:spAutoFit/>
          </a:bodyPr>
          <a:lstStyle/>
          <a:p>
            <a:pPr algn="ctr">
              <a:lnSpc>
                <a:spcPts val="3238"/>
              </a:lnSpc>
            </a:pPr>
            <a:r>
              <a:rPr lang="en-US" sz="2529" b="1">
                <a:solidFill>
                  <a:srgbClr val="FFFFFF"/>
                </a:solidFill>
                <a:latin typeface="Poppins Bold"/>
                <a:ea typeface="Poppins Bold"/>
                <a:cs typeface="Poppins Bold"/>
                <a:sym typeface="Poppins Bold"/>
              </a:rPr>
              <a:t>SQL DATABASE</a:t>
            </a:r>
          </a:p>
        </p:txBody>
      </p:sp>
      <p:sp>
        <p:nvSpPr>
          <p:cNvPr id="16" name="TextBox 16"/>
          <p:cNvSpPr txBox="1"/>
          <p:nvPr/>
        </p:nvSpPr>
        <p:spPr>
          <a:xfrm>
            <a:off x="2555340" y="3580428"/>
            <a:ext cx="3172412" cy="430506"/>
          </a:xfrm>
          <a:prstGeom prst="rect">
            <a:avLst/>
          </a:prstGeom>
        </p:spPr>
        <p:txBody>
          <a:bodyPr lIns="0" tIns="0" rIns="0" bIns="0" rtlCol="0" anchor="t">
            <a:spAutoFit/>
          </a:bodyPr>
          <a:lstStyle/>
          <a:p>
            <a:pPr algn="ctr">
              <a:lnSpc>
                <a:spcPts val="3238"/>
              </a:lnSpc>
            </a:pPr>
            <a:r>
              <a:rPr lang="en-US" sz="2529" b="1">
                <a:solidFill>
                  <a:srgbClr val="FFFFFF"/>
                </a:solidFill>
                <a:latin typeface="Poppins Bold"/>
                <a:ea typeface="Poppins Bold"/>
                <a:cs typeface="Poppins Bold"/>
                <a:sym typeface="Poppins Bold"/>
              </a:rPr>
              <a:t>FIGMA</a:t>
            </a:r>
          </a:p>
        </p:txBody>
      </p:sp>
      <p:sp>
        <p:nvSpPr>
          <p:cNvPr id="17" name="TextBox 17"/>
          <p:cNvSpPr txBox="1"/>
          <p:nvPr/>
        </p:nvSpPr>
        <p:spPr>
          <a:xfrm>
            <a:off x="2555340" y="4298407"/>
            <a:ext cx="3172412" cy="430506"/>
          </a:xfrm>
          <a:prstGeom prst="rect">
            <a:avLst/>
          </a:prstGeom>
        </p:spPr>
        <p:txBody>
          <a:bodyPr lIns="0" tIns="0" rIns="0" bIns="0" rtlCol="0" anchor="t">
            <a:spAutoFit/>
          </a:bodyPr>
          <a:lstStyle/>
          <a:p>
            <a:pPr algn="ctr">
              <a:lnSpc>
                <a:spcPts val="3238"/>
              </a:lnSpc>
            </a:pPr>
            <a:r>
              <a:rPr lang="en-US" sz="2529" b="1">
                <a:solidFill>
                  <a:srgbClr val="FFFFFF"/>
                </a:solidFill>
                <a:latin typeface="Poppins Bold"/>
                <a:ea typeface="Poppins Bold"/>
                <a:cs typeface="Poppins Bold"/>
                <a:sym typeface="Poppins Bold"/>
              </a:rPr>
              <a:t>PENCIL</a:t>
            </a:r>
          </a:p>
        </p:txBody>
      </p:sp>
      <p:sp>
        <p:nvSpPr>
          <p:cNvPr id="18" name="TextBox 18"/>
          <p:cNvSpPr txBox="1"/>
          <p:nvPr/>
        </p:nvSpPr>
        <p:spPr>
          <a:xfrm>
            <a:off x="2555340" y="5031903"/>
            <a:ext cx="3172412" cy="430506"/>
          </a:xfrm>
          <a:prstGeom prst="rect">
            <a:avLst/>
          </a:prstGeom>
        </p:spPr>
        <p:txBody>
          <a:bodyPr lIns="0" tIns="0" rIns="0" bIns="0" rtlCol="0" anchor="t">
            <a:spAutoFit/>
          </a:bodyPr>
          <a:lstStyle/>
          <a:p>
            <a:pPr algn="ctr">
              <a:lnSpc>
                <a:spcPts val="3238"/>
              </a:lnSpc>
            </a:pPr>
            <a:r>
              <a:rPr lang="en-US" sz="2529" b="1">
                <a:solidFill>
                  <a:srgbClr val="FFFFFF"/>
                </a:solidFill>
                <a:latin typeface="Poppins Bold"/>
                <a:ea typeface="Poppins Bold"/>
                <a:cs typeface="Poppins Bold"/>
                <a:sym typeface="Poppins Bold"/>
              </a:rPr>
              <a:t>MS WORD</a:t>
            </a:r>
          </a:p>
        </p:txBody>
      </p:sp>
      <p:sp>
        <p:nvSpPr>
          <p:cNvPr id="19" name="TextBox 19"/>
          <p:cNvSpPr txBox="1"/>
          <p:nvPr/>
        </p:nvSpPr>
        <p:spPr>
          <a:xfrm>
            <a:off x="2555340" y="5787650"/>
            <a:ext cx="3172412" cy="430506"/>
          </a:xfrm>
          <a:prstGeom prst="rect">
            <a:avLst/>
          </a:prstGeom>
        </p:spPr>
        <p:txBody>
          <a:bodyPr lIns="0" tIns="0" rIns="0" bIns="0" rtlCol="0" anchor="t">
            <a:spAutoFit/>
          </a:bodyPr>
          <a:lstStyle/>
          <a:p>
            <a:pPr algn="ctr">
              <a:lnSpc>
                <a:spcPts val="3238"/>
              </a:lnSpc>
            </a:pPr>
            <a:r>
              <a:rPr lang="en-US" sz="2529" b="1">
                <a:solidFill>
                  <a:srgbClr val="FFFFFF"/>
                </a:solidFill>
                <a:latin typeface="Poppins Bold"/>
                <a:ea typeface="Poppins Bold"/>
                <a:cs typeface="Poppins Bold"/>
                <a:sym typeface="Poppins Bold"/>
              </a:rPr>
              <a:t>HTML</a:t>
            </a:r>
          </a:p>
        </p:txBody>
      </p:sp>
      <p:sp>
        <p:nvSpPr>
          <p:cNvPr id="20" name="TextBox 20"/>
          <p:cNvSpPr txBox="1"/>
          <p:nvPr/>
        </p:nvSpPr>
        <p:spPr>
          <a:xfrm>
            <a:off x="7408235" y="3532803"/>
            <a:ext cx="1678455" cy="437874"/>
          </a:xfrm>
          <a:prstGeom prst="rect">
            <a:avLst/>
          </a:prstGeom>
        </p:spPr>
        <p:txBody>
          <a:bodyPr lIns="0" tIns="0" rIns="0" bIns="0" rtlCol="0" anchor="t">
            <a:spAutoFit/>
          </a:bodyPr>
          <a:lstStyle/>
          <a:p>
            <a:pPr algn="l">
              <a:lnSpc>
                <a:spcPts val="3773"/>
              </a:lnSpc>
            </a:pPr>
            <a:r>
              <a:rPr lang="en-US" sz="2329" spc="549">
                <a:solidFill>
                  <a:srgbClr val="FFFFFF"/>
                </a:solidFill>
                <a:latin typeface="League Spartan"/>
                <a:ea typeface="League Spartan"/>
                <a:cs typeface="League Spartan"/>
                <a:sym typeface="League Spartan"/>
              </a:rPr>
              <a:t>LATEST</a:t>
            </a:r>
          </a:p>
        </p:txBody>
      </p:sp>
      <p:sp>
        <p:nvSpPr>
          <p:cNvPr id="21" name="TextBox 21"/>
          <p:cNvSpPr txBox="1"/>
          <p:nvPr/>
        </p:nvSpPr>
        <p:spPr>
          <a:xfrm>
            <a:off x="7408235" y="4268871"/>
            <a:ext cx="1678455" cy="441951"/>
          </a:xfrm>
          <a:prstGeom prst="rect">
            <a:avLst/>
          </a:prstGeom>
        </p:spPr>
        <p:txBody>
          <a:bodyPr lIns="0" tIns="0" rIns="0" bIns="0" rtlCol="0" anchor="t">
            <a:spAutoFit/>
          </a:bodyPr>
          <a:lstStyle/>
          <a:p>
            <a:pPr algn="ctr">
              <a:lnSpc>
                <a:spcPts val="3773"/>
              </a:lnSpc>
            </a:pPr>
            <a:r>
              <a:rPr lang="en-US" sz="2329" spc="549">
                <a:solidFill>
                  <a:srgbClr val="FFFFFF"/>
                </a:solidFill>
                <a:latin typeface="League Spartan"/>
                <a:ea typeface="League Spartan"/>
                <a:cs typeface="League Spartan"/>
                <a:sym typeface="League Spartan"/>
              </a:rPr>
              <a:t>3.1</a:t>
            </a:r>
          </a:p>
        </p:txBody>
      </p:sp>
      <p:sp>
        <p:nvSpPr>
          <p:cNvPr id="22" name="TextBox 22"/>
          <p:cNvSpPr txBox="1"/>
          <p:nvPr/>
        </p:nvSpPr>
        <p:spPr>
          <a:xfrm>
            <a:off x="6712068" y="5002367"/>
            <a:ext cx="3362627" cy="441951"/>
          </a:xfrm>
          <a:prstGeom prst="rect">
            <a:avLst/>
          </a:prstGeom>
        </p:spPr>
        <p:txBody>
          <a:bodyPr lIns="0" tIns="0" rIns="0" bIns="0" rtlCol="0" anchor="t">
            <a:spAutoFit/>
          </a:bodyPr>
          <a:lstStyle/>
          <a:p>
            <a:pPr algn="ctr">
              <a:lnSpc>
                <a:spcPts val="3773"/>
              </a:lnSpc>
            </a:pPr>
            <a:r>
              <a:rPr lang="en-US" sz="2329" spc="549">
                <a:solidFill>
                  <a:srgbClr val="FFFFFF"/>
                </a:solidFill>
                <a:latin typeface="League Spartan"/>
                <a:ea typeface="League Spartan"/>
                <a:cs typeface="League Spartan"/>
                <a:sym typeface="League Spartan"/>
              </a:rPr>
              <a:t>2019/365</a:t>
            </a:r>
          </a:p>
        </p:txBody>
      </p:sp>
      <p:sp>
        <p:nvSpPr>
          <p:cNvPr id="23" name="TextBox 23"/>
          <p:cNvSpPr txBox="1"/>
          <p:nvPr/>
        </p:nvSpPr>
        <p:spPr>
          <a:xfrm>
            <a:off x="6712068" y="5758114"/>
            <a:ext cx="3362627" cy="441951"/>
          </a:xfrm>
          <a:prstGeom prst="rect">
            <a:avLst/>
          </a:prstGeom>
        </p:spPr>
        <p:txBody>
          <a:bodyPr lIns="0" tIns="0" rIns="0" bIns="0" rtlCol="0" anchor="t">
            <a:spAutoFit/>
          </a:bodyPr>
          <a:lstStyle/>
          <a:p>
            <a:pPr algn="ctr">
              <a:lnSpc>
                <a:spcPts val="3773"/>
              </a:lnSpc>
            </a:pPr>
            <a:r>
              <a:rPr lang="en-US" sz="2329" spc="549">
                <a:solidFill>
                  <a:srgbClr val="FFFFFF"/>
                </a:solidFill>
                <a:latin typeface="League Spartan"/>
                <a:ea typeface="League Spartan"/>
                <a:cs typeface="League Spartan"/>
                <a:sym typeface="League Spartan"/>
              </a:rPr>
              <a:t>5</a:t>
            </a:r>
          </a:p>
        </p:txBody>
      </p:sp>
      <p:sp>
        <p:nvSpPr>
          <p:cNvPr id="24" name="TextBox 24"/>
          <p:cNvSpPr txBox="1"/>
          <p:nvPr/>
        </p:nvSpPr>
        <p:spPr>
          <a:xfrm>
            <a:off x="6712068" y="6476093"/>
            <a:ext cx="3362627" cy="441951"/>
          </a:xfrm>
          <a:prstGeom prst="rect">
            <a:avLst/>
          </a:prstGeom>
        </p:spPr>
        <p:txBody>
          <a:bodyPr lIns="0" tIns="0" rIns="0" bIns="0" rtlCol="0" anchor="t">
            <a:spAutoFit/>
          </a:bodyPr>
          <a:lstStyle/>
          <a:p>
            <a:pPr algn="ctr">
              <a:lnSpc>
                <a:spcPts val="3773"/>
              </a:lnSpc>
            </a:pPr>
            <a:r>
              <a:rPr lang="en-US" sz="2329" spc="549">
                <a:solidFill>
                  <a:srgbClr val="FFFFFF"/>
                </a:solidFill>
                <a:latin typeface="League Spartan"/>
                <a:ea typeface="League Spartan"/>
                <a:cs typeface="League Spartan"/>
                <a:sym typeface="League Spartan"/>
              </a:rPr>
              <a:t>3</a:t>
            </a:r>
          </a:p>
        </p:txBody>
      </p:sp>
      <p:sp>
        <p:nvSpPr>
          <p:cNvPr id="25" name="TextBox 25"/>
          <p:cNvSpPr txBox="1"/>
          <p:nvPr/>
        </p:nvSpPr>
        <p:spPr>
          <a:xfrm>
            <a:off x="6712068" y="7157868"/>
            <a:ext cx="3362627" cy="441951"/>
          </a:xfrm>
          <a:prstGeom prst="rect">
            <a:avLst/>
          </a:prstGeom>
        </p:spPr>
        <p:txBody>
          <a:bodyPr lIns="0" tIns="0" rIns="0" bIns="0" rtlCol="0" anchor="t">
            <a:spAutoFit/>
          </a:bodyPr>
          <a:lstStyle/>
          <a:p>
            <a:pPr algn="ctr">
              <a:lnSpc>
                <a:spcPts val="3773"/>
              </a:lnSpc>
            </a:pPr>
            <a:r>
              <a:rPr lang="en-US" sz="2329" spc="549">
                <a:solidFill>
                  <a:srgbClr val="FFFFFF"/>
                </a:solidFill>
                <a:latin typeface="League Spartan"/>
                <a:ea typeface="League Spartan"/>
                <a:cs typeface="League Spartan"/>
                <a:sym typeface="League Spartan"/>
              </a:rPr>
              <a:t>ES6</a:t>
            </a:r>
          </a:p>
        </p:txBody>
      </p:sp>
      <p:sp>
        <p:nvSpPr>
          <p:cNvPr id="26" name="TextBox 26"/>
          <p:cNvSpPr txBox="1"/>
          <p:nvPr/>
        </p:nvSpPr>
        <p:spPr>
          <a:xfrm>
            <a:off x="2555340" y="6505628"/>
            <a:ext cx="3172412" cy="430506"/>
          </a:xfrm>
          <a:prstGeom prst="rect">
            <a:avLst/>
          </a:prstGeom>
        </p:spPr>
        <p:txBody>
          <a:bodyPr lIns="0" tIns="0" rIns="0" bIns="0" rtlCol="0" anchor="t">
            <a:spAutoFit/>
          </a:bodyPr>
          <a:lstStyle/>
          <a:p>
            <a:pPr algn="ctr">
              <a:lnSpc>
                <a:spcPts val="3238"/>
              </a:lnSpc>
            </a:pPr>
            <a:r>
              <a:rPr lang="en-US" sz="2529" b="1">
                <a:solidFill>
                  <a:srgbClr val="FFFFFF"/>
                </a:solidFill>
                <a:latin typeface="Poppins Bold"/>
                <a:ea typeface="Poppins Bold"/>
                <a:cs typeface="Poppins Bold"/>
                <a:sym typeface="Poppins Bold"/>
              </a:rPr>
              <a:t>CSS</a:t>
            </a:r>
          </a:p>
        </p:txBody>
      </p:sp>
      <p:sp>
        <p:nvSpPr>
          <p:cNvPr id="27" name="TextBox 27"/>
          <p:cNvSpPr txBox="1"/>
          <p:nvPr/>
        </p:nvSpPr>
        <p:spPr>
          <a:xfrm>
            <a:off x="2555340" y="7187404"/>
            <a:ext cx="3172412" cy="430506"/>
          </a:xfrm>
          <a:prstGeom prst="rect">
            <a:avLst/>
          </a:prstGeom>
        </p:spPr>
        <p:txBody>
          <a:bodyPr lIns="0" tIns="0" rIns="0" bIns="0" rtlCol="0" anchor="t">
            <a:spAutoFit/>
          </a:bodyPr>
          <a:lstStyle/>
          <a:p>
            <a:pPr algn="ctr">
              <a:lnSpc>
                <a:spcPts val="3238"/>
              </a:lnSpc>
            </a:pPr>
            <a:r>
              <a:rPr lang="en-US" sz="2529" b="1">
                <a:solidFill>
                  <a:srgbClr val="FFFFFF"/>
                </a:solidFill>
                <a:latin typeface="Poppins Bold"/>
                <a:ea typeface="Poppins Bold"/>
                <a:cs typeface="Poppins Bold"/>
                <a:sym typeface="Poppins Bold"/>
              </a:rPr>
              <a:t>JAVASCRIPT</a:t>
            </a:r>
          </a:p>
        </p:txBody>
      </p:sp>
      <p:sp>
        <p:nvSpPr>
          <p:cNvPr id="28" name="TextBox 28"/>
          <p:cNvSpPr txBox="1"/>
          <p:nvPr/>
        </p:nvSpPr>
        <p:spPr>
          <a:xfrm>
            <a:off x="2555340" y="7887340"/>
            <a:ext cx="3172412" cy="430506"/>
          </a:xfrm>
          <a:prstGeom prst="rect">
            <a:avLst/>
          </a:prstGeom>
        </p:spPr>
        <p:txBody>
          <a:bodyPr lIns="0" tIns="0" rIns="0" bIns="0" rtlCol="0" anchor="t">
            <a:spAutoFit/>
          </a:bodyPr>
          <a:lstStyle/>
          <a:p>
            <a:pPr algn="ctr">
              <a:lnSpc>
                <a:spcPts val="3238"/>
              </a:lnSpc>
            </a:pPr>
            <a:r>
              <a:rPr lang="en-US" sz="2529" b="1">
                <a:solidFill>
                  <a:srgbClr val="FFFFFF"/>
                </a:solidFill>
                <a:latin typeface="Poppins Bold"/>
                <a:ea typeface="Poppins Bold"/>
                <a:cs typeface="Poppins Bold"/>
                <a:sym typeface="Poppins Bold"/>
              </a:rPr>
              <a:t>BOOTSTRAP</a:t>
            </a:r>
          </a:p>
        </p:txBody>
      </p:sp>
      <p:sp>
        <p:nvSpPr>
          <p:cNvPr id="29" name="TextBox 29"/>
          <p:cNvSpPr txBox="1"/>
          <p:nvPr/>
        </p:nvSpPr>
        <p:spPr>
          <a:xfrm>
            <a:off x="6712068" y="7930684"/>
            <a:ext cx="3362627" cy="441951"/>
          </a:xfrm>
          <a:prstGeom prst="rect">
            <a:avLst/>
          </a:prstGeom>
        </p:spPr>
        <p:txBody>
          <a:bodyPr lIns="0" tIns="0" rIns="0" bIns="0" rtlCol="0" anchor="t">
            <a:spAutoFit/>
          </a:bodyPr>
          <a:lstStyle/>
          <a:p>
            <a:pPr algn="ctr">
              <a:lnSpc>
                <a:spcPts val="3773"/>
              </a:lnSpc>
            </a:pPr>
            <a:r>
              <a:rPr lang="en-US" sz="2329" spc="549">
                <a:solidFill>
                  <a:srgbClr val="FFFFFF"/>
                </a:solidFill>
                <a:latin typeface="League Spartan"/>
                <a:ea typeface="League Spartan"/>
                <a:cs typeface="League Spartan"/>
                <a:sym typeface="League Spartan"/>
              </a:rPr>
              <a:t>5</a:t>
            </a:r>
          </a:p>
        </p:txBody>
      </p:sp>
      <p:sp>
        <p:nvSpPr>
          <p:cNvPr id="30" name="TextBox 30"/>
          <p:cNvSpPr txBox="1"/>
          <p:nvPr/>
        </p:nvSpPr>
        <p:spPr>
          <a:xfrm>
            <a:off x="7554154" y="8612484"/>
            <a:ext cx="1678455" cy="437874"/>
          </a:xfrm>
          <a:prstGeom prst="rect">
            <a:avLst/>
          </a:prstGeom>
        </p:spPr>
        <p:txBody>
          <a:bodyPr lIns="0" tIns="0" rIns="0" bIns="0" rtlCol="0" anchor="t">
            <a:spAutoFit/>
          </a:bodyPr>
          <a:lstStyle/>
          <a:p>
            <a:pPr algn="l">
              <a:lnSpc>
                <a:spcPts val="3773"/>
              </a:lnSpc>
            </a:pPr>
            <a:r>
              <a:rPr lang="en-US" sz="2329" spc="549">
                <a:solidFill>
                  <a:srgbClr val="FFFFFF"/>
                </a:solidFill>
                <a:latin typeface="League Spartan"/>
                <a:ea typeface="League Spartan"/>
                <a:cs typeface="League Spartan"/>
                <a:sym typeface="League Spartan"/>
              </a:rPr>
              <a:t>LATEST</a:t>
            </a:r>
          </a:p>
        </p:txBody>
      </p:sp>
      <p:sp>
        <p:nvSpPr>
          <p:cNvPr id="31" name="TextBox 31"/>
          <p:cNvSpPr txBox="1"/>
          <p:nvPr/>
        </p:nvSpPr>
        <p:spPr>
          <a:xfrm>
            <a:off x="10916781" y="3631425"/>
            <a:ext cx="5113912" cy="347562"/>
          </a:xfrm>
          <a:prstGeom prst="rect">
            <a:avLst/>
          </a:prstGeom>
        </p:spPr>
        <p:txBody>
          <a:bodyPr lIns="0" tIns="0" rIns="0" bIns="0" rtlCol="0" anchor="t">
            <a:spAutoFit/>
          </a:bodyPr>
          <a:lstStyle/>
          <a:p>
            <a:pPr algn="l">
              <a:lnSpc>
                <a:spcPts val="2685"/>
              </a:lnSpc>
            </a:pPr>
            <a:r>
              <a:rPr lang="en-US" sz="2097" b="1">
                <a:solidFill>
                  <a:srgbClr val="FFFFFF"/>
                </a:solidFill>
                <a:latin typeface="Poppins Bold"/>
                <a:ea typeface="Poppins Bold"/>
                <a:cs typeface="Poppins Bold"/>
                <a:sym typeface="Poppins Bold"/>
              </a:rPr>
              <a:t>UX/UI DESIGN AND WIREFRAMES</a:t>
            </a:r>
          </a:p>
        </p:txBody>
      </p:sp>
      <p:sp>
        <p:nvSpPr>
          <p:cNvPr id="32" name="TextBox 32"/>
          <p:cNvSpPr txBox="1"/>
          <p:nvPr/>
        </p:nvSpPr>
        <p:spPr>
          <a:xfrm>
            <a:off x="10937499" y="9378078"/>
            <a:ext cx="5862523" cy="310241"/>
          </a:xfrm>
          <a:prstGeom prst="rect">
            <a:avLst/>
          </a:prstGeom>
        </p:spPr>
        <p:txBody>
          <a:bodyPr lIns="0" tIns="0" rIns="0" bIns="0" rtlCol="0" anchor="t">
            <a:spAutoFit/>
          </a:bodyPr>
          <a:lstStyle/>
          <a:p>
            <a:pPr algn="l">
              <a:lnSpc>
                <a:spcPts val="2371"/>
              </a:lnSpc>
            </a:pPr>
            <a:r>
              <a:rPr lang="en-US" sz="1852" b="1">
                <a:solidFill>
                  <a:srgbClr val="FFFFFF"/>
                </a:solidFill>
                <a:latin typeface="Poppins Bold"/>
                <a:ea typeface="Poppins Bold"/>
                <a:cs typeface="Poppins Bold"/>
                <a:sym typeface="Poppins Bold"/>
              </a:rPr>
              <a:t>DESGIN WORK AND PRESETATION GRAPHICS</a:t>
            </a:r>
          </a:p>
        </p:txBody>
      </p:sp>
      <p:sp>
        <p:nvSpPr>
          <p:cNvPr id="33" name="TextBox 33"/>
          <p:cNvSpPr txBox="1"/>
          <p:nvPr/>
        </p:nvSpPr>
        <p:spPr>
          <a:xfrm>
            <a:off x="10916781" y="5806700"/>
            <a:ext cx="5113912" cy="347562"/>
          </a:xfrm>
          <a:prstGeom prst="rect">
            <a:avLst/>
          </a:prstGeom>
        </p:spPr>
        <p:txBody>
          <a:bodyPr lIns="0" tIns="0" rIns="0" bIns="0" rtlCol="0" anchor="t">
            <a:spAutoFit/>
          </a:bodyPr>
          <a:lstStyle/>
          <a:p>
            <a:pPr algn="l">
              <a:lnSpc>
                <a:spcPts val="2685"/>
              </a:lnSpc>
            </a:pPr>
            <a:r>
              <a:rPr lang="en-US" sz="2097" b="1">
                <a:solidFill>
                  <a:srgbClr val="FFFFFF"/>
                </a:solidFill>
                <a:latin typeface="Poppins Bold"/>
                <a:ea typeface="Poppins Bold"/>
                <a:cs typeface="Poppins Bold"/>
                <a:sym typeface="Poppins Bold"/>
              </a:rPr>
              <a:t>WEBPAGE STRCUTURE</a:t>
            </a:r>
          </a:p>
        </p:txBody>
      </p:sp>
      <p:sp>
        <p:nvSpPr>
          <p:cNvPr id="34" name="TextBox 34"/>
          <p:cNvSpPr txBox="1"/>
          <p:nvPr/>
        </p:nvSpPr>
        <p:spPr>
          <a:xfrm>
            <a:off x="10937499" y="6524182"/>
            <a:ext cx="5113912" cy="347562"/>
          </a:xfrm>
          <a:prstGeom prst="rect">
            <a:avLst/>
          </a:prstGeom>
        </p:spPr>
        <p:txBody>
          <a:bodyPr lIns="0" tIns="0" rIns="0" bIns="0" rtlCol="0" anchor="t">
            <a:spAutoFit/>
          </a:bodyPr>
          <a:lstStyle/>
          <a:p>
            <a:pPr algn="l">
              <a:lnSpc>
                <a:spcPts val="2685"/>
              </a:lnSpc>
            </a:pPr>
            <a:r>
              <a:rPr lang="en-US" sz="2097" b="1">
                <a:solidFill>
                  <a:srgbClr val="FFFFFF"/>
                </a:solidFill>
                <a:latin typeface="Poppins Bold"/>
                <a:ea typeface="Poppins Bold"/>
                <a:cs typeface="Poppins Bold"/>
                <a:sym typeface="Poppins Bold"/>
              </a:rPr>
              <a:t>WEBPAGE STYLING</a:t>
            </a:r>
          </a:p>
        </p:txBody>
      </p:sp>
      <p:sp>
        <p:nvSpPr>
          <p:cNvPr id="35" name="TextBox 35"/>
          <p:cNvSpPr txBox="1"/>
          <p:nvPr/>
        </p:nvSpPr>
        <p:spPr>
          <a:xfrm>
            <a:off x="10937499" y="7192892"/>
            <a:ext cx="5113912" cy="347562"/>
          </a:xfrm>
          <a:prstGeom prst="rect">
            <a:avLst/>
          </a:prstGeom>
        </p:spPr>
        <p:txBody>
          <a:bodyPr lIns="0" tIns="0" rIns="0" bIns="0" rtlCol="0" anchor="t">
            <a:spAutoFit/>
          </a:bodyPr>
          <a:lstStyle/>
          <a:p>
            <a:pPr algn="l">
              <a:lnSpc>
                <a:spcPts val="2685"/>
              </a:lnSpc>
            </a:pPr>
            <a:r>
              <a:rPr lang="en-US" sz="2097" b="1">
                <a:solidFill>
                  <a:srgbClr val="FFFFFF"/>
                </a:solidFill>
                <a:latin typeface="Poppins Bold"/>
                <a:ea typeface="Poppins Bold"/>
                <a:cs typeface="Poppins Bold"/>
                <a:sym typeface="Poppins Bold"/>
              </a:rPr>
              <a:t>INTERACTIVE WEB FUNCTIONALITY</a:t>
            </a:r>
          </a:p>
        </p:txBody>
      </p:sp>
      <p:sp>
        <p:nvSpPr>
          <p:cNvPr id="36" name="TextBox 36"/>
          <p:cNvSpPr txBox="1"/>
          <p:nvPr/>
        </p:nvSpPr>
        <p:spPr>
          <a:xfrm>
            <a:off x="10916781" y="8011216"/>
            <a:ext cx="5113912" cy="347562"/>
          </a:xfrm>
          <a:prstGeom prst="rect">
            <a:avLst/>
          </a:prstGeom>
        </p:spPr>
        <p:txBody>
          <a:bodyPr lIns="0" tIns="0" rIns="0" bIns="0" rtlCol="0" anchor="t">
            <a:spAutoFit/>
          </a:bodyPr>
          <a:lstStyle/>
          <a:p>
            <a:pPr algn="l">
              <a:lnSpc>
                <a:spcPts val="2685"/>
              </a:lnSpc>
            </a:pPr>
            <a:r>
              <a:rPr lang="en-US" sz="2097" b="1">
                <a:solidFill>
                  <a:srgbClr val="FFFFFF"/>
                </a:solidFill>
                <a:latin typeface="Poppins Bold"/>
                <a:ea typeface="Poppins Bold"/>
                <a:cs typeface="Poppins Bold"/>
                <a:sym typeface="Poppins Bold"/>
              </a:rPr>
              <a:t>RESPONSIVE UI FRAMEWORK</a:t>
            </a:r>
          </a:p>
        </p:txBody>
      </p:sp>
      <p:sp>
        <p:nvSpPr>
          <p:cNvPr id="37" name="TextBox 37"/>
          <p:cNvSpPr txBox="1"/>
          <p:nvPr/>
        </p:nvSpPr>
        <p:spPr>
          <a:xfrm>
            <a:off x="10937499" y="8660596"/>
            <a:ext cx="5113912" cy="347562"/>
          </a:xfrm>
          <a:prstGeom prst="rect">
            <a:avLst/>
          </a:prstGeom>
        </p:spPr>
        <p:txBody>
          <a:bodyPr lIns="0" tIns="0" rIns="0" bIns="0" rtlCol="0" anchor="t">
            <a:spAutoFit/>
          </a:bodyPr>
          <a:lstStyle/>
          <a:p>
            <a:pPr algn="l">
              <a:lnSpc>
                <a:spcPts val="2685"/>
              </a:lnSpc>
            </a:pPr>
            <a:r>
              <a:rPr lang="en-US" sz="2097" b="1">
                <a:solidFill>
                  <a:srgbClr val="FFFFFF"/>
                </a:solidFill>
                <a:latin typeface="Poppins Bold"/>
                <a:ea typeface="Poppins Bold"/>
                <a:cs typeface="Poppins Bold"/>
                <a:sym typeface="Poppins Bold"/>
              </a:rPr>
              <a:t>DATABASE QUERY LANGUAGE</a:t>
            </a:r>
          </a:p>
        </p:txBody>
      </p:sp>
      <p:sp>
        <p:nvSpPr>
          <p:cNvPr id="38" name="TextBox 38"/>
          <p:cNvSpPr txBox="1"/>
          <p:nvPr/>
        </p:nvSpPr>
        <p:spPr>
          <a:xfrm>
            <a:off x="2555340" y="8641546"/>
            <a:ext cx="3172412" cy="430506"/>
          </a:xfrm>
          <a:prstGeom prst="rect">
            <a:avLst/>
          </a:prstGeom>
        </p:spPr>
        <p:txBody>
          <a:bodyPr lIns="0" tIns="0" rIns="0" bIns="0" rtlCol="0" anchor="t">
            <a:spAutoFit/>
          </a:bodyPr>
          <a:lstStyle/>
          <a:p>
            <a:pPr algn="ctr">
              <a:lnSpc>
                <a:spcPts val="3238"/>
              </a:lnSpc>
            </a:pPr>
            <a:r>
              <a:rPr lang="en-US" sz="2529" b="1">
                <a:solidFill>
                  <a:srgbClr val="FFFFFF"/>
                </a:solidFill>
                <a:latin typeface="Poppins Bold"/>
                <a:ea typeface="Poppins Bold"/>
                <a:cs typeface="Poppins Bold"/>
                <a:sym typeface="Poppins Bold"/>
              </a:rPr>
              <a:t>SQL</a:t>
            </a:r>
          </a:p>
        </p:txBody>
      </p:sp>
      <p:sp>
        <p:nvSpPr>
          <p:cNvPr id="39" name="TextBox 39"/>
          <p:cNvSpPr txBox="1"/>
          <p:nvPr/>
        </p:nvSpPr>
        <p:spPr>
          <a:xfrm>
            <a:off x="10937499" y="4349404"/>
            <a:ext cx="5113912" cy="347562"/>
          </a:xfrm>
          <a:prstGeom prst="rect">
            <a:avLst/>
          </a:prstGeom>
        </p:spPr>
        <p:txBody>
          <a:bodyPr lIns="0" tIns="0" rIns="0" bIns="0" rtlCol="0" anchor="t">
            <a:spAutoFit/>
          </a:bodyPr>
          <a:lstStyle/>
          <a:p>
            <a:pPr algn="l">
              <a:lnSpc>
                <a:spcPts val="2685"/>
              </a:lnSpc>
            </a:pPr>
            <a:r>
              <a:rPr lang="en-US" sz="2097" b="1">
                <a:solidFill>
                  <a:srgbClr val="FFFFFF"/>
                </a:solidFill>
                <a:latin typeface="Poppins Bold"/>
                <a:ea typeface="Poppins Bold"/>
                <a:cs typeface="Poppins Bold"/>
                <a:sym typeface="Poppins Bold"/>
              </a:rPr>
              <a:t>MOCKUP CREATION</a:t>
            </a:r>
          </a:p>
        </p:txBody>
      </p:sp>
      <p:sp>
        <p:nvSpPr>
          <p:cNvPr id="40" name="TextBox 40"/>
          <p:cNvSpPr txBox="1"/>
          <p:nvPr/>
        </p:nvSpPr>
        <p:spPr>
          <a:xfrm>
            <a:off x="10937499" y="5114925"/>
            <a:ext cx="5113912" cy="347562"/>
          </a:xfrm>
          <a:prstGeom prst="rect">
            <a:avLst/>
          </a:prstGeom>
        </p:spPr>
        <p:txBody>
          <a:bodyPr lIns="0" tIns="0" rIns="0" bIns="0" rtlCol="0" anchor="t">
            <a:spAutoFit/>
          </a:bodyPr>
          <a:lstStyle/>
          <a:p>
            <a:pPr algn="l">
              <a:lnSpc>
                <a:spcPts val="2685"/>
              </a:lnSpc>
            </a:pPr>
            <a:r>
              <a:rPr lang="en-US" sz="2097" b="1">
                <a:solidFill>
                  <a:srgbClr val="FFFFFF"/>
                </a:solidFill>
                <a:latin typeface="Poppins Bold"/>
                <a:ea typeface="Poppins Bold"/>
                <a:cs typeface="Poppins Bold"/>
                <a:sym typeface="Poppins Bold"/>
              </a:rPr>
              <a:t>DOCUMENTATION</a:t>
            </a:r>
          </a:p>
        </p:txBody>
      </p:sp>
      <p:sp>
        <p:nvSpPr>
          <p:cNvPr id="41" name="TextBox 41"/>
          <p:cNvSpPr txBox="1"/>
          <p:nvPr/>
        </p:nvSpPr>
        <p:spPr>
          <a:xfrm>
            <a:off x="2555340" y="9335191"/>
            <a:ext cx="3172412" cy="430506"/>
          </a:xfrm>
          <a:prstGeom prst="rect">
            <a:avLst/>
          </a:prstGeom>
        </p:spPr>
        <p:txBody>
          <a:bodyPr lIns="0" tIns="0" rIns="0" bIns="0" rtlCol="0" anchor="t">
            <a:spAutoFit/>
          </a:bodyPr>
          <a:lstStyle/>
          <a:p>
            <a:pPr algn="ctr">
              <a:lnSpc>
                <a:spcPts val="3238"/>
              </a:lnSpc>
            </a:pPr>
            <a:r>
              <a:rPr lang="en-US" sz="2529" b="1">
                <a:solidFill>
                  <a:srgbClr val="FFFFFF"/>
                </a:solidFill>
                <a:latin typeface="Poppins Bold"/>
                <a:ea typeface="Poppins Bold"/>
                <a:cs typeface="Poppins Bold"/>
                <a:sym typeface="Poppins Bold"/>
              </a:rPr>
              <a:t>CANVA</a:t>
            </a:r>
          </a:p>
        </p:txBody>
      </p:sp>
      <p:sp>
        <p:nvSpPr>
          <p:cNvPr id="42" name="TextBox 42"/>
          <p:cNvSpPr txBox="1"/>
          <p:nvPr/>
        </p:nvSpPr>
        <p:spPr>
          <a:xfrm>
            <a:off x="7554154" y="9345633"/>
            <a:ext cx="1678455" cy="437874"/>
          </a:xfrm>
          <a:prstGeom prst="rect">
            <a:avLst/>
          </a:prstGeom>
        </p:spPr>
        <p:txBody>
          <a:bodyPr lIns="0" tIns="0" rIns="0" bIns="0" rtlCol="0" anchor="t">
            <a:spAutoFit/>
          </a:bodyPr>
          <a:lstStyle/>
          <a:p>
            <a:pPr algn="l">
              <a:lnSpc>
                <a:spcPts val="3773"/>
              </a:lnSpc>
            </a:pPr>
            <a:r>
              <a:rPr lang="en-US" sz="2329" spc="549">
                <a:solidFill>
                  <a:srgbClr val="FFFFFF"/>
                </a:solidFill>
                <a:latin typeface="League Spartan"/>
                <a:ea typeface="League Spartan"/>
                <a:cs typeface="League Spartan"/>
                <a:sym typeface="League Spartan"/>
              </a:rPr>
              <a:t>LATEST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B4D">
                <a:alpha val="100000"/>
              </a:srgbClr>
            </a:gs>
            <a:gs pos="100000">
              <a:srgbClr val="1F2489">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963657" y="2522488"/>
            <a:ext cx="5728521" cy="2950877"/>
            <a:chOff x="8192" y="99940"/>
            <a:chExt cx="1508746" cy="777186"/>
          </a:xfrm>
        </p:grpSpPr>
        <p:sp>
          <p:nvSpPr>
            <p:cNvPr id="3" name="Freeform 3"/>
            <p:cNvSpPr/>
            <p:nvPr/>
          </p:nvSpPr>
          <p:spPr>
            <a:xfrm>
              <a:off x="8192" y="159474"/>
              <a:ext cx="1502475" cy="710511"/>
            </a:xfrm>
            <a:custGeom>
              <a:avLst/>
              <a:gdLst/>
              <a:ahLst/>
              <a:cxnLst/>
              <a:rect l="l" t="t" r="r" b="b"/>
              <a:pathLst>
                <a:path w="1502475" h="710511">
                  <a:moveTo>
                    <a:pt x="69213" y="0"/>
                  </a:moveTo>
                  <a:lnTo>
                    <a:pt x="1433263" y="0"/>
                  </a:lnTo>
                  <a:cubicBezTo>
                    <a:pt x="1471488" y="0"/>
                    <a:pt x="1502475" y="30988"/>
                    <a:pt x="1502475" y="69213"/>
                  </a:cubicBezTo>
                  <a:lnTo>
                    <a:pt x="1502475" y="641298"/>
                  </a:lnTo>
                  <a:cubicBezTo>
                    <a:pt x="1502475" y="659655"/>
                    <a:pt x="1495183" y="677259"/>
                    <a:pt x="1482204" y="690239"/>
                  </a:cubicBezTo>
                  <a:cubicBezTo>
                    <a:pt x="1469224" y="703219"/>
                    <a:pt x="1451619" y="710511"/>
                    <a:pt x="1433263" y="710511"/>
                  </a:cubicBezTo>
                  <a:lnTo>
                    <a:pt x="69213" y="710511"/>
                  </a:lnTo>
                  <a:cubicBezTo>
                    <a:pt x="50856" y="710511"/>
                    <a:pt x="33252" y="703219"/>
                    <a:pt x="20272" y="690239"/>
                  </a:cubicBezTo>
                  <a:cubicBezTo>
                    <a:pt x="7292" y="677259"/>
                    <a:pt x="0" y="659655"/>
                    <a:pt x="0" y="641298"/>
                  </a:cubicBezTo>
                  <a:lnTo>
                    <a:pt x="0" y="69213"/>
                  </a:lnTo>
                  <a:cubicBezTo>
                    <a:pt x="0" y="50856"/>
                    <a:pt x="7292" y="33252"/>
                    <a:pt x="20272" y="20272"/>
                  </a:cubicBezTo>
                  <a:cubicBezTo>
                    <a:pt x="33252" y="7292"/>
                    <a:pt x="50856" y="0"/>
                    <a:pt x="69213" y="0"/>
                  </a:cubicBezTo>
                  <a:close/>
                </a:path>
              </a:pathLst>
            </a:custGeom>
            <a:solidFill>
              <a:srgbClr val="EFEFEF"/>
            </a:solidFill>
          </p:spPr>
        </p:sp>
        <p:sp>
          <p:nvSpPr>
            <p:cNvPr id="4" name="TextBox 4"/>
            <p:cNvSpPr txBox="1"/>
            <p:nvPr/>
          </p:nvSpPr>
          <p:spPr>
            <a:xfrm>
              <a:off x="14463" y="99940"/>
              <a:ext cx="1502475" cy="777186"/>
            </a:xfrm>
            <a:prstGeom prst="rect">
              <a:avLst/>
            </a:prstGeom>
          </p:spPr>
          <p:txBody>
            <a:bodyPr lIns="50800" tIns="50800" rIns="50800" bIns="50800" rtlCol="0" anchor="ctr"/>
            <a:lstStyle/>
            <a:p>
              <a:pPr algn="ctr">
                <a:lnSpc>
                  <a:spcPts val="3151"/>
                </a:lnSpc>
              </a:pPr>
              <a:r>
                <a:rPr lang="en-US" sz="2251" b="1" dirty="0">
                  <a:solidFill>
                    <a:srgbClr val="0D1B4D"/>
                  </a:solidFill>
                  <a:latin typeface="Poppins Bold"/>
                  <a:ea typeface="Poppins Bold"/>
                  <a:cs typeface="Poppins Bold"/>
                  <a:sym typeface="Poppins Bold"/>
                </a:rPr>
                <a:t>Primary Users:</a:t>
              </a:r>
            </a:p>
            <a:p>
              <a:pPr marL="486066" lvl="1" indent="-243033" algn="l">
                <a:lnSpc>
                  <a:spcPts val="3151"/>
                </a:lnSpc>
                <a:buFont typeface="Arial"/>
                <a:buChar char="•"/>
              </a:pPr>
              <a:r>
                <a:rPr lang="en-US" sz="2251" b="1" dirty="0">
                  <a:solidFill>
                    <a:srgbClr val="000000"/>
                  </a:solidFill>
                  <a:latin typeface="Poppins Bold"/>
                  <a:ea typeface="Poppins Bold"/>
                  <a:cs typeface="Poppins Bold"/>
                  <a:sym typeface="Poppins Bold"/>
                </a:rPr>
                <a:t> </a:t>
              </a:r>
              <a:r>
                <a:rPr lang="en-US" sz="2251" b="1" dirty="0">
                  <a:solidFill>
                    <a:srgbClr val="3168AB"/>
                  </a:solidFill>
                  <a:latin typeface="Poppins Bold"/>
                  <a:ea typeface="Poppins Bold"/>
                  <a:cs typeface="Poppins Bold"/>
                  <a:sym typeface="Poppins Bold"/>
                </a:rPr>
                <a:t>Gym members (end-users)</a:t>
              </a:r>
            </a:p>
            <a:p>
              <a:pPr marL="486066" lvl="1" indent="-243033" algn="l">
                <a:lnSpc>
                  <a:spcPts val="3151"/>
                </a:lnSpc>
                <a:buFont typeface="Arial"/>
                <a:buChar char="•"/>
              </a:pPr>
              <a:r>
                <a:rPr lang="en-US" sz="2251" b="1" dirty="0">
                  <a:solidFill>
                    <a:srgbClr val="3168AB"/>
                  </a:solidFill>
                  <a:latin typeface="Poppins Bold"/>
                  <a:ea typeface="Poppins Bold"/>
                  <a:cs typeface="Poppins Bold"/>
                  <a:sym typeface="Poppins Bold"/>
                </a:rPr>
                <a:t>Fitness Trainers (content creators)</a:t>
              </a:r>
            </a:p>
            <a:p>
              <a:pPr marL="486066" lvl="1" indent="-243033" algn="l">
                <a:lnSpc>
                  <a:spcPts val="3151"/>
                </a:lnSpc>
                <a:buFont typeface="Arial"/>
                <a:buChar char="•"/>
              </a:pPr>
              <a:r>
                <a:rPr lang="en-US" sz="2251" b="1" dirty="0">
                  <a:solidFill>
                    <a:srgbClr val="3168AB"/>
                  </a:solidFill>
                  <a:latin typeface="Poppins Bold"/>
                  <a:ea typeface="Poppins Bold"/>
                  <a:cs typeface="Poppins Bold"/>
                  <a:sym typeface="Poppins Bold"/>
                </a:rPr>
                <a:t> System Admins (management)</a:t>
              </a:r>
            </a:p>
            <a:p>
              <a:pPr algn="ctr">
                <a:lnSpc>
                  <a:spcPts val="3151"/>
                </a:lnSpc>
              </a:pPr>
              <a:endParaRPr lang="en-US" sz="2251" b="1" dirty="0">
                <a:solidFill>
                  <a:srgbClr val="3168AB"/>
                </a:solidFill>
                <a:latin typeface="Poppins Bold"/>
                <a:ea typeface="Poppins Bold"/>
                <a:cs typeface="Poppins Bold"/>
                <a:sym typeface="Poppins Bold"/>
              </a:endParaRPr>
            </a:p>
          </p:txBody>
        </p:sp>
      </p:grpSp>
      <p:sp>
        <p:nvSpPr>
          <p:cNvPr id="5" name="TextBox 5"/>
          <p:cNvSpPr txBox="1"/>
          <p:nvPr/>
        </p:nvSpPr>
        <p:spPr>
          <a:xfrm>
            <a:off x="4471988" y="379067"/>
            <a:ext cx="9344025" cy="1169720"/>
          </a:xfrm>
          <a:prstGeom prst="rect">
            <a:avLst/>
          </a:prstGeom>
        </p:spPr>
        <p:txBody>
          <a:bodyPr lIns="0" tIns="0" rIns="0" bIns="0" rtlCol="0" anchor="t">
            <a:spAutoFit/>
          </a:bodyPr>
          <a:lstStyle/>
          <a:p>
            <a:pPr algn="ctr">
              <a:lnSpc>
                <a:spcPts val="9552"/>
              </a:lnSpc>
              <a:spcBef>
                <a:spcPct val="0"/>
              </a:spcBef>
            </a:pPr>
            <a:r>
              <a:rPr lang="en-US" sz="6823">
                <a:solidFill>
                  <a:srgbClr val="FFFFFF"/>
                </a:solidFill>
                <a:latin typeface="League Spartan"/>
                <a:ea typeface="League Spartan"/>
                <a:cs typeface="League Spartan"/>
                <a:sym typeface="League Spartan"/>
              </a:rPr>
              <a:t>Project StakeHolders</a:t>
            </a:r>
          </a:p>
        </p:txBody>
      </p:sp>
      <p:grpSp>
        <p:nvGrpSpPr>
          <p:cNvPr id="6" name="Group 6"/>
          <p:cNvGrpSpPr/>
          <p:nvPr/>
        </p:nvGrpSpPr>
        <p:grpSpPr>
          <a:xfrm>
            <a:off x="1402560" y="6447070"/>
            <a:ext cx="5704711" cy="2697721"/>
            <a:chOff x="0" y="0"/>
            <a:chExt cx="1502475" cy="710511"/>
          </a:xfrm>
        </p:grpSpPr>
        <p:sp>
          <p:nvSpPr>
            <p:cNvPr id="7" name="Freeform 7"/>
            <p:cNvSpPr/>
            <p:nvPr/>
          </p:nvSpPr>
          <p:spPr>
            <a:xfrm>
              <a:off x="0" y="0"/>
              <a:ext cx="1502475" cy="710511"/>
            </a:xfrm>
            <a:custGeom>
              <a:avLst/>
              <a:gdLst/>
              <a:ahLst/>
              <a:cxnLst/>
              <a:rect l="l" t="t" r="r" b="b"/>
              <a:pathLst>
                <a:path w="1502475" h="710511">
                  <a:moveTo>
                    <a:pt x="69213" y="0"/>
                  </a:moveTo>
                  <a:lnTo>
                    <a:pt x="1433263" y="0"/>
                  </a:lnTo>
                  <a:cubicBezTo>
                    <a:pt x="1471488" y="0"/>
                    <a:pt x="1502475" y="30988"/>
                    <a:pt x="1502475" y="69213"/>
                  </a:cubicBezTo>
                  <a:lnTo>
                    <a:pt x="1502475" y="641298"/>
                  </a:lnTo>
                  <a:cubicBezTo>
                    <a:pt x="1502475" y="659655"/>
                    <a:pt x="1495183" y="677259"/>
                    <a:pt x="1482204" y="690239"/>
                  </a:cubicBezTo>
                  <a:cubicBezTo>
                    <a:pt x="1469224" y="703219"/>
                    <a:pt x="1451619" y="710511"/>
                    <a:pt x="1433263" y="710511"/>
                  </a:cubicBezTo>
                  <a:lnTo>
                    <a:pt x="69213" y="710511"/>
                  </a:lnTo>
                  <a:cubicBezTo>
                    <a:pt x="50856" y="710511"/>
                    <a:pt x="33252" y="703219"/>
                    <a:pt x="20272" y="690239"/>
                  </a:cubicBezTo>
                  <a:cubicBezTo>
                    <a:pt x="7292" y="677259"/>
                    <a:pt x="0" y="659655"/>
                    <a:pt x="0" y="641298"/>
                  </a:cubicBezTo>
                  <a:lnTo>
                    <a:pt x="0" y="69213"/>
                  </a:lnTo>
                  <a:cubicBezTo>
                    <a:pt x="0" y="50856"/>
                    <a:pt x="7292" y="33252"/>
                    <a:pt x="20272" y="20272"/>
                  </a:cubicBezTo>
                  <a:cubicBezTo>
                    <a:pt x="33252" y="7292"/>
                    <a:pt x="50856" y="0"/>
                    <a:pt x="69213" y="0"/>
                  </a:cubicBezTo>
                  <a:close/>
                </a:path>
              </a:pathLst>
            </a:custGeom>
            <a:solidFill>
              <a:srgbClr val="EEF8FF"/>
            </a:solidFill>
          </p:spPr>
        </p:sp>
        <p:sp>
          <p:nvSpPr>
            <p:cNvPr id="8" name="TextBox 8"/>
            <p:cNvSpPr txBox="1"/>
            <p:nvPr/>
          </p:nvSpPr>
          <p:spPr>
            <a:xfrm>
              <a:off x="0" y="-66675"/>
              <a:ext cx="1502475" cy="777186"/>
            </a:xfrm>
            <a:prstGeom prst="rect">
              <a:avLst/>
            </a:prstGeom>
          </p:spPr>
          <p:txBody>
            <a:bodyPr lIns="50800" tIns="50800" rIns="50800" bIns="50800" rtlCol="0" anchor="ctr"/>
            <a:lstStyle/>
            <a:p>
              <a:pPr algn="ctr">
                <a:lnSpc>
                  <a:spcPts val="3151"/>
                </a:lnSpc>
              </a:pPr>
              <a:r>
                <a:rPr lang="en-US" sz="2251" b="1">
                  <a:solidFill>
                    <a:srgbClr val="0D1B4D"/>
                  </a:solidFill>
                  <a:latin typeface="Poppins Bold"/>
                  <a:ea typeface="Poppins Bold"/>
                  <a:cs typeface="Poppins Bold"/>
                  <a:sym typeface="Poppins Bold"/>
                </a:rPr>
                <a:t>Development Team: </a:t>
              </a:r>
            </a:p>
            <a:p>
              <a:pPr algn="just">
                <a:lnSpc>
                  <a:spcPts val="3151"/>
                </a:lnSpc>
              </a:pPr>
              <a:r>
                <a:rPr lang="en-US" sz="2251" b="1">
                  <a:solidFill>
                    <a:srgbClr val="000000"/>
                  </a:solidFill>
                  <a:latin typeface="Poppins Bold"/>
                  <a:ea typeface="Poppins Bold"/>
                  <a:cs typeface="Poppins Bold"/>
                  <a:sym typeface="Poppins Bold"/>
                </a:rPr>
                <a:t>      </a:t>
              </a:r>
              <a:r>
                <a:rPr lang="en-US" sz="2251" b="1">
                  <a:solidFill>
                    <a:srgbClr val="3168AB"/>
                  </a:solidFill>
                  <a:latin typeface="Poppins Bold"/>
                  <a:ea typeface="Poppins Bold"/>
                  <a:cs typeface="Poppins Bold"/>
                  <a:sym typeface="Poppins Bold"/>
                </a:rPr>
                <a:t> Responsible for</a:t>
              </a:r>
            </a:p>
            <a:p>
              <a:pPr marL="486066" lvl="1" indent="-243033" algn="l">
                <a:lnSpc>
                  <a:spcPts val="3151"/>
                </a:lnSpc>
                <a:buFont typeface="Arial"/>
                <a:buChar char="•"/>
              </a:pPr>
              <a:r>
                <a:rPr lang="en-US" sz="2251" b="1">
                  <a:solidFill>
                    <a:srgbClr val="3168AB"/>
                  </a:solidFill>
                  <a:latin typeface="Poppins Bold"/>
                  <a:ea typeface="Poppins Bold"/>
                  <a:cs typeface="Poppins Bold"/>
                  <a:sym typeface="Poppins Bold"/>
                </a:rPr>
                <a:t>Requirement analysis</a:t>
              </a:r>
            </a:p>
            <a:p>
              <a:pPr marL="486066" lvl="1" indent="-243033" algn="l">
                <a:lnSpc>
                  <a:spcPts val="3151"/>
                </a:lnSpc>
                <a:buFont typeface="Arial"/>
                <a:buChar char="•"/>
              </a:pPr>
              <a:r>
                <a:rPr lang="en-US" sz="2251" b="1">
                  <a:solidFill>
                    <a:srgbClr val="3168AB"/>
                  </a:solidFill>
                  <a:latin typeface="Poppins Bold"/>
                  <a:ea typeface="Poppins Bold"/>
                  <a:cs typeface="Poppins Bold"/>
                  <a:sym typeface="Poppins Bold"/>
                </a:rPr>
                <a:t>Full-stack development</a:t>
              </a:r>
            </a:p>
            <a:p>
              <a:pPr marL="486066" lvl="1" indent="-243033" algn="l">
                <a:lnSpc>
                  <a:spcPts val="3151"/>
                </a:lnSpc>
                <a:buFont typeface="Arial"/>
                <a:buChar char="•"/>
              </a:pPr>
              <a:r>
                <a:rPr lang="en-US" sz="2251" b="1">
                  <a:solidFill>
                    <a:srgbClr val="3168AB"/>
                  </a:solidFill>
                  <a:latin typeface="Poppins Bold"/>
                  <a:ea typeface="Poppins Bold"/>
                  <a:cs typeface="Poppins Bold"/>
                  <a:sym typeface="Poppins Bold"/>
                </a:rPr>
                <a:t> Testing</a:t>
              </a:r>
            </a:p>
          </p:txBody>
        </p:sp>
      </p:grpSp>
      <p:grpSp>
        <p:nvGrpSpPr>
          <p:cNvPr id="9" name="Group 9"/>
          <p:cNvGrpSpPr/>
          <p:nvPr/>
        </p:nvGrpSpPr>
        <p:grpSpPr>
          <a:xfrm>
            <a:off x="10932553" y="6605869"/>
            <a:ext cx="5704711" cy="2652431"/>
            <a:chOff x="0" y="0"/>
            <a:chExt cx="1502475" cy="698583"/>
          </a:xfrm>
        </p:grpSpPr>
        <p:sp>
          <p:nvSpPr>
            <p:cNvPr id="10" name="Freeform 10"/>
            <p:cNvSpPr/>
            <p:nvPr/>
          </p:nvSpPr>
          <p:spPr>
            <a:xfrm>
              <a:off x="0" y="0"/>
              <a:ext cx="1502475" cy="698583"/>
            </a:xfrm>
            <a:custGeom>
              <a:avLst/>
              <a:gdLst/>
              <a:ahLst/>
              <a:cxnLst/>
              <a:rect l="l" t="t" r="r" b="b"/>
              <a:pathLst>
                <a:path w="1502475" h="698583">
                  <a:moveTo>
                    <a:pt x="69213" y="0"/>
                  </a:moveTo>
                  <a:lnTo>
                    <a:pt x="1433263" y="0"/>
                  </a:lnTo>
                  <a:cubicBezTo>
                    <a:pt x="1471488" y="0"/>
                    <a:pt x="1502475" y="30988"/>
                    <a:pt x="1502475" y="69213"/>
                  </a:cubicBezTo>
                  <a:lnTo>
                    <a:pt x="1502475" y="629370"/>
                  </a:lnTo>
                  <a:cubicBezTo>
                    <a:pt x="1502475" y="647726"/>
                    <a:pt x="1495183" y="665331"/>
                    <a:pt x="1482204" y="678311"/>
                  </a:cubicBezTo>
                  <a:cubicBezTo>
                    <a:pt x="1469224" y="691291"/>
                    <a:pt x="1451619" y="698583"/>
                    <a:pt x="1433263" y="698583"/>
                  </a:cubicBezTo>
                  <a:lnTo>
                    <a:pt x="69213" y="698583"/>
                  </a:lnTo>
                  <a:cubicBezTo>
                    <a:pt x="50856" y="698583"/>
                    <a:pt x="33252" y="691291"/>
                    <a:pt x="20272" y="678311"/>
                  </a:cubicBezTo>
                  <a:cubicBezTo>
                    <a:pt x="7292" y="665331"/>
                    <a:pt x="0" y="647726"/>
                    <a:pt x="0" y="629370"/>
                  </a:cubicBezTo>
                  <a:lnTo>
                    <a:pt x="0" y="69213"/>
                  </a:lnTo>
                  <a:cubicBezTo>
                    <a:pt x="0" y="50856"/>
                    <a:pt x="7292" y="33252"/>
                    <a:pt x="20272" y="20272"/>
                  </a:cubicBezTo>
                  <a:cubicBezTo>
                    <a:pt x="33252" y="7292"/>
                    <a:pt x="50856" y="0"/>
                    <a:pt x="69213" y="0"/>
                  </a:cubicBezTo>
                  <a:close/>
                </a:path>
              </a:pathLst>
            </a:custGeom>
            <a:solidFill>
              <a:srgbClr val="EFEFEF"/>
            </a:solidFill>
          </p:spPr>
        </p:sp>
        <p:sp>
          <p:nvSpPr>
            <p:cNvPr id="11" name="TextBox 11"/>
            <p:cNvSpPr txBox="1"/>
            <p:nvPr/>
          </p:nvSpPr>
          <p:spPr>
            <a:xfrm>
              <a:off x="0" y="-66675"/>
              <a:ext cx="1502475" cy="765258"/>
            </a:xfrm>
            <a:prstGeom prst="rect">
              <a:avLst/>
            </a:prstGeom>
          </p:spPr>
          <p:txBody>
            <a:bodyPr lIns="50800" tIns="50800" rIns="50800" bIns="50800" rtlCol="0" anchor="ctr"/>
            <a:lstStyle/>
            <a:p>
              <a:pPr algn="ctr">
                <a:lnSpc>
                  <a:spcPts val="3151"/>
                </a:lnSpc>
              </a:pPr>
              <a:r>
                <a:rPr lang="en-US" sz="2251" b="1">
                  <a:solidFill>
                    <a:srgbClr val="0D1B4D"/>
                  </a:solidFill>
                  <a:latin typeface="Poppins Bold"/>
                  <a:ea typeface="Poppins Bold"/>
                  <a:cs typeface="Poppins Bold"/>
                  <a:sym typeface="Poppins Bold"/>
                </a:rPr>
                <a:t>Project Supervisor:</a:t>
              </a:r>
            </a:p>
            <a:p>
              <a:pPr algn="ctr">
                <a:lnSpc>
                  <a:spcPts val="3151"/>
                </a:lnSpc>
              </a:pPr>
              <a:r>
                <a:rPr lang="en-US" sz="2251" b="1">
                  <a:solidFill>
                    <a:srgbClr val="3168AB"/>
                  </a:solidFill>
                  <a:latin typeface="Poppins Bold"/>
                  <a:ea typeface="Poppins Bold"/>
                  <a:cs typeface="Poppins Bold"/>
                  <a:sym typeface="Poppins Bold"/>
                </a:rPr>
                <a:t>Provides technical oversight and validates system architecture</a:t>
              </a:r>
            </a:p>
          </p:txBody>
        </p:sp>
      </p:grpSp>
      <p:grpSp>
        <p:nvGrpSpPr>
          <p:cNvPr id="12" name="Group 12"/>
          <p:cNvGrpSpPr/>
          <p:nvPr/>
        </p:nvGrpSpPr>
        <p:grpSpPr>
          <a:xfrm>
            <a:off x="1388272" y="2475312"/>
            <a:ext cx="5718999" cy="2950877"/>
            <a:chOff x="-3763" y="87515"/>
            <a:chExt cx="1506238" cy="777186"/>
          </a:xfrm>
        </p:grpSpPr>
        <p:sp>
          <p:nvSpPr>
            <p:cNvPr id="13" name="Freeform 13"/>
            <p:cNvSpPr/>
            <p:nvPr/>
          </p:nvSpPr>
          <p:spPr>
            <a:xfrm>
              <a:off x="0" y="133278"/>
              <a:ext cx="1502475" cy="710511"/>
            </a:xfrm>
            <a:custGeom>
              <a:avLst/>
              <a:gdLst/>
              <a:ahLst/>
              <a:cxnLst/>
              <a:rect l="l" t="t" r="r" b="b"/>
              <a:pathLst>
                <a:path w="1502475" h="710511">
                  <a:moveTo>
                    <a:pt x="69213" y="0"/>
                  </a:moveTo>
                  <a:lnTo>
                    <a:pt x="1433263" y="0"/>
                  </a:lnTo>
                  <a:cubicBezTo>
                    <a:pt x="1471488" y="0"/>
                    <a:pt x="1502475" y="30988"/>
                    <a:pt x="1502475" y="69213"/>
                  </a:cubicBezTo>
                  <a:lnTo>
                    <a:pt x="1502475" y="641298"/>
                  </a:lnTo>
                  <a:cubicBezTo>
                    <a:pt x="1502475" y="659655"/>
                    <a:pt x="1495183" y="677259"/>
                    <a:pt x="1482204" y="690239"/>
                  </a:cubicBezTo>
                  <a:cubicBezTo>
                    <a:pt x="1469224" y="703219"/>
                    <a:pt x="1451619" y="710511"/>
                    <a:pt x="1433263" y="710511"/>
                  </a:cubicBezTo>
                  <a:lnTo>
                    <a:pt x="69213" y="710511"/>
                  </a:lnTo>
                  <a:cubicBezTo>
                    <a:pt x="50856" y="710511"/>
                    <a:pt x="33252" y="703219"/>
                    <a:pt x="20272" y="690239"/>
                  </a:cubicBezTo>
                  <a:cubicBezTo>
                    <a:pt x="7292" y="677259"/>
                    <a:pt x="0" y="659655"/>
                    <a:pt x="0" y="641298"/>
                  </a:cubicBezTo>
                  <a:lnTo>
                    <a:pt x="0" y="69213"/>
                  </a:lnTo>
                  <a:cubicBezTo>
                    <a:pt x="0" y="50856"/>
                    <a:pt x="7292" y="33252"/>
                    <a:pt x="20272" y="20272"/>
                  </a:cubicBezTo>
                  <a:cubicBezTo>
                    <a:pt x="33252" y="7292"/>
                    <a:pt x="50856" y="0"/>
                    <a:pt x="69213" y="0"/>
                  </a:cubicBezTo>
                  <a:close/>
                </a:path>
              </a:pathLst>
            </a:custGeom>
            <a:solidFill>
              <a:srgbClr val="EFEFEF"/>
            </a:solidFill>
          </p:spPr>
        </p:sp>
        <p:sp>
          <p:nvSpPr>
            <p:cNvPr id="14" name="TextBox 14"/>
            <p:cNvSpPr txBox="1"/>
            <p:nvPr/>
          </p:nvSpPr>
          <p:spPr>
            <a:xfrm>
              <a:off x="-3763" y="87515"/>
              <a:ext cx="1502475" cy="777186"/>
            </a:xfrm>
            <a:prstGeom prst="rect">
              <a:avLst/>
            </a:prstGeom>
          </p:spPr>
          <p:txBody>
            <a:bodyPr lIns="50800" tIns="50800" rIns="50800" bIns="50800" rtlCol="0" anchor="ctr"/>
            <a:lstStyle/>
            <a:p>
              <a:pPr algn="ctr">
                <a:lnSpc>
                  <a:spcPts val="3151"/>
                </a:lnSpc>
              </a:pPr>
              <a:r>
                <a:rPr lang="en-US" sz="2251" b="1" dirty="0">
                  <a:gradFill>
                    <a:gsLst>
                      <a:gs pos="0">
                        <a:srgbClr val="0D1B4D">
                          <a:alpha val="100000"/>
                        </a:srgbClr>
                      </a:gs>
                      <a:gs pos="100000">
                        <a:srgbClr val="1F2489">
                          <a:alpha val="100000"/>
                        </a:srgbClr>
                      </a:gs>
                    </a:gsLst>
                    <a:lin ang="0"/>
                  </a:gradFill>
                  <a:latin typeface="Poppins Bold"/>
                  <a:ea typeface="Poppins Bold"/>
                  <a:cs typeface="Poppins Bold"/>
                  <a:sym typeface="Poppins Bold"/>
                </a:rPr>
                <a:t>Project Sponsor:</a:t>
              </a:r>
            </a:p>
            <a:p>
              <a:pPr algn="ctr">
                <a:lnSpc>
                  <a:spcPts val="3151"/>
                </a:lnSpc>
              </a:pPr>
              <a:r>
                <a:rPr lang="en-US" sz="2251" b="1" dirty="0">
                  <a:solidFill>
                    <a:srgbClr val="3168AB"/>
                  </a:solidFill>
                  <a:latin typeface="Poppins Bold"/>
                  <a:ea typeface="Poppins Bold"/>
                  <a:cs typeface="Poppins Bold"/>
                  <a:sym typeface="Poppins Bold"/>
                </a:rPr>
                <a:t>Air University, Islamabad </a:t>
              </a:r>
            </a:p>
            <a:p>
              <a:pPr algn="ctr">
                <a:lnSpc>
                  <a:spcPts val="3151"/>
                </a:lnSpc>
              </a:pPr>
              <a:r>
                <a:rPr lang="en-US" sz="2251" b="1" dirty="0">
                  <a:solidFill>
                    <a:srgbClr val="3168AB"/>
                  </a:solidFill>
                  <a:latin typeface="Poppins Bold"/>
                  <a:ea typeface="Poppins Bold"/>
                  <a:cs typeface="Poppins Bold"/>
                  <a:sym typeface="Poppins Bold"/>
                </a:rPr>
                <a:t>(Academic Authority)</a:t>
              </a:r>
            </a:p>
            <a:p>
              <a:pPr algn="ctr">
                <a:lnSpc>
                  <a:spcPts val="3151"/>
                </a:lnSpc>
              </a:pPr>
              <a:endParaRPr lang="en-US" sz="2251" b="1" dirty="0">
                <a:solidFill>
                  <a:srgbClr val="3168AB"/>
                </a:solidFill>
                <a:latin typeface="Poppins Bold"/>
                <a:ea typeface="Poppins Bold"/>
                <a:cs typeface="Poppins Bold"/>
                <a:sym typeface="Poppins Bold"/>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sp>
        <p:nvSpPr>
          <p:cNvPr id="2" name="TextBox 2"/>
          <p:cNvSpPr txBox="1"/>
          <p:nvPr/>
        </p:nvSpPr>
        <p:spPr>
          <a:xfrm>
            <a:off x="0" y="2313835"/>
            <a:ext cx="18288000" cy="7009731"/>
          </a:xfrm>
          <a:prstGeom prst="rect">
            <a:avLst/>
          </a:prstGeom>
        </p:spPr>
        <p:txBody>
          <a:bodyPr lIns="0" tIns="0" rIns="0" bIns="0" rtlCol="0" anchor="t">
            <a:spAutoFit/>
          </a:bodyPr>
          <a:lstStyle/>
          <a:p>
            <a:pPr marL="572424" lvl="1" indent="-286212" algn="ctr">
              <a:lnSpc>
                <a:spcPts val="3711"/>
              </a:lnSpc>
              <a:buFont typeface="Arial"/>
              <a:buChar char="•"/>
            </a:pPr>
            <a:r>
              <a:rPr lang="en-US" sz="2651" b="1">
                <a:solidFill>
                  <a:srgbClr val="FFFFFF"/>
                </a:solidFill>
                <a:latin typeface="Poppins Bold"/>
                <a:ea typeface="Poppins Bold"/>
                <a:cs typeface="Poppins Bold"/>
                <a:sym typeface="Poppins Bold"/>
              </a:rPr>
              <a:t> Held discussions with local gym managers to understand the workflow of membership management and trainer-client interactions.</a:t>
            </a:r>
          </a:p>
          <a:p>
            <a:pPr algn="ctr">
              <a:lnSpc>
                <a:spcPts val="3711"/>
              </a:lnSpc>
            </a:pPr>
            <a:endParaRPr lang="en-US" sz="2651" b="1">
              <a:solidFill>
                <a:srgbClr val="FFFFFF"/>
              </a:solidFill>
              <a:latin typeface="Poppins Bold"/>
              <a:ea typeface="Poppins Bold"/>
              <a:cs typeface="Poppins Bold"/>
              <a:sym typeface="Poppins Bold"/>
            </a:endParaRPr>
          </a:p>
          <a:p>
            <a:pPr algn="ctr">
              <a:lnSpc>
                <a:spcPts val="3711"/>
              </a:lnSpc>
            </a:pPr>
            <a:endParaRPr lang="en-US" sz="2651" b="1">
              <a:solidFill>
                <a:srgbClr val="FFFFFF"/>
              </a:solidFill>
              <a:latin typeface="Poppins Bold"/>
              <a:ea typeface="Poppins Bold"/>
              <a:cs typeface="Poppins Bold"/>
              <a:sym typeface="Poppins Bold"/>
            </a:endParaRPr>
          </a:p>
          <a:p>
            <a:pPr marL="572424" lvl="1" indent="-286212" algn="ctr">
              <a:lnSpc>
                <a:spcPts val="3711"/>
              </a:lnSpc>
              <a:buFont typeface="Arial"/>
              <a:buChar char="•"/>
            </a:pPr>
            <a:r>
              <a:rPr lang="en-US" sz="2651" b="1">
                <a:solidFill>
                  <a:srgbClr val="FFFFFF"/>
                </a:solidFill>
                <a:latin typeface="Poppins Bold"/>
                <a:ea typeface="Poppins Bold"/>
                <a:cs typeface="Poppins Bold"/>
                <a:sym typeface="Poppins Bold"/>
              </a:rPr>
              <a:t> Conducted a survey via Google Forms among fitness enthusiasts to prioritize features like BMI tracking and diet suggestions.</a:t>
            </a:r>
          </a:p>
          <a:p>
            <a:pPr algn="ctr">
              <a:lnSpc>
                <a:spcPts val="3711"/>
              </a:lnSpc>
            </a:pPr>
            <a:endParaRPr lang="en-US" sz="2651" b="1">
              <a:solidFill>
                <a:srgbClr val="FFFFFF"/>
              </a:solidFill>
              <a:latin typeface="Poppins Bold"/>
              <a:ea typeface="Poppins Bold"/>
              <a:cs typeface="Poppins Bold"/>
              <a:sym typeface="Poppins Bold"/>
            </a:endParaRPr>
          </a:p>
          <a:p>
            <a:pPr algn="ctr">
              <a:lnSpc>
                <a:spcPts val="3711"/>
              </a:lnSpc>
            </a:pPr>
            <a:endParaRPr lang="en-US" sz="2651" b="1">
              <a:solidFill>
                <a:srgbClr val="FFFFFF"/>
              </a:solidFill>
              <a:latin typeface="Poppins Bold"/>
              <a:ea typeface="Poppins Bold"/>
              <a:cs typeface="Poppins Bold"/>
              <a:sym typeface="Poppins Bold"/>
            </a:endParaRPr>
          </a:p>
          <a:p>
            <a:pPr marL="572424" lvl="1" indent="-286212" algn="ctr">
              <a:lnSpc>
                <a:spcPts val="3711"/>
              </a:lnSpc>
              <a:spcBef>
                <a:spcPct val="0"/>
              </a:spcBef>
              <a:buFont typeface="Arial"/>
              <a:buChar char="•"/>
            </a:pPr>
            <a:r>
              <a:rPr lang="en-US" sz="2651" b="1">
                <a:solidFill>
                  <a:srgbClr val="FFFFFF"/>
                </a:solidFill>
                <a:latin typeface="Poppins Bold"/>
                <a:ea typeface="Poppins Bold"/>
                <a:cs typeface="Poppins Bold"/>
                <a:sym typeface="Poppins Bold"/>
              </a:rPr>
              <a:t> Evaluated existing fitness portals (e.g., FitnessPal, Fitbit) to identify gaps in trainer-to-member communication.</a:t>
            </a:r>
          </a:p>
          <a:p>
            <a:pPr algn="ctr">
              <a:lnSpc>
                <a:spcPts val="3711"/>
              </a:lnSpc>
              <a:spcBef>
                <a:spcPct val="0"/>
              </a:spcBef>
            </a:pPr>
            <a:endParaRPr lang="en-US" sz="2651" b="1">
              <a:solidFill>
                <a:srgbClr val="FFFFFF"/>
              </a:solidFill>
              <a:latin typeface="Poppins Bold"/>
              <a:ea typeface="Poppins Bold"/>
              <a:cs typeface="Poppins Bold"/>
              <a:sym typeface="Poppins Bold"/>
            </a:endParaRPr>
          </a:p>
          <a:p>
            <a:pPr algn="ctr">
              <a:lnSpc>
                <a:spcPts val="3711"/>
              </a:lnSpc>
              <a:spcBef>
                <a:spcPct val="0"/>
              </a:spcBef>
            </a:pPr>
            <a:endParaRPr lang="en-US" sz="2651" b="1">
              <a:solidFill>
                <a:srgbClr val="FFFFFF"/>
              </a:solidFill>
              <a:latin typeface="Poppins Bold"/>
              <a:ea typeface="Poppins Bold"/>
              <a:cs typeface="Poppins Bold"/>
              <a:sym typeface="Poppins Bold"/>
            </a:endParaRPr>
          </a:p>
          <a:p>
            <a:pPr marL="572424" lvl="1" indent="-286212" algn="ctr">
              <a:lnSpc>
                <a:spcPts val="3711"/>
              </a:lnSpc>
              <a:spcBef>
                <a:spcPct val="0"/>
              </a:spcBef>
              <a:buFont typeface="Arial"/>
              <a:buChar char="•"/>
            </a:pPr>
            <a:r>
              <a:rPr lang="en-US" sz="2651" b="1">
                <a:solidFill>
                  <a:srgbClr val="FFFFFF"/>
                </a:solidFill>
                <a:latin typeface="Poppins Bold"/>
                <a:ea typeface="Poppins Bold"/>
                <a:cs typeface="Poppins Bold"/>
                <a:sym typeface="Poppins Bold"/>
              </a:rPr>
              <a:t> This multi-tier approach ensures the portal is built on actual user pain points rather than assumptions.</a:t>
            </a:r>
          </a:p>
          <a:p>
            <a:pPr algn="ctr">
              <a:lnSpc>
                <a:spcPts val="3711"/>
              </a:lnSpc>
              <a:spcBef>
                <a:spcPct val="0"/>
              </a:spcBef>
            </a:pPr>
            <a:endParaRPr lang="en-US" sz="2651" b="1">
              <a:solidFill>
                <a:srgbClr val="FFFFFF"/>
              </a:solidFill>
              <a:latin typeface="Poppins Bold"/>
              <a:ea typeface="Poppins Bold"/>
              <a:cs typeface="Poppins Bold"/>
              <a:sym typeface="Poppins Bold"/>
            </a:endParaRPr>
          </a:p>
        </p:txBody>
      </p:sp>
      <p:grpSp>
        <p:nvGrpSpPr>
          <p:cNvPr id="3" name="Group 3"/>
          <p:cNvGrpSpPr/>
          <p:nvPr/>
        </p:nvGrpSpPr>
        <p:grpSpPr>
          <a:xfrm>
            <a:off x="742700" y="3371886"/>
            <a:ext cx="5257570" cy="636938"/>
            <a:chOff x="0" y="0"/>
            <a:chExt cx="1384710" cy="167753"/>
          </a:xfrm>
        </p:grpSpPr>
        <p:sp>
          <p:nvSpPr>
            <p:cNvPr id="4" name="Freeform 4"/>
            <p:cNvSpPr/>
            <p:nvPr/>
          </p:nvSpPr>
          <p:spPr>
            <a:xfrm>
              <a:off x="0" y="0"/>
              <a:ext cx="1384710" cy="167753"/>
            </a:xfrm>
            <a:custGeom>
              <a:avLst/>
              <a:gdLst/>
              <a:ahLst/>
              <a:cxnLst/>
              <a:rect l="l" t="t" r="r" b="b"/>
              <a:pathLst>
                <a:path w="1384710" h="167753">
                  <a:moveTo>
                    <a:pt x="75099" y="0"/>
                  </a:moveTo>
                  <a:lnTo>
                    <a:pt x="1309611" y="0"/>
                  </a:lnTo>
                  <a:cubicBezTo>
                    <a:pt x="1329528" y="0"/>
                    <a:pt x="1348630" y="7912"/>
                    <a:pt x="1362714" y="21996"/>
                  </a:cubicBezTo>
                  <a:cubicBezTo>
                    <a:pt x="1376798" y="36080"/>
                    <a:pt x="1384710" y="55181"/>
                    <a:pt x="1384710" y="75099"/>
                  </a:cubicBezTo>
                  <a:lnTo>
                    <a:pt x="1384710" y="92654"/>
                  </a:lnTo>
                  <a:cubicBezTo>
                    <a:pt x="1384710" y="112572"/>
                    <a:pt x="1376798" y="131673"/>
                    <a:pt x="1362714" y="145757"/>
                  </a:cubicBezTo>
                  <a:cubicBezTo>
                    <a:pt x="1348630" y="159841"/>
                    <a:pt x="1329528" y="167753"/>
                    <a:pt x="1309611" y="167753"/>
                  </a:cubicBezTo>
                  <a:lnTo>
                    <a:pt x="75099" y="167753"/>
                  </a:lnTo>
                  <a:cubicBezTo>
                    <a:pt x="55181" y="167753"/>
                    <a:pt x="36080" y="159841"/>
                    <a:pt x="21996" y="145757"/>
                  </a:cubicBezTo>
                  <a:cubicBezTo>
                    <a:pt x="7912" y="131673"/>
                    <a:pt x="0" y="112572"/>
                    <a:pt x="0" y="92654"/>
                  </a:cubicBezTo>
                  <a:lnTo>
                    <a:pt x="0" y="75099"/>
                  </a:lnTo>
                  <a:cubicBezTo>
                    <a:pt x="0" y="55181"/>
                    <a:pt x="7912" y="36080"/>
                    <a:pt x="21996" y="21996"/>
                  </a:cubicBezTo>
                  <a:cubicBezTo>
                    <a:pt x="36080" y="7912"/>
                    <a:pt x="55181" y="0"/>
                    <a:pt x="75099" y="0"/>
                  </a:cubicBezTo>
                  <a:close/>
                </a:path>
              </a:pathLst>
            </a:custGeom>
            <a:solidFill>
              <a:srgbClr val="EFEFEF"/>
            </a:solidFill>
          </p:spPr>
        </p:sp>
        <p:sp>
          <p:nvSpPr>
            <p:cNvPr id="5" name="TextBox 5"/>
            <p:cNvSpPr txBox="1"/>
            <p:nvPr/>
          </p:nvSpPr>
          <p:spPr>
            <a:xfrm>
              <a:off x="0" y="-66675"/>
              <a:ext cx="1384710" cy="234428"/>
            </a:xfrm>
            <a:prstGeom prst="rect">
              <a:avLst/>
            </a:prstGeom>
          </p:spPr>
          <p:txBody>
            <a:bodyPr lIns="50800" tIns="50800" rIns="50800" bIns="50800" rtlCol="0" anchor="ctr"/>
            <a:lstStyle/>
            <a:p>
              <a:pPr algn="ctr">
                <a:lnSpc>
                  <a:spcPts val="3151"/>
                </a:lnSpc>
              </a:pPr>
              <a:r>
                <a:rPr lang="en-US" sz="2251" b="1">
                  <a:solidFill>
                    <a:srgbClr val="3168AB"/>
                  </a:solidFill>
                  <a:latin typeface="Poppins Bold"/>
                  <a:ea typeface="Poppins Bold"/>
                  <a:cs typeface="Poppins Bold"/>
                  <a:sym typeface="Poppins Bold"/>
                </a:rPr>
                <a:t>Competitive Analysis:</a:t>
              </a:r>
            </a:p>
          </p:txBody>
        </p:sp>
      </p:grpSp>
      <p:grpSp>
        <p:nvGrpSpPr>
          <p:cNvPr id="6" name="Group 6"/>
          <p:cNvGrpSpPr/>
          <p:nvPr/>
        </p:nvGrpSpPr>
        <p:grpSpPr>
          <a:xfrm>
            <a:off x="742700" y="1512888"/>
            <a:ext cx="5257570" cy="636938"/>
            <a:chOff x="0" y="0"/>
            <a:chExt cx="1384710" cy="167753"/>
          </a:xfrm>
        </p:grpSpPr>
        <p:sp>
          <p:nvSpPr>
            <p:cNvPr id="7" name="Freeform 7"/>
            <p:cNvSpPr/>
            <p:nvPr/>
          </p:nvSpPr>
          <p:spPr>
            <a:xfrm>
              <a:off x="0" y="0"/>
              <a:ext cx="1384710" cy="167753"/>
            </a:xfrm>
            <a:custGeom>
              <a:avLst/>
              <a:gdLst/>
              <a:ahLst/>
              <a:cxnLst/>
              <a:rect l="l" t="t" r="r" b="b"/>
              <a:pathLst>
                <a:path w="1384710" h="167753">
                  <a:moveTo>
                    <a:pt x="75099" y="0"/>
                  </a:moveTo>
                  <a:lnTo>
                    <a:pt x="1309611" y="0"/>
                  </a:lnTo>
                  <a:cubicBezTo>
                    <a:pt x="1329528" y="0"/>
                    <a:pt x="1348630" y="7912"/>
                    <a:pt x="1362714" y="21996"/>
                  </a:cubicBezTo>
                  <a:cubicBezTo>
                    <a:pt x="1376798" y="36080"/>
                    <a:pt x="1384710" y="55181"/>
                    <a:pt x="1384710" y="75099"/>
                  </a:cubicBezTo>
                  <a:lnTo>
                    <a:pt x="1384710" y="92654"/>
                  </a:lnTo>
                  <a:cubicBezTo>
                    <a:pt x="1384710" y="112572"/>
                    <a:pt x="1376798" y="131673"/>
                    <a:pt x="1362714" y="145757"/>
                  </a:cubicBezTo>
                  <a:cubicBezTo>
                    <a:pt x="1348630" y="159841"/>
                    <a:pt x="1329528" y="167753"/>
                    <a:pt x="1309611" y="167753"/>
                  </a:cubicBezTo>
                  <a:lnTo>
                    <a:pt x="75099" y="167753"/>
                  </a:lnTo>
                  <a:cubicBezTo>
                    <a:pt x="55181" y="167753"/>
                    <a:pt x="36080" y="159841"/>
                    <a:pt x="21996" y="145757"/>
                  </a:cubicBezTo>
                  <a:cubicBezTo>
                    <a:pt x="7912" y="131673"/>
                    <a:pt x="0" y="112572"/>
                    <a:pt x="0" y="92654"/>
                  </a:cubicBezTo>
                  <a:lnTo>
                    <a:pt x="0" y="75099"/>
                  </a:lnTo>
                  <a:cubicBezTo>
                    <a:pt x="0" y="55181"/>
                    <a:pt x="7912" y="36080"/>
                    <a:pt x="21996" y="21996"/>
                  </a:cubicBezTo>
                  <a:cubicBezTo>
                    <a:pt x="36080" y="7912"/>
                    <a:pt x="55181" y="0"/>
                    <a:pt x="75099" y="0"/>
                  </a:cubicBezTo>
                  <a:close/>
                </a:path>
              </a:pathLst>
            </a:custGeom>
            <a:solidFill>
              <a:srgbClr val="FFFFFF"/>
            </a:solidFill>
          </p:spPr>
        </p:sp>
        <p:sp>
          <p:nvSpPr>
            <p:cNvPr id="8" name="TextBox 8"/>
            <p:cNvSpPr txBox="1"/>
            <p:nvPr/>
          </p:nvSpPr>
          <p:spPr>
            <a:xfrm>
              <a:off x="0" y="-66675"/>
              <a:ext cx="1384710" cy="234428"/>
            </a:xfrm>
            <a:prstGeom prst="rect">
              <a:avLst/>
            </a:prstGeom>
          </p:spPr>
          <p:txBody>
            <a:bodyPr lIns="50800" tIns="50800" rIns="50800" bIns="50800" rtlCol="0" anchor="ctr"/>
            <a:lstStyle/>
            <a:p>
              <a:pPr algn="ctr">
                <a:lnSpc>
                  <a:spcPts val="3151"/>
                </a:lnSpc>
              </a:pPr>
              <a:r>
                <a:rPr lang="en-US" sz="2251" b="1">
                  <a:solidFill>
                    <a:srgbClr val="3168AB"/>
                  </a:solidFill>
                  <a:latin typeface="Poppins Bold"/>
                  <a:ea typeface="Poppins Bold"/>
                  <a:cs typeface="Poppins Bold"/>
                  <a:sym typeface="Poppins Bold"/>
                </a:rPr>
                <a:t>Targeted Interviews:</a:t>
              </a:r>
            </a:p>
          </p:txBody>
        </p:sp>
      </p:grpSp>
      <p:grpSp>
        <p:nvGrpSpPr>
          <p:cNvPr id="9" name="Group 9"/>
          <p:cNvGrpSpPr/>
          <p:nvPr/>
        </p:nvGrpSpPr>
        <p:grpSpPr>
          <a:xfrm>
            <a:off x="742700" y="5220359"/>
            <a:ext cx="5257570" cy="636938"/>
            <a:chOff x="0" y="0"/>
            <a:chExt cx="1384710" cy="167753"/>
          </a:xfrm>
        </p:grpSpPr>
        <p:sp>
          <p:nvSpPr>
            <p:cNvPr id="10" name="Freeform 10"/>
            <p:cNvSpPr/>
            <p:nvPr/>
          </p:nvSpPr>
          <p:spPr>
            <a:xfrm>
              <a:off x="0" y="0"/>
              <a:ext cx="1384710" cy="167753"/>
            </a:xfrm>
            <a:custGeom>
              <a:avLst/>
              <a:gdLst/>
              <a:ahLst/>
              <a:cxnLst/>
              <a:rect l="l" t="t" r="r" b="b"/>
              <a:pathLst>
                <a:path w="1384710" h="167753">
                  <a:moveTo>
                    <a:pt x="75099" y="0"/>
                  </a:moveTo>
                  <a:lnTo>
                    <a:pt x="1309611" y="0"/>
                  </a:lnTo>
                  <a:cubicBezTo>
                    <a:pt x="1329528" y="0"/>
                    <a:pt x="1348630" y="7912"/>
                    <a:pt x="1362714" y="21996"/>
                  </a:cubicBezTo>
                  <a:cubicBezTo>
                    <a:pt x="1376798" y="36080"/>
                    <a:pt x="1384710" y="55181"/>
                    <a:pt x="1384710" y="75099"/>
                  </a:cubicBezTo>
                  <a:lnTo>
                    <a:pt x="1384710" y="92654"/>
                  </a:lnTo>
                  <a:cubicBezTo>
                    <a:pt x="1384710" y="112572"/>
                    <a:pt x="1376798" y="131673"/>
                    <a:pt x="1362714" y="145757"/>
                  </a:cubicBezTo>
                  <a:cubicBezTo>
                    <a:pt x="1348630" y="159841"/>
                    <a:pt x="1329528" y="167753"/>
                    <a:pt x="1309611" y="167753"/>
                  </a:cubicBezTo>
                  <a:lnTo>
                    <a:pt x="75099" y="167753"/>
                  </a:lnTo>
                  <a:cubicBezTo>
                    <a:pt x="55181" y="167753"/>
                    <a:pt x="36080" y="159841"/>
                    <a:pt x="21996" y="145757"/>
                  </a:cubicBezTo>
                  <a:cubicBezTo>
                    <a:pt x="7912" y="131673"/>
                    <a:pt x="0" y="112572"/>
                    <a:pt x="0" y="92654"/>
                  </a:cubicBezTo>
                  <a:lnTo>
                    <a:pt x="0" y="75099"/>
                  </a:lnTo>
                  <a:cubicBezTo>
                    <a:pt x="0" y="55181"/>
                    <a:pt x="7912" y="36080"/>
                    <a:pt x="21996" y="21996"/>
                  </a:cubicBezTo>
                  <a:cubicBezTo>
                    <a:pt x="36080" y="7912"/>
                    <a:pt x="55181" y="0"/>
                    <a:pt x="75099" y="0"/>
                  </a:cubicBezTo>
                  <a:close/>
                </a:path>
              </a:pathLst>
            </a:custGeom>
            <a:solidFill>
              <a:srgbClr val="FFFFFF"/>
            </a:solidFill>
          </p:spPr>
        </p:sp>
        <p:sp>
          <p:nvSpPr>
            <p:cNvPr id="11" name="TextBox 11"/>
            <p:cNvSpPr txBox="1"/>
            <p:nvPr/>
          </p:nvSpPr>
          <p:spPr>
            <a:xfrm>
              <a:off x="0" y="-66675"/>
              <a:ext cx="1384710" cy="234428"/>
            </a:xfrm>
            <a:prstGeom prst="rect">
              <a:avLst/>
            </a:prstGeom>
          </p:spPr>
          <p:txBody>
            <a:bodyPr lIns="50800" tIns="50800" rIns="50800" bIns="50800" rtlCol="0" anchor="ctr"/>
            <a:lstStyle/>
            <a:p>
              <a:pPr algn="ctr">
                <a:lnSpc>
                  <a:spcPts val="3151"/>
                </a:lnSpc>
              </a:pPr>
              <a:r>
                <a:rPr lang="en-US" sz="2251" b="1">
                  <a:solidFill>
                    <a:srgbClr val="3168AB"/>
                  </a:solidFill>
                  <a:latin typeface="Poppins Bold"/>
                  <a:ea typeface="Poppins Bold"/>
                  <a:cs typeface="Poppins Bold"/>
                  <a:sym typeface="Poppins Bold"/>
                </a:rPr>
                <a:t>User Survey:</a:t>
              </a:r>
            </a:p>
          </p:txBody>
        </p:sp>
      </p:grpSp>
      <p:grpSp>
        <p:nvGrpSpPr>
          <p:cNvPr id="12" name="Group 12"/>
          <p:cNvGrpSpPr/>
          <p:nvPr/>
        </p:nvGrpSpPr>
        <p:grpSpPr>
          <a:xfrm>
            <a:off x="742700" y="7066972"/>
            <a:ext cx="5257570" cy="636938"/>
            <a:chOff x="0" y="0"/>
            <a:chExt cx="1384710" cy="167753"/>
          </a:xfrm>
        </p:grpSpPr>
        <p:sp>
          <p:nvSpPr>
            <p:cNvPr id="13" name="Freeform 13"/>
            <p:cNvSpPr/>
            <p:nvPr/>
          </p:nvSpPr>
          <p:spPr>
            <a:xfrm>
              <a:off x="0" y="0"/>
              <a:ext cx="1384710" cy="167753"/>
            </a:xfrm>
            <a:custGeom>
              <a:avLst/>
              <a:gdLst/>
              <a:ahLst/>
              <a:cxnLst/>
              <a:rect l="l" t="t" r="r" b="b"/>
              <a:pathLst>
                <a:path w="1384710" h="167753">
                  <a:moveTo>
                    <a:pt x="75099" y="0"/>
                  </a:moveTo>
                  <a:lnTo>
                    <a:pt x="1309611" y="0"/>
                  </a:lnTo>
                  <a:cubicBezTo>
                    <a:pt x="1329528" y="0"/>
                    <a:pt x="1348630" y="7912"/>
                    <a:pt x="1362714" y="21996"/>
                  </a:cubicBezTo>
                  <a:cubicBezTo>
                    <a:pt x="1376798" y="36080"/>
                    <a:pt x="1384710" y="55181"/>
                    <a:pt x="1384710" y="75099"/>
                  </a:cubicBezTo>
                  <a:lnTo>
                    <a:pt x="1384710" y="92654"/>
                  </a:lnTo>
                  <a:cubicBezTo>
                    <a:pt x="1384710" y="112572"/>
                    <a:pt x="1376798" y="131673"/>
                    <a:pt x="1362714" y="145757"/>
                  </a:cubicBezTo>
                  <a:cubicBezTo>
                    <a:pt x="1348630" y="159841"/>
                    <a:pt x="1329528" y="167753"/>
                    <a:pt x="1309611" y="167753"/>
                  </a:cubicBezTo>
                  <a:lnTo>
                    <a:pt x="75099" y="167753"/>
                  </a:lnTo>
                  <a:cubicBezTo>
                    <a:pt x="55181" y="167753"/>
                    <a:pt x="36080" y="159841"/>
                    <a:pt x="21996" y="145757"/>
                  </a:cubicBezTo>
                  <a:cubicBezTo>
                    <a:pt x="7912" y="131673"/>
                    <a:pt x="0" y="112572"/>
                    <a:pt x="0" y="92654"/>
                  </a:cubicBezTo>
                  <a:lnTo>
                    <a:pt x="0" y="75099"/>
                  </a:lnTo>
                  <a:cubicBezTo>
                    <a:pt x="0" y="55181"/>
                    <a:pt x="7912" y="36080"/>
                    <a:pt x="21996" y="21996"/>
                  </a:cubicBezTo>
                  <a:cubicBezTo>
                    <a:pt x="36080" y="7912"/>
                    <a:pt x="55181" y="0"/>
                    <a:pt x="75099" y="0"/>
                  </a:cubicBezTo>
                  <a:close/>
                </a:path>
              </a:pathLst>
            </a:custGeom>
            <a:solidFill>
              <a:srgbClr val="EFEFEF"/>
            </a:solidFill>
          </p:spPr>
        </p:sp>
        <p:sp>
          <p:nvSpPr>
            <p:cNvPr id="14" name="TextBox 14"/>
            <p:cNvSpPr txBox="1"/>
            <p:nvPr/>
          </p:nvSpPr>
          <p:spPr>
            <a:xfrm>
              <a:off x="0" y="-66675"/>
              <a:ext cx="1384710" cy="234428"/>
            </a:xfrm>
            <a:prstGeom prst="rect">
              <a:avLst/>
            </a:prstGeom>
          </p:spPr>
          <p:txBody>
            <a:bodyPr lIns="50800" tIns="50800" rIns="50800" bIns="50800" rtlCol="0" anchor="ctr"/>
            <a:lstStyle/>
            <a:p>
              <a:pPr algn="ctr">
                <a:lnSpc>
                  <a:spcPts val="3151"/>
                </a:lnSpc>
              </a:pPr>
              <a:r>
                <a:rPr lang="en-US" sz="2251" b="1">
                  <a:solidFill>
                    <a:srgbClr val="3168AB"/>
                  </a:solidFill>
                  <a:latin typeface="Poppins Bold"/>
                  <a:ea typeface="Poppins Bold"/>
                  <a:cs typeface="Poppins Bold"/>
                  <a:sym typeface="Poppins Bold"/>
                </a:rPr>
                <a:t>Reasoning:</a:t>
              </a:r>
            </a:p>
          </p:txBody>
        </p:sp>
      </p:grpSp>
      <p:grpSp>
        <p:nvGrpSpPr>
          <p:cNvPr id="15" name="Group 15"/>
          <p:cNvGrpSpPr/>
          <p:nvPr/>
        </p:nvGrpSpPr>
        <p:grpSpPr>
          <a:xfrm rot="-2329024">
            <a:off x="17262250" y="9628564"/>
            <a:ext cx="1614172" cy="1228409"/>
            <a:chOff x="0" y="0"/>
            <a:chExt cx="425132" cy="323532"/>
          </a:xfrm>
        </p:grpSpPr>
        <p:sp>
          <p:nvSpPr>
            <p:cNvPr id="16" name="Freeform 16"/>
            <p:cNvSpPr/>
            <p:nvPr/>
          </p:nvSpPr>
          <p:spPr>
            <a:xfrm>
              <a:off x="0" y="0"/>
              <a:ext cx="425132" cy="323532"/>
            </a:xfrm>
            <a:custGeom>
              <a:avLst/>
              <a:gdLst/>
              <a:ahLst/>
              <a:cxnLst/>
              <a:rect l="l" t="t" r="r" b="b"/>
              <a:pathLst>
                <a:path w="425132" h="323532">
                  <a:moveTo>
                    <a:pt x="212566" y="323532"/>
                  </a:moveTo>
                  <a:lnTo>
                    <a:pt x="425132" y="0"/>
                  </a:lnTo>
                  <a:lnTo>
                    <a:pt x="0" y="0"/>
                  </a:lnTo>
                  <a:lnTo>
                    <a:pt x="212566" y="323532"/>
                  </a:lnTo>
                  <a:close/>
                </a:path>
              </a:pathLst>
            </a:custGeom>
            <a:solidFill>
              <a:srgbClr val="EEF8FF"/>
            </a:solidFill>
          </p:spPr>
        </p:sp>
        <p:sp>
          <p:nvSpPr>
            <p:cNvPr id="17" name="TextBox 17"/>
            <p:cNvSpPr txBox="1"/>
            <p:nvPr/>
          </p:nvSpPr>
          <p:spPr>
            <a:xfrm>
              <a:off x="66427" y="-43566"/>
              <a:ext cx="292278" cy="216886"/>
            </a:xfrm>
            <a:prstGeom prst="rect">
              <a:avLst/>
            </a:prstGeom>
          </p:spPr>
          <p:txBody>
            <a:bodyPr lIns="50800" tIns="50800" rIns="50800" bIns="50800" rtlCol="0" anchor="ctr"/>
            <a:lstStyle/>
            <a:p>
              <a:pPr algn="ctr">
                <a:lnSpc>
                  <a:spcPts val="3151"/>
                </a:lnSpc>
              </a:pPr>
              <a:endParaRPr/>
            </a:p>
          </p:txBody>
        </p:sp>
      </p:grpSp>
      <p:sp>
        <p:nvSpPr>
          <p:cNvPr id="18" name="TextBox 18"/>
          <p:cNvSpPr txBox="1"/>
          <p:nvPr/>
        </p:nvSpPr>
        <p:spPr>
          <a:xfrm>
            <a:off x="2714970" y="163863"/>
            <a:ext cx="12858060" cy="865334"/>
          </a:xfrm>
          <a:prstGeom prst="rect">
            <a:avLst/>
          </a:prstGeom>
        </p:spPr>
        <p:txBody>
          <a:bodyPr lIns="0" tIns="0" rIns="0" bIns="0" rtlCol="0" anchor="t">
            <a:spAutoFit/>
          </a:bodyPr>
          <a:lstStyle/>
          <a:p>
            <a:pPr algn="ctr">
              <a:lnSpc>
                <a:spcPts val="7158"/>
              </a:lnSpc>
            </a:pPr>
            <a:r>
              <a:rPr lang="en-US" sz="5113">
                <a:solidFill>
                  <a:srgbClr val="FFFFFF"/>
                </a:solidFill>
                <a:latin typeface="League Spartan"/>
                <a:ea typeface="League Spartan"/>
                <a:cs typeface="League Spartan"/>
                <a:sym typeface="League Spartan"/>
              </a:rPr>
              <a:t>Information &amp; Requirement Gathering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2" name="Group 2"/>
          <p:cNvGrpSpPr/>
          <p:nvPr/>
        </p:nvGrpSpPr>
        <p:grpSpPr>
          <a:xfrm>
            <a:off x="535914" y="2056830"/>
            <a:ext cx="3733526" cy="636938"/>
            <a:chOff x="0" y="0"/>
            <a:chExt cx="983315" cy="167753"/>
          </a:xfrm>
        </p:grpSpPr>
        <p:sp>
          <p:nvSpPr>
            <p:cNvPr id="3" name="Freeform 3"/>
            <p:cNvSpPr/>
            <p:nvPr/>
          </p:nvSpPr>
          <p:spPr>
            <a:xfrm>
              <a:off x="0" y="0"/>
              <a:ext cx="983315" cy="167753"/>
            </a:xfrm>
            <a:custGeom>
              <a:avLst/>
              <a:gdLst/>
              <a:ahLst/>
              <a:cxnLst/>
              <a:rect l="l" t="t" r="r" b="b"/>
              <a:pathLst>
                <a:path w="983315" h="167753">
                  <a:moveTo>
                    <a:pt x="83877" y="0"/>
                  </a:moveTo>
                  <a:lnTo>
                    <a:pt x="899439" y="0"/>
                  </a:lnTo>
                  <a:cubicBezTo>
                    <a:pt x="945763" y="0"/>
                    <a:pt x="983315" y="37553"/>
                    <a:pt x="983315" y="83877"/>
                  </a:cubicBezTo>
                  <a:lnTo>
                    <a:pt x="983315" y="83877"/>
                  </a:lnTo>
                  <a:cubicBezTo>
                    <a:pt x="983315" y="106122"/>
                    <a:pt x="974479" y="127456"/>
                    <a:pt x="958749" y="143186"/>
                  </a:cubicBezTo>
                  <a:cubicBezTo>
                    <a:pt x="943019" y="158916"/>
                    <a:pt x="921684" y="167753"/>
                    <a:pt x="899439" y="167753"/>
                  </a:cubicBezTo>
                  <a:lnTo>
                    <a:pt x="83877" y="167753"/>
                  </a:lnTo>
                  <a:cubicBezTo>
                    <a:pt x="37553" y="167753"/>
                    <a:pt x="0" y="130200"/>
                    <a:pt x="0" y="83877"/>
                  </a:cubicBezTo>
                  <a:lnTo>
                    <a:pt x="0" y="83877"/>
                  </a:lnTo>
                  <a:cubicBezTo>
                    <a:pt x="0" y="37553"/>
                    <a:pt x="37553" y="0"/>
                    <a:pt x="83877" y="0"/>
                  </a:cubicBezTo>
                  <a:close/>
                </a:path>
              </a:pathLst>
            </a:custGeom>
            <a:solidFill>
              <a:srgbClr val="02C2FF"/>
            </a:solidFill>
          </p:spPr>
        </p:sp>
        <p:sp>
          <p:nvSpPr>
            <p:cNvPr id="4" name="TextBox 4"/>
            <p:cNvSpPr txBox="1"/>
            <p:nvPr/>
          </p:nvSpPr>
          <p:spPr>
            <a:xfrm>
              <a:off x="0" y="-66675"/>
              <a:ext cx="983315" cy="234428"/>
            </a:xfrm>
            <a:prstGeom prst="rect">
              <a:avLst/>
            </a:prstGeom>
          </p:spPr>
          <p:txBody>
            <a:bodyPr lIns="50800" tIns="50800" rIns="50800" bIns="50800" rtlCol="0" anchor="ctr"/>
            <a:lstStyle/>
            <a:p>
              <a:pPr algn="ctr">
                <a:lnSpc>
                  <a:spcPts val="3151"/>
                </a:lnSpc>
              </a:pPr>
              <a:r>
                <a:rPr lang="en-US" sz="2251" b="1">
                  <a:solidFill>
                    <a:srgbClr val="000000"/>
                  </a:solidFill>
                  <a:latin typeface="Poppins Bold"/>
                  <a:ea typeface="Poppins Bold"/>
                  <a:cs typeface="Poppins Bold"/>
                  <a:sym typeface="Poppins Bold"/>
                </a:rPr>
                <a:t>Database Management</a:t>
              </a:r>
            </a:p>
          </p:txBody>
        </p:sp>
      </p:grpSp>
      <p:sp>
        <p:nvSpPr>
          <p:cNvPr id="5" name="TextBox 5"/>
          <p:cNvSpPr txBox="1"/>
          <p:nvPr/>
        </p:nvSpPr>
        <p:spPr>
          <a:xfrm>
            <a:off x="4555512" y="1990155"/>
            <a:ext cx="13330665" cy="1609691"/>
          </a:xfrm>
          <a:prstGeom prst="rect">
            <a:avLst/>
          </a:prstGeom>
        </p:spPr>
        <p:txBody>
          <a:bodyPr lIns="0" tIns="0" rIns="0" bIns="0" rtlCol="0" anchor="t">
            <a:spAutoFit/>
          </a:bodyPr>
          <a:lstStyle/>
          <a:p>
            <a:pPr algn="ctr">
              <a:lnSpc>
                <a:spcPts val="3151"/>
              </a:lnSpc>
              <a:spcBef>
                <a:spcPct val="0"/>
              </a:spcBef>
            </a:pPr>
            <a:r>
              <a:rPr lang="en-US" sz="2251" b="1">
                <a:solidFill>
                  <a:srgbClr val="FFFFFF"/>
                </a:solidFill>
                <a:latin typeface="Poppins Bold"/>
                <a:ea typeface="Poppins Bold"/>
                <a:cs typeface="Poppins Bold"/>
                <a:sym typeface="Poppins Bold"/>
              </a:rPr>
              <a:t>Understanding how to store and manage user data such as workout records, diet plans, and progress information using SQL databases. This concept helps maintain organized and efficient data storage.</a:t>
            </a:r>
          </a:p>
          <a:p>
            <a:pPr algn="ctr">
              <a:lnSpc>
                <a:spcPts val="3151"/>
              </a:lnSpc>
              <a:spcBef>
                <a:spcPct val="0"/>
              </a:spcBef>
            </a:pPr>
            <a:endParaRPr lang="en-US" sz="2251" b="1">
              <a:solidFill>
                <a:srgbClr val="FFFFFF"/>
              </a:solidFill>
              <a:latin typeface="Poppins Bold"/>
              <a:ea typeface="Poppins Bold"/>
              <a:cs typeface="Poppins Bold"/>
              <a:sym typeface="Poppins Bold"/>
            </a:endParaRPr>
          </a:p>
        </p:txBody>
      </p:sp>
      <p:sp>
        <p:nvSpPr>
          <p:cNvPr id="6" name="TextBox 6"/>
          <p:cNvSpPr txBox="1"/>
          <p:nvPr/>
        </p:nvSpPr>
        <p:spPr>
          <a:xfrm>
            <a:off x="4879699" y="-158440"/>
            <a:ext cx="10277978" cy="1242461"/>
          </a:xfrm>
          <a:prstGeom prst="rect">
            <a:avLst/>
          </a:prstGeom>
        </p:spPr>
        <p:txBody>
          <a:bodyPr lIns="0" tIns="0" rIns="0" bIns="0" rtlCol="0" anchor="t">
            <a:spAutoFit/>
          </a:bodyPr>
          <a:lstStyle/>
          <a:p>
            <a:pPr algn="ctr">
              <a:lnSpc>
                <a:spcPts val="10267"/>
              </a:lnSpc>
            </a:pPr>
            <a:r>
              <a:rPr lang="en-US" sz="7334" b="1" u="sng">
                <a:solidFill>
                  <a:srgbClr val="FFFFFF"/>
                </a:solidFill>
                <a:latin typeface="Canva Sans Bold"/>
                <a:ea typeface="Canva Sans Bold"/>
                <a:cs typeface="Canva Sans Bold"/>
                <a:sym typeface="Canva Sans Bold"/>
              </a:rPr>
              <a:t>Learning Concept</a:t>
            </a:r>
          </a:p>
        </p:txBody>
      </p:sp>
      <p:grpSp>
        <p:nvGrpSpPr>
          <p:cNvPr id="7" name="Group 7"/>
          <p:cNvGrpSpPr/>
          <p:nvPr/>
        </p:nvGrpSpPr>
        <p:grpSpPr>
          <a:xfrm>
            <a:off x="535914" y="3665318"/>
            <a:ext cx="3733526" cy="636938"/>
            <a:chOff x="0" y="0"/>
            <a:chExt cx="983315" cy="167753"/>
          </a:xfrm>
        </p:grpSpPr>
        <p:sp>
          <p:nvSpPr>
            <p:cNvPr id="8" name="Freeform 8"/>
            <p:cNvSpPr/>
            <p:nvPr/>
          </p:nvSpPr>
          <p:spPr>
            <a:xfrm>
              <a:off x="0" y="0"/>
              <a:ext cx="983315" cy="167753"/>
            </a:xfrm>
            <a:custGeom>
              <a:avLst/>
              <a:gdLst/>
              <a:ahLst/>
              <a:cxnLst/>
              <a:rect l="l" t="t" r="r" b="b"/>
              <a:pathLst>
                <a:path w="983315" h="167753">
                  <a:moveTo>
                    <a:pt x="83877" y="0"/>
                  </a:moveTo>
                  <a:lnTo>
                    <a:pt x="899439" y="0"/>
                  </a:lnTo>
                  <a:cubicBezTo>
                    <a:pt x="945763" y="0"/>
                    <a:pt x="983315" y="37553"/>
                    <a:pt x="983315" y="83877"/>
                  </a:cubicBezTo>
                  <a:lnTo>
                    <a:pt x="983315" y="83877"/>
                  </a:lnTo>
                  <a:cubicBezTo>
                    <a:pt x="983315" y="106122"/>
                    <a:pt x="974479" y="127456"/>
                    <a:pt x="958749" y="143186"/>
                  </a:cubicBezTo>
                  <a:cubicBezTo>
                    <a:pt x="943019" y="158916"/>
                    <a:pt x="921684" y="167753"/>
                    <a:pt x="899439" y="167753"/>
                  </a:cubicBezTo>
                  <a:lnTo>
                    <a:pt x="83877" y="167753"/>
                  </a:lnTo>
                  <a:cubicBezTo>
                    <a:pt x="37553" y="167753"/>
                    <a:pt x="0" y="130200"/>
                    <a:pt x="0" y="83877"/>
                  </a:cubicBezTo>
                  <a:lnTo>
                    <a:pt x="0" y="83877"/>
                  </a:lnTo>
                  <a:cubicBezTo>
                    <a:pt x="0" y="37553"/>
                    <a:pt x="37553" y="0"/>
                    <a:pt x="83877" y="0"/>
                  </a:cubicBezTo>
                  <a:close/>
                </a:path>
              </a:pathLst>
            </a:custGeom>
            <a:solidFill>
              <a:srgbClr val="02C2FF"/>
            </a:solidFill>
          </p:spPr>
        </p:sp>
        <p:sp>
          <p:nvSpPr>
            <p:cNvPr id="9" name="TextBox 9"/>
            <p:cNvSpPr txBox="1"/>
            <p:nvPr/>
          </p:nvSpPr>
          <p:spPr>
            <a:xfrm>
              <a:off x="0" y="-66675"/>
              <a:ext cx="983315" cy="234428"/>
            </a:xfrm>
            <a:prstGeom prst="rect">
              <a:avLst/>
            </a:prstGeom>
          </p:spPr>
          <p:txBody>
            <a:bodyPr lIns="50800" tIns="50800" rIns="50800" bIns="50800" rtlCol="0" anchor="ctr"/>
            <a:lstStyle/>
            <a:p>
              <a:pPr algn="ctr">
                <a:lnSpc>
                  <a:spcPts val="3151"/>
                </a:lnSpc>
              </a:pPr>
              <a:r>
                <a:rPr lang="en-US" sz="2251" b="1">
                  <a:solidFill>
                    <a:srgbClr val="000000"/>
                  </a:solidFill>
                  <a:latin typeface="Poppins Bold"/>
                  <a:ea typeface="Poppins Bold"/>
                  <a:cs typeface="Poppins Bold"/>
                  <a:sym typeface="Poppins Bold"/>
                </a:rPr>
                <a:t>Responsive Web Design</a:t>
              </a:r>
            </a:p>
          </p:txBody>
        </p:sp>
      </p:grpSp>
      <p:sp>
        <p:nvSpPr>
          <p:cNvPr id="10" name="TextBox 10"/>
          <p:cNvSpPr txBox="1"/>
          <p:nvPr/>
        </p:nvSpPr>
        <p:spPr>
          <a:xfrm>
            <a:off x="4555512" y="3597440"/>
            <a:ext cx="13330665" cy="1209641"/>
          </a:xfrm>
          <a:prstGeom prst="rect">
            <a:avLst/>
          </a:prstGeom>
        </p:spPr>
        <p:txBody>
          <a:bodyPr lIns="0" tIns="0" rIns="0" bIns="0" rtlCol="0" anchor="t">
            <a:spAutoFit/>
          </a:bodyPr>
          <a:lstStyle/>
          <a:p>
            <a:pPr algn="ctr">
              <a:lnSpc>
                <a:spcPts val="3151"/>
              </a:lnSpc>
              <a:spcBef>
                <a:spcPct val="0"/>
              </a:spcBef>
            </a:pPr>
            <a:r>
              <a:rPr lang="en-US" sz="2251" b="1">
                <a:solidFill>
                  <a:srgbClr val="FFFFFF"/>
                </a:solidFill>
                <a:latin typeface="Poppins Bold"/>
                <a:ea typeface="Poppins Bold"/>
                <a:cs typeface="Poppins Bold"/>
                <a:sym typeface="Poppins Bold"/>
              </a:rPr>
              <a:t>Learning how to design web pages that automatically adjust to different screen sizes using HTML, CSS, and Bootstrap to ensure a good user experience on desktops, tablets, and mobile devices.</a:t>
            </a:r>
          </a:p>
        </p:txBody>
      </p:sp>
      <p:grpSp>
        <p:nvGrpSpPr>
          <p:cNvPr id="11" name="Group 11"/>
          <p:cNvGrpSpPr/>
          <p:nvPr/>
        </p:nvGrpSpPr>
        <p:grpSpPr>
          <a:xfrm>
            <a:off x="535914" y="5273806"/>
            <a:ext cx="3733526" cy="636938"/>
            <a:chOff x="0" y="0"/>
            <a:chExt cx="983315" cy="167753"/>
          </a:xfrm>
        </p:grpSpPr>
        <p:sp>
          <p:nvSpPr>
            <p:cNvPr id="12" name="Freeform 12"/>
            <p:cNvSpPr/>
            <p:nvPr/>
          </p:nvSpPr>
          <p:spPr>
            <a:xfrm>
              <a:off x="0" y="0"/>
              <a:ext cx="983315" cy="167753"/>
            </a:xfrm>
            <a:custGeom>
              <a:avLst/>
              <a:gdLst/>
              <a:ahLst/>
              <a:cxnLst/>
              <a:rect l="l" t="t" r="r" b="b"/>
              <a:pathLst>
                <a:path w="983315" h="167753">
                  <a:moveTo>
                    <a:pt x="83877" y="0"/>
                  </a:moveTo>
                  <a:lnTo>
                    <a:pt x="899439" y="0"/>
                  </a:lnTo>
                  <a:cubicBezTo>
                    <a:pt x="945763" y="0"/>
                    <a:pt x="983315" y="37553"/>
                    <a:pt x="983315" y="83877"/>
                  </a:cubicBezTo>
                  <a:lnTo>
                    <a:pt x="983315" y="83877"/>
                  </a:lnTo>
                  <a:cubicBezTo>
                    <a:pt x="983315" y="106122"/>
                    <a:pt x="974479" y="127456"/>
                    <a:pt x="958749" y="143186"/>
                  </a:cubicBezTo>
                  <a:cubicBezTo>
                    <a:pt x="943019" y="158916"/>
                    <a:pt x="921684" y="167753"/>
                    <a:pt x="899439" y="167753"/>
                  </a:cubicBezTo>
                  <a:lnTo>
                    <a:pt x="83877" y="167753"/>
                  </a:lnTo>
                  <a:cubicBezTo>
                    <a:pt x="37553" y="167753"/>
                    <a:pt x="0" y="130200"/>
                    <a:pt x="0" y="83877"/>
                  </a:cubicBezTo>
                  <a:lnTo>
                    <a:pt x="0" y="83877"/>
                  </a:lnTo>
                  <a:cubicBezTo>
                    <a:pt x="0" y="37553"/>
                    <a:pt x="37553" y="0"/>
                    <a:pt x="83877" y="0"/>
                  </a:cubicBezTo>
                  <a:close/>
                </a:path>
              </a:pathLst>
            </a:custGeom>
            <a:solidFill>
              <a:srgbClr val="02C2FF"/>
            </a:solidFill>
          </p:spPr>
        </p:sp>
        <p:sp>
          <p:nvSpPr>
            <p:cNvPr id="13" name="TextBox 13"/>
            <p:cNvSpPr txBox="1"/>
            <p:nvPr/>
          </p:nvSpPr>
          <p:spPr>
            <a:xfrm>
              <a:off x="0" y="-66675"/>
              <a:ext cx="983315" cy="234428"/>
            </a:xfrm>
            <a:prstGeom prst="rect">
              <a:avLst/>
            </a:prstGeom>
          </p:spPr>
          <p:txBody>
            <a:bodyPr lIns="50800" tIns="50800" rIns="50800" bIns="50800" rtlCol="0" anchor="ctr"/>
            <a:lstStyle/>
            <a:p>
              <a:pPr algn="ctr">
                <a:lnSpc>
                  <a:spcPts val="3151"/>
                </a:lnSpc>
              </a:pPr>
              <a:r>
                <a:rPr lang="en-US" sz="2251" b="1">
                  <a:solidFill>
                    <a:srgbClr val="000000"/>
                  </a:solidFill>
                  <a:latin typeface="Poppins Bold"/>
                  <a:ea typeface="Poppins Bold"/>
                  <a:cs typeface="Poppins Bold"/>
                  <a:sym typeface="Poppins Bold"/>
                </a:rPr>
                <a:t>Client-Side Scripting</a:t>
              </a:r>
            </a:p>
          </p:txBody>
        </p:sp>
      </p:grpSp>
      <p:sp>
        <p:nvSpPr>
          <p:cNvPr id="14" name="TextBox 14"/>
          <p:cNvSpPr txBox="1"/>
          <p:nvPr/>
        </p:nvSpPr>
        <p:spPr>
          <a:xfrm>
            <a:off x="4555512" y="5207131"/>
            <a:ext cx="13330665" cy="809591"/>
          </a:xfrm>
          <a:prstGeom prst="rect">
            <a:avLst/>
          </a:prstGeom>
        </p:spPr>
        <p:txBody>
          <a:bodyPr lIns="0" tIns="0" rIns="0" bIns="0" rtlCol="0" anchor="t">
            <a:spAutoFit/>
          </a:bodyPr>
          <a:lstStyle/>
          <a:p>
            <a:pPr algn="ctr">
              <a:lnSpc>
                <a:spcPts val="3151"/>
              </a:lnSpc>
              <a:spcBef>
                <a:spcPct val="0"/>
              </a:spcBef>
            </a:pPr>
            <a:r>
              <a:rPr lang="en-US" sz="2251" b="1">
                <a:solidFill>
                  <a:srgbClr val="FFFFFF"/>
                </a:solidFill>
                <a:latin typeface="Poppins Bold"/>
                <a:ea typeface="Poppins Bold"/>
                <a:cs typeface="Poppins Bold"/>
                <a:sym typeface="Poppins Bold"/>
              </a:rPr>
              <a:t>Using JavaScript to add interactivity to the website such as updating workout progress, displaying notifications, and handling user input without reloading the page.</a:t>
            </a:r>
          </a:p>
        </p:txBody>
      </p:sp>
      <p:grpSp>
        <p:nvGrpSpPr>
          <p:cNvPr id="15" name="Group 15"/>
          <p:cNvGrpSpPr/>
          <p:nvPr/>
        </p:nvGrpSpPr>
        <p:grpSpPr>
          <a:xfrm>
            <a:off x="535914" y="6882294"/>
            <a:ext cx="3733526" cy="636938"/>
            <a:chOff x="0" y="0"/>
            <a:chExt cx="983315" cy="167753"/>
          </a:xfrm>
        </p:grpSpPr>
        <p:sp>
          <p:nvSpPr>
            <p:cNvPr id="16" name="Freeform 16"/>
            <p:cNvSpPr/>
            <p:nvPr/>
          </p:nvSpPr>
          <p:spPr>
            <a:xfrm>
              <a:off x="0" y="0"/>
              <a:ext cx="983315" cy="167753"/>
            </a:xfrm>
            <a:custGeom>
              <a:avLst/>
              <a:gdLst/>
              <a:ahLst/>
              <a:cxnLst/>
              <a:rect l="l" t="t" r="r" b="b"/>
              <a:pathLst>
                <a:path w="983315" h="167753">
                  <a:moveTo>
                    <a:pt x="83877" y="0"/>
                  </a:moveTo>
                  <a:lnTo>
                    <a:pt x="899439" y="0"/>
                  </a:lnTo>
                  <a:cubicBezTo>
                    <a:pt x="945763" y="0"/>
                    <a:pt x="983315" y="37553"/>
                    <a:pt x="983315" y="83877"/>
                  </a:cubicBezTo>
                  <a:lnTo>
                    <a:pt x="983315" y="83877"/>
                  </a:lnTo>
                  <a:cubicBezTo>
                    <a:pt x="983315" y="106122"/>
                    <a:pt x="974479" y="127456"/>
                    <a:pt x="958749" y="143186"/>
                  </a:cubicBezTo>
                  <a:cubicBezTo>
                    <a:pt x="943019" y="158916"/>
                    <a:pt x="921684" y="167753"/>
                    <a:pt x="899439" y="167753"/>
                  </a:cubicBezTo>
                  <a:lnTo>
                    <a:pt x="83877" y="167753"/>
                  </a:lnTo>
                  <a:cubicBezTo>
                    <a:pt x="37553" y="167753"/>
                    <a:pt x="0" y="130200"/>
                    <a:pt x="0" y="83877"/>
                  </a:cubicBezTo>
                  <a:lnTo>
                    <a:pt x="0" y="83877"/>
                  </a:lnTo>
                  <a:cubicBezTo>
                    <a:pt x="0" y="37553"/>
                    <a:pt x="37553" y="0"/>
                    <a:pt x="83877" y="0"/>
                  </a:cubicBezTo>
                  <a:close/>
                </a:path>
              </a:pathLst>
            </a:custGeom>
            <a:solidFill>
              <a:srgbClr val="02C2FF"/>
            </a:solidFill>
          </p:spPr>
        </p:sp>
        <p:sp>
          <p:nvSpPr>
            <p:cNvPr id="17" name="TextBox 17"/>
            <p:cNvSpPr txBox="1"/>
            <p:nvPr/>
          </p:nvSpPr>
          <p:spPr>
            <a:xfrm>
              <a:off x="0" y="-66675"/>
              <a:ext cx="983315" cy="234428"/>
            </a:xfrm>
            <a:prstGeom prst="rect">
              <a:avLst/>
            </a:prstGeom>
          </p:spPr>
          <p:txBody>
            <a:bodyPr lIns="50800" tIns="50800" rIns="50800" bIns="50800" rtlCol="0" anchor="ctr"/>
            <a:lstStyle/>
            <a:p>
              <a:pPr algn="ctr">
                <a:lnSpc>
                  <a:spcPts val="3151"/>
                </a:lnSpc>
              </a:pPr>
              <a:r>
                <a:rPr lang="en-US" sz="2251" b="1">
                  <a:solidFill>
                    <a:srgbClr val="000000"/>
                  </a:solidFill>
                  <a:latin typeface="Poppins Bold"/>
                  <a:ea typeface="Poppins Bold"/>
                  <a:cs typeface="Poppins Bold"/>
                  <a:sym typeface="Poppins Bold"/>
                </a:rPr>
                <a:t>CRUD Operations</a:t>
              </a:r>
            </a:p>
          </p:txBody>
        </p:sp>
      </p:grpSp>
      <p:sp>
        <p:nvSpPr>
          <p:cNvPr id="18" name="TextBox 18"/>
          <p:cNvSpPr txBox="1"/>
          <p:nvPr/>
        </p:nvSpPr>
        <p:spPr>
          <a:xfrm>
            <a:off x="4714028" y="6815619"/>
            <a:ext cx="13330665" cy="1209641"/>
          </a:xfrm>
          <a:prstGeom prst="rect">
            <a:avLst/>
          </a:prstGeom>
        </p:spPr>
        <p:txBody>
          <a:bodyPr lIns="0" tIns="0" rIns="0" bIns="0" rtlCol="0" anchor="t">
            <a:spAutoFit/>
          </a:bodyPr>
          <a:lstStyle/>
          <a:p>
            <a:pPr algn="ctr">
              <a:lnSpc>
                <a:spcPts val="3151"/>
              </a:lnSpc>
              <a:spcBef>
                <a:spcPct val="0"/>
              </a:spcBef>
            </a:pPr>
            <a:r>
              <a:rPr lang="en-US" sz="2251" b="1">
                <a:solidFill>
                  <a:srgbClr val="FFFFFF"/>
                </a:solidFill>
                <a:latin typeface="Poppins Bold"/>
                <a:ea typeface="Poppins Bold"/>
                <a:cs typeface="Poppins Bold"/>
                <a:sym typeface="Poppins Bold"/>
              </a:rPr>
              <a:t>Implementing Create, Read, Update, and Delete operations to manage workout plans, user profiles, and fitness data stored in the database.</a:t>
            </a:r>
          </a:p>
          <a:p>
            <a:pPr algn="ctr">
              <a:lnSpc>
                <a:spcPts val="3151"/>
              </a:lnSpc>
              <a:spcBef>
                <a:spcPct val="0"/>
              </a:spcBef>
            </a:pPr>
            <a:endParaRPr lang="en-US" sz="2251" b="1">
              <a:solidFill>
                <a:srgbClr val="FFFFFF"/>
              </a:solidFill>
              <a:latin typeface="Poppins Bold"/>
              <a:ea typeface="Poppins Bold"/>
              <a:cs typeface="Poppins Bold"/>
              <a:sym typeface="Poppins Bold"/>
            </a:endParaRPr>
          </a:p>
        </p:txBody>
      </p:sp>
      <p:sp>
        <p:nvSpPr>
          <p:cNvPr id="19" name="TextBox 19"/>
          <p:cNvSpPr txBox="1"/>
          <p:nvPr/>
        </p:nvSpPr>
        <p:spPr>
          <a:xfrm>
            <a:off x="4555512" y="8422921"/>
            <a:ext cx="13330665" cy="809591"/>
          </a:xfrm>
          <a:prstGeom prst="rect">
            <a:avLst/>
          </a:prstGeom>
        </p:spPr>
        <p:txBody>
          <a:bodyPr lIns="0" tIns="0" rIns="0" bIns="0" rtlCol="0" anchor="t">
            <a:spAutoFit/>
          </a:bodyPr>
          <a:lstStyle/>
          <a:p>
            <a:pPr algn="ctr">
              <a:lnSpc>
                <a:spcPts val="3151"/>
              </a:lnSpc>
              <a:spcBef>
                <a:spcPct val="0"/>
              </a:spcBef>
            </a:pPr>
            <a:r>
              <a:rPr lang="en-US" sz="2251" b="1">
                <a:solidFill>
                  <a:srgbClr val="FFFFFF"/>
                </a:solidFill>
                <a:latin typeface="Poppins Bold"/>
                <a:ea typeface="Poppins Bold"/>
                <a:cs typeface="Poppins Bold"/>
                <a:sym typeface="Poppins Bold"/>
              </a:rPr>
              <a:t>Applying design principles using Figma and Canva to create an easy-to-use interface that improves user interaction with the fitness application.</a:t>
            </a:r>
          </a:p>
        </p:txBody>
      </p:sp>
      <p:grpSp>
        <p:nvGrpSpPr>
          <p:cNvPr id="20" name="Group 20"/>
          <p:cNvGrpSpPr/>
          <p:nvPr/>
        </p:nvGrpSpPr>
        <p:grpSpPr>
          <a:xfrm>
            <a:off x="535914" y="8489596"/>
            <a:ext cx="3733526" cy="636938"/>
            <a:chOff x="0" y="0"/>
            <a:chExt cx="983315" cy="167753"/>
          </a:xfrm>
        </p:grpSpPr>
        <p:sp>
          <p:nvSpPr>
            <p:cNvPr id="21" name="Freeform 21"/>
            <p:cNvSpPr/>
            <p:nvPr/>
          </p:nvSpPr>
          <p:spPr>
            <a:xfrm>
              <a:off x="0" y="0"/>
              <a:ext cx="983315" cy="167753"/>
            </a:xfrm>
            <a:custGeom>
              <a:avLst/>
              <a:gdLst/>
              <a:ahLst/>
              <a:cxnLst/>
              <a:rect l="l" t="t" r="r" b="b"/>
              <a:pathLst>
                <a:path w="983315" h="167753">
                  <a:moveTo>
                    <a:pt x="83877" y="0"/>
                  </a:moveTo>
                  <a:lnTo>
                    <a:pt x="899439" y="0"/>
                  </a:lnTo>
                  <a:cubicBezTo>
                    <a:pt x="945763" y="0"/>
                    <a:pt x="983315" y="37553"/>
                    <a:pt x="983315" y="83877"/>
                  </a:cubicBezTo>
                  <a:lnTo>
                    <a:pt x="983315" y="83877"/>
                  </a:lnTo>
                  <a:cubicBezTo>
                    <a:pt x="983315" y="106122"/>
                    <a:pt x="974479" y="127456"/>
                    <a:pt x="958749" y="143186"/>
                  </a:cubicBezTo>
                  <a:cubicBezTo>
                    <a:pt x="943019" y="158916"/>
                    <a:pt x="921684" y="167753"/>
                    <a:pt x="899439" y="167753"/>
                  </a:cubicBezTo>
                  <a:lnTo>
                    <a:pt x="83877" y="167753"/>
                  </a:lnTo>
                  <a:cubicBezTo>
                    <a:pt x="37553" y="167753"/>
                    <a:pt x="0" y="130200"/>
                    <a:pt x="0" y="83877"/>
                  </a:cubicBezTo>
                  <a:lnTo>
                    <a:pt x="0" y="83877"/>
                  </a:lnTo>
                  <a:cubicBezTo>
                    <a:pt x="0" y="37553"/>
                    <a:pt x="37553" y="0"/>
                    <a:pt x="83877" y="0"/>
                  </a:cubicBezTo>
                  <a:close/>
                </a:path>
              </a:pathLst>
            </a:custGeom>
            <a:solidFill>
              <a:srgbClr val="02C2FF"/>
            </a:solidFill>
          </p:spPr>
        </p:sp>
        <p:sp>
          <p:nvSpPr>
            <p:cNvPr id="22" name="TextBox 22"/>
            <p:cNvSpPr txBox="1"/>
            <p:nvPr/>
          </p:nvSpPr>
          <p:spPr>
            <a:xfrm>
              <a:off x="0" y="-66675"/>
              <a:ext cx="983315" cy="234428"/>
            </a:xfrm>
            <a:prstGeom prst="rect">
              <a:avLst/>
            </a:prstGeom>
          </p:spPr>
          <p:txBody>
            <a:bodyPr lIns="50800" tIns="50800" rIns="50800" bIns="50800" rtlCol="0" anchor="ctr"/>
            <a:lstStyle/>
            <a:p>
              <a:pPr algn="ctr">
                <a:lnSpc>
                  <a:spcPts val="3151"/>
                </a:lnSpc>
              </a:pPr>
              <a:r>
                <a:rPr lang="en-US" sz="2251" b="1">
                  <a:solidFill>
                    <a:srgbClr val="000000"/>
                  </a:solidFill>
                  <a:latin typeface="Poppins Bold"/>
                  <a:ea typeface="Poppins Bold"/>
                  <a:cs typeface="Poppins Bold"/>
                  <a:sym typeface="Poppins Bold"/>
                </a:rPr>
                <a:t>UI/UX Design Principles</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421657" y="1472541"/>
            <a:ext cx="17480203" cy="8215695"/>
          </a:xfrm>
          <a:custGeom>
            <a:avLst/>
            <a:gdLst/>
            <a:ahLst/>
            <a:cxnLst/>
            <a:rect l="l" t="t" r="r" b="b"/>
            <a:pathLst>
              <a:path w="17480203" h="8215695">
                <a:moveTo>
                  <a:pt x="0" y="0"/>
                </a:moveTo>
                <a:lnTo>
                  <a:pt x="17480203" y="0"/>
                </a:lnTo>
                <a:lnTo>
                  <a:pt x="17480203" y="8215696"/>
                </a:lnTo>
                <a:lnTo>
                  <a:pt x="0" y="8215696"/>
                </a:lnTo>
                <a:lnTo>
                  <a:pt x="0" y="0"/>
                </a:lnTo>
                <a:close/>
              </a:path>
            </a:pathLst>
          </a:custGeom>
          <a:blipFill>
            <a:blip r:embed="rId2"/>
            <a:stretch>
              <a:fillRect/>
            </a:stretch>
          </a:blipFill>
        </p:spPr>
      </p:sp>
      <p:sp>
        <p:nvSpPr>
          <p:cNvPr id="3" name="TextBox 3"/>
          <p:cNvSpPr txBox="1"/>
          <p:nvPr/>
        </p:nvSpPr>
        <p:spPr>
          <a:xfrm>
            <a:off x="1028700" y="373195"/>
            <a:ext cx="16615369" cy="841025"/>
          </a:xfrm>
          <a:prstGeom prst="rect">
            <a:avLst/>
          </a:prstGeom>
        </p:spPr>
        <p:txBody>
          <a:bodyPr lIns="0" tIns="0" rIns="0" bIns="0" rtlCol="0" anchor="t">
            <a:spAutoFit/>
          </a:bodyPr>
          <a:lstStyle/>
          <a:p>
            <a:pPr algn="l">
              <a:lnSpc>
                <a:spcPts val="6725"/>
              </a:lnSpc>
            </a:pPr>
            <a:r>
              <a:rPr lang="en-US" sz="5254" i="1">
                <a:solidFill>
                  <a:srgbClr val="FFFFFF"/>
                </a:solidFill>
                <a:latin typeface="Anton Italics"/>
                <a:ea typeface="Anton Italics"/>
                <a:cs typeface="Anton Italics"/>
                <a:sym typeface="Anton Italics"/>
              </a:rPr>
              <a:t>MOCKUP 1: MAIN DASHBOARD OF FITNESS MANAGEMENT SYSTEM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333724" y="1545495"/>
            <a:ext cx="17656070" cy="8452843"/>
          </a:xfrm>
          <a:custGeom>
            <a:avLst/>
            <a:gdLst/>
            <a:ahLst/>
            <a:cxnLst/>
            <a:rect l="l" t="t" r="r" b="b"/>
            <a:pathLst>
              <a:path w="17656070" h="8452843">
                <a:moveTo>
                  <a:pt x="0" y="0"/>
                </a:moveTo>
                <a:lnTo>
                  <a:pt x="17656069" y="0"/>
                </a:lnTo>
                <a:lnTo>
                  <a:pt x="17656069" y="8452844"/>
                </a:lnTo>
                <a:lnTo>
                  <a:pt x="0" y="8452844"/>
                </a:lnTo>
                <a:lnTo>
                  <a:pt x="0" y="0"/>
                </a:lnTo>
                <a:close/>
              </a:path>
            </a:pathLst>
          </a:custGeom>
          <a:blipFill>
            <a:blip r:embed="rId2"/>
            <a:stretch>
              <a:fillRect/>
            </a:stretch>
          </a:blipFill>
        </p:spPr>
      </p:sp>
      <p:sp>
        <p:nvSpPr>
          <p:cNvPr id="3" name="TextBox 3"/>
          <p:cNvSpPr txBox="1"/>
          <p:nvPr/>
        </p:nvSpPr>
        <p:spPr>
          <a:xfrm>
            <a:off x="854074" y="373195"/>
            <a:ext cx="16615369" cy="841025"/>
          </a:xfrm>
          <a:prstGeom prst="rect">
            <a:avLst/>
          </a:prstGeom>
        </p:spPr>
        <p:txBody>
          <a:bodyPr lIns="0" tIns="0" rIns="0" bIns="0" rtlCol="0" anchor="t">
            <a:spAutoFit/>
          </a:bodyPr>
          <a:lstStyle/>
          <a:p>
            <a:pPr algn="l">
              <a:lnSpc>
                <a:spcPts val="6725"/>
              </a:lnSpc>
            </a:pPr>
            <a:r>
              <a:rPr lang="en-US" sz="5254" i="1">
                <a:solidFill>
                  <a:srgbClr val="FFFFFF"/>
                </a:solidFill>
                <a:latin typeface="Anton Italics"/>
                <a:ea typeface="Anton Italics"/>
                <a:cs typeface="Anton Italics"/>
                <a:sym typeface="Anton Italics"/>
              </a:rPr>
              <a:t>MOCKUP 2: BMI CALCULATOR INTERFACE FOR HEALTH MONITORING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sp>
        <p:nvSpPr>
          <p:cNvPr id="2" name="Freeform 2"/>
          <p:cNvSpPr/>
          <p:nvPr/>
        </p:nvSpPr>
        <p:spPr>
          <a:xfrm>
            <a:off x="124829" y="0"/>
            <a:ext cx="10930995" cy="5143500"/>
          </a:xfrm>
          <a:custGeom>
            <a:avLst/>
            <a:gdLst/>
            <a:ahLst/>
            <a:cxnLst/>
            <a:rect l="l" t="t" r="r" b="b"/>
            <a:pathLst>
              <a:path w="10930995" h="5143500">
                <a:moveTo>
                  <a:pt x="0" y="0"/>
                </a:moveTo>
                <a:lnTo>
                  <a:pt x="10930995" y="0"/>
                </a:lnTo>
                <a:lnTo>
                  <a:pt x="10930995" y="5143500"/>
                </a:lnTo>
                <a:lnTo>
                  <a:pt x="0" y="5143500"/>
                </a:lnTo>
                <a:lnTo>
                  <a:pt x="0" y="0"/>
                </a:lnTo>
                <a:close/>
              </a:path>
            </a:pathLst>
          </a:custGeom>
          <a:blipFill>
            <a:blip r:embed="rId2"/>
            <a:stretch>
              <a:fillRect l="-1270" r="-1270" b="-2695"/>
            </a:stretch>
          </a:blipFill>
        </p:spPr>
      </p:sp>
      <p:sp>
        <p:nvSpPr>
          <p:cNvPr id="3" name="Freeform 3"/>
          <p:cNvSpPr/>
          <p:nvPr/>
        </p:nvSpPr>
        <p:spPr>
          <a:xfrm>
            <a:off x="9144000" y="5311508"/>
            <a:ext cx="8671869" cy="4727577"/>
          </a:xfrm>
          <a:custGeom>
            <a:avLst/>
            <a:gdLst/>
            <a:ahLst/>
            <a:cxnLst/>
            <a:rect l="l" t="t" r="r" b="b"/>
            <a:pathLst>
              <a:path w="8671869" h="4727577">
                <a:moveTo>
                  <a:pt x="0" y="0"/>
                </a:moveTo>
                <a:lnTo>
                  <a:pt x="8671869" y="0"/>
                </a:lnTo>
                <a:lnTo>
                  <a:pt x="8671869" y="4727578"/>
                </a:lnTo>
                <a:lnTo>
                  <a:pt x="0" y="4727578"/>
                </a:lnTo>
                <a:lnTo>
                  <a:pt x="0" y="0"/>
                </a:lnTo>
                <a:close/>
              </a:path>
            </a:pathLst>
          </a:custGeom>
          <a:blipFill>
            <a:blip r:embed="rId3"/>
            <a:stretch>
              <a:fillRect r="-2377"/>
            </a:stretch>
          </a:blipFill>
        </p:spPr>
      </p:sp>
      <p:sp>
        <p:nvSpPr>
          <p:cNvPr id="4" name="TextBox 4"/>
          <p:cNvSpPr txBox="1"/>
          <p:nvPr/>
        </p:nvSpPr>
        <p:spPr>
          <a:xfrm>
            <a:off x="1028700" y="6769061"/>
            <a:ext cx="7019556" cy="2489239"/>
          </a:xfrm>
          <a:prstGeom prst="rect">
            <a:avLst/>
          </a:prstGeom>
        </p:spPr>
        <p:txBody>
          <a:bodyPr lIns="0" tIns="0" rIns="0" bIns="0" rtlCol="0" anchor="t">
            <a:spAutoFit/>
          </a:bodyPr>
          <a:lstStyle/>
          <a:p>
            <a:pPr algn="l">
              <a:lnSpc>
                <a:spcPts val="6656"/>
              </a:lnSpc>
            </a:pPr>
            <a:r>
              <a:rPr lang="en-US" sz="5200" i="1">
                <a:solidFill>
                  <a:srgbClr val="FFFFFF"/>
                </a:solidFill>
                <a:latin typeface="Anton Italics"/>
                <a:ea typeface="Anton Italics"/>
                <a:cs typeface="Anton Italics"/>
                <a:sym typeface="Anton Italics"/>
              </a:rPr>
              <a:t>MOCKUP 3: </a:t>
            </a:r>
          </a:p>
          <a:p>
            <a:pPr algn="l">
              <a:lnSpc>
                <a:spcPts val="6656"/>
              </a:lnSpc>
            </a:pPr>
            <a:r>
              <a:rPr lang="en-US" sz="5200" i="1">
                <a:solidFill>
                  <a:srgbClr val="FFFFFF"/>
                </a:solidFill>
                <a:latin typeface="Anton Italics"/>
                <a:ea typeface="Anton Italics"/>
                <a:cs typeface="Anton Italics"/>
                <a:sym typeface="Anton Italics"/>
              </a:rPr>
              <a:t>WORKOUT PLAN MANAGEMENT INTERFACE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sp>
        <p:nvSpPr>
          <p:cNvPr id="2" name="Freeform 2"/>
          <p:cNvSpPr/>
          <p:nvPr/>
        </p:nvSpPr>
        <p:spPr>
          <a:xfrm>
            <a:off x="0" y="139109"/>
            <a:ext cx="8327443" cy="4777870"/>
          </a:xfrm>
          <a:custGeom>
            <a:avLst/>
            <a:gdLst/>
            <a:ahLst/>
            <a:cxnLst/>
            <a:rect l="l" t="t" r="r" b="b"/>
            <a:pathLst>
              <a:path w="8327443" h="4777870">
                <a:moveTo>
                  <a:pt x="0" y="0"/>
                </a:moveTo>
                <a:lnTo>
                  <a:pt x="8327443" y="0"/>
                </a:lnTo>
                <a:lnTo>
                  <a:pt x="8327443" y="4777870"/>
                </a:lnTo>
                <a:lnTo>
                  <a:pt x="0" y="4777870"/>
                </a:lnTo>
                <a:lnTo>
                  <a:pt x="0" y="0"/>
                </a:lnTo>
                <a:close/>
              </a:path>
            </a:pathLst>
          </a:custGeom>
          <a:blipFill>
            <a:blip r:embed="rId2"/>
            <a:stretch>
              <a:fillRect/>
            </a:stretch>
          </a:blipFill>
        </p:spPr>
      </p:sp>
      <p:sp>
        <p:nvSpPr>
          <p:cNvPr id="3" name="Freeform 3"/>
          <p:cNvSpPr/>
          <p:nvPr/>
        </p:nvSpPr>
        <p:spPr>
          <a:xfrm>
            <a:off x="8481087" y="3637458"/>
            <a:ext cx="9144000" cy="5177790"/>
          </a:xfrm>
          <a:custGeom>
            <a:avLst/>
            <a:gdLst/>
            <a:ahLst/>
            <a:cxnLst/>
            <a:rect l="l" t="t" r="r" b="b"/>
            <a:pathLst>
              <a:path w="9144000" h="5177790">
                <a:moveTo>
                  <a:pt x="0" y="0"/>
                </a:moveTo>
                <a:lnTo>
                  <a:pt x="9144000" y="0"/>
                </a:lnTo>
                <a:lnTo>
                  <a:pt x="9144000" y="5177790"/>
                </a:lnTo>
                <a:lnTo>
                  <a:pt x="0" y="5177790"/>
                </a:lnTo>
                <a:lnTo>
                  <a:pt x="0" y="0"/>
                </a:lnTo>
                <a:close/>
              </a:path>
            </a:pathLst>
          </a:custGeom>
          <a:blipFill>
            <a:blip r:embed="rId3"/>
            <a:stretch>
              <a:fillRect/>
            </a:stretch>
          </a:blipFill>
        </p:spPr>
      </p:sp>
      <p:sp>
        <p:nvSpPr>
          <p:cNvPr id="4" name="Freeform 4"/>
          <p:cNvSpPr/>
          <p:nvPr/>
        </p:nvSpPr>
        <p:spPr>
          <a:xfrm>
            <a:off x="220149" y="5356056"/>
            <a:ext cx="7887145" cy="3459192"/>
          </a:xfrm>
          <a:custGeom>
            <a:avLst/>
            <a:gdLst/>
            <a:ahLst/>
            <a:cxnLst/>
            <a:rect l="l" t="t" r="r" b="b"/>
            <a:pathLst>
              <a:path w="7887145" h="3459192">
                <a:moveTo>
                  <a:pt x="0" y="0"/>
                </a:moveTo>
                <a:lnTo>
                  <a:pt x="7887145" y="0"/>
                </a:lnTo>
                <a:lnTo>
                  <a:pt x="7887145" y="3459192"/>
                </a:lnTo>
                <a:lnTo>
                  <a:pt x="0" y="3459192"/>
                </a:lnTo>
                <a:lnTo>
                  <a:pt x="0" y="0"/>
                </a:lnTo>
                <a:close/>
              </a:path>
            </a:pathLst>
          </a:custGeom>
          <a:blipFill>
            <a:blip r:embed="rId4"/>
            <a:stretch>
              <a:fillRect l="-3006" r="-5622"/>
            </a:stretch>
          </a:blipFill>
        </p:spPr>
      </p:sp>
      <p:sp>
        <p:nvSpPr>
          <p:cNvPr id="5" name="TextBox 5"/>
          <p:cNvSpPr txBox="1"/>
          <p:nvPr/>
        </p:nvSpPr>
        <p:spPr>
          <a:xfrm>
            <a:off x="9902537" y="412220"/>
            <a:ext cx="6301100" cy="2650770"/>
          </a:xfrm>
          <a:prstGeom prst="rect">
            <a:avLst/>
          </a:prstGeom>
        </p:spPr>
        <p:txBody>
          <a:bodyPr lIns="0" tIns="0" rIns="0" bIns="0" rtlCol="0" anchor="t">
            <a:spAutoFit/>
          </a:bodyPr>
          <a:lstStyle/>
          <a:p>
            <a:pPr algn="l">
              <a:lnSpc>
                <a:spcPts val="7068"/>
              </a:lnSpc>
            </a:pPr>
            <a:r>
              <a:rPr lang="en-US" sz="5522" i="1">
                <a:solidFill>
                  <a:srgbClr val="FFFFFF"/>
                </a:solidFill>
                <a:latin typeface="Anton Italics"/>
                <a:ea typeface="Anton Italics"/>
                <a:cs typeface="Anton Italics"/>
                <a:sym typeface="Anton Italics"/>
              </a:rPr>
              <a:t>MOCKUP 4:</a:t>
            </a:r>
          </a:p>
          <a:p>
            <a:pPr algn="l">
              <a:lnSpc>
                <a:spcPts val="7068"/>
              </a:lnSpc>
            </a:pPr>
            <a:r>
              <a:rPr lang="en-US" sz="5522" i="1">
                <a:solidFill>
                  <a:srgbClr val="FFFFFF"/>
                </a:solidFill>
                <a:latin typeface="Anton Italics"/>
                <a:ea typeface="Anton Italics"/>
                <a:cs typeface="Anton Italics"/>
                <a:sym typeface="Anton Italics"/>
              </a:rPr>
              <a:t> NUTRITION AND DIET TRACKING INTERFACE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sp>
        <p:nvSpPr>
          <p:cNvPr id="2" name="Freeform 2"/>
          <p:cNvSpPr/>
          <p:nvPr/>
        </p:nvSpPr>
        <p:spPr>
          <a:xfrm>
            <a:off x="220149" y="0"/>
            <a:ext cx="7887145" cy="4495672"/>
          </a:xfrm>
          <a:custGeom>
            <a:avLst/>
            <a:gdLst/>
            <a:ahLst/>
            <a:cxnLst/>
            <a:rect l="l" t="t" r="r" b="b"/>
            <a:pathLst>
              <a:path w="7887145" h="4495672">
                <a:moveTo>
                  <a:pt x="0" y="0"/>
                </a:moveTo>
                <a:lnTo>
                  <a:pt x="7887145" y="0"/>
                </a:lnTo>
                <a:lnTo>
                  <a:pt x="7887145" y="4495672"/>
                </a:lnTo>
                <a:lnTo>
                  <a:pt x="0" y="4495672"/>
                </a:lnTo>
                <a:lnTo>
                  <a:pt x="0" y="0"/>
                </a:lnTo>
                <a:close/>
              </a:path>
            </a:pathLst>
          </a:custGeom>
          <a:blipFill>
            <a:blip r:embed="rId2"/>
            <a:stretch>
              <a:fillRect/>
            </a:stretch>
          </a:blipFill>
        </p:spPr>
      </p:sp>
      <p:sp>
        <p:nvSpPr>
          <p:cNvPr id="3" name="Freeform 3"/>
          <p:cNvSpPr/>
          <p:nvPr/>
        </p:nvSpPr>
        <p:spPr>
          <a:xfrm>
            <a:off x="8527829" y="4377683"/>
            <a:ext cx="9296413" cy="4880617"/>
          </a:xfrm>
          <a:custGeom>
            <a:avLst/>
            <a:gdLst/>
            <a:ahLst/>
            <a:cxnLst/>
            <a:rect l="l" t="t" r="r" b="b"/>
            <a:pathLst>
              <a:path w="9296413" h="4880617">
                <a:moveTo>
                  <a:pt x="0" y="0"/>
                </a:moveTo>
                <a:lnTo>
                  <a:pt x="9296413" y="0"/>
                </a:lnTo>
                <a:lnTo>
                  <a:pt x="9296413" y="4880617"/>
                </a:lnTo>
                <a:lnTo>
                  <a:pt x="0" y="4880617"/>
                </a:lnTo>
                <a:lnTo>
                  <a:pt x="0" y="0"/>
                </a:lnTo>
                <a:close/>
              </a:path>
            </a:pathLst>
          </a:custGeom>
          <a:blipFill>
            <a:blip r:embed="rId3"/>
            <a:stretch>
              <a:fillRect/>
            </a:stretch>
          </a:blipFill>
        </p:spPr>
      </p:sp>
      <p:sp>
        <p:nvSpPr>
          <p:cNvPr id="4" name="Freeform 4"/>
          <p:cNvSpPr/>
          <p:nvPr/>
        </p:nvSpPr>
        <p:spPr>
          <a:xfrm>
            <a:off x="220149" y="4649914"/>
            <a:ext cx="8049582" cy="4608386"/>
          </a:xfrm>
          <a:custGeom>
            <a:avLst/>
            <a:gdLst/>
            <a:ahLst/>
            <a:cxnLst/>
            <a:rect l="l" t="t" r="r" b="b"/>
            <a:pathLst>
              <a:path w="8049582" h="4608386">
                <a:moveTo>
                  <a:pt x="0" y="0"/>
                </a:moveTo>
                <a:lnTo>
                  <a:pt x="8049582" y="0"/>
                </a:lnTo>
                <a:lnTo>
                  <a:pt x="8049582" y="4608386"/>
                </a:lnTo>
                <a:lnTo>
                  <a:pt x="0" y="4608386"/>
                </a:lnTo>
                <a:lnTo>
                  <a:pt x="0" y="0"/>
                </a:lnTo>
                <a:close/>
              </a:path>
            </a:pathLst>
          </a:custGeom>
          <a:blipFill>
            <a:blip r:embed="rId4"/>
            <a:stretch>
              <a:fillRect/>
            </a:stretch>
          </a:blipFill>
        </p:spPr>
      </p:sp>
      <p:sp>
        <p:nvSpPr>
          <p:cNvPr id="5" name="TextBox 5"/>
          <p:cNvSpPr txBox="1"/>
          <p:nvPr/>
        </p:nvSpPr>
        <p:spPr>
          <a:xfrm>
            <a:off x="8527829" y="1127180"/>
            <a:ext cx="8310717" cy="2650770"/>
          </a:xfrm>
          <a:prstGeom prst="rect">
            <a:avLst/>
          </a:prstGeom>
        </p:spPr>
        <p:txBody>
          <a:bodyPr lIns="0" tIns="0" rIns="0" bIns="0" rtlCol="0" anchor="t">
            <a:spAutoFit/>
          </a:bodyPr>
          <a:lstStyle/>
          <a:p>
            <a:pPr algn="l">
              <a:lnSpc>
                <a:spcPts val="7068"/>
              </a:lnSpc>
            </a:pPr>
            <a:r>
              <a:rPr lang="en-US" sz="5522" i="1">
                <a:solidFill>
                  <a:srgbClr val="FFFFFF"/>
                </a:solidFill>
                <a:latin typeface="Anton Italics"/>
                <a:ea typeface="Anton Italics"/>
                <a:cs typeface="Anton Italics"/>
                <a:sym typeface="Anton Italics"/>
              </a:rPr>
              <a:t>MOCKUP 5:</a:t>
            </a:r>
          </a:p>
          <a:p>
            <a:pPr algn="l">
              <a:lnSpc>
                <a:spcPts val="7068"/>
              </a:lnSpc>
            </a:pPr>
            <a:r>
              <a:rPr lang="en-US" sz="5522" i="1">
                <a:solidFill>
                  <a:srgbClr val="FFFFFF"/>
                </a:solidFill>
                <a:latin typeface="Anton Italics"/>
                <a:ea typeface="Anton Italics"/>
                <a:cs typeface="Anton Italics"/>
                <a:sym typeface="Anton Italics"/>
              </a:rPr>
              <a:t>FITNESS PROGRESS MONITORING DASHBOARD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sp>
        <p:nvSpPr>
          <p:cNvPr id="2" name="Freeform 2"/>
          <p:cNvSpPr/>
          <p:nvPr/>
        </p:nvSpPr>
        <p:spPr>
          <a:xfrm>
            <a:off x="200826" y="109701"/>
            <a:ext cx="7591756" cy="4450667"/>
          </a:xfrm>
          <a:custGeom>
            <a:avLst/>
            <a:gdLst/>
            <a:ahLst/>
            <a:cxnLst/>
            <a:rect l="l" t="t" r="r" b="b"/>
            <a:pathLst>
              <a:path w="7591756" h="4450667">
                <a:moveTo>
                  <a:pt x="0" y="0"/>
                </a:moveTo>
                <a:lnTo>
                  <a:pt x="7591756" y="0"/>
                </a:lnTo>
                <a:lnTo>
                  <a:pt x="7591756" y="4450667"/>
                </a:lnTo>
                <a:lnTo>
                  <a:pt x="0" y="4450667"/>
                </a:lnTo>
                <a:lnTo>
                  <a:pt x="0" y="0"/>
                </a:lnTo>
                <a:close/>
              </a:path>
            </a:pathLst>
          </a:custGeom>
          <a:blipFill>
            <a:blip r:embed="rId2"/>
            <a:stretch>
              <a:fillRect/>
            </a:stretch>
          </a:blipFill>
        </p:spPr>
      </p:sp>
      <p:sp>
        <p:nvSpPr>
          <p:cNvPr id="3" name="Freeform 3"/>
          <p:cNvSpPr/>
          <p:nvPr/>
        </p:nvSpPr>
        <p:spPr>
          <a:xfrm>
            <a:off x="9144000" y="4743867"/>
            <a:ext cx="8115300" cy="4027218"/>
          </a:xfrm>
          <a:custGeom>
            <a:avLst/>
            <a:gdLst/>
            <a:ahLst/>
            <a:cxnLst/>
            <a:rect l="l" t="t" r="r" b="b"/>
            <a:pathLst>
              <a:path w="8115300" h="4027218">
                <a:moveTo>
                  <a:pt x="0" y="0"/>
                </a:moveTo>
                <a:lnTo>
                  <a:pt x="8115300" y="0"/>
                </a:lnTo>
                <a:lnTo>
                  <a:pt x="8115300" y="4027218"/>
                </a:lnTo>
                <a:lnTo>
                  <a:pt x="0" y="4027218"/>
                </a:lnTo>
                <a:lnTo>
                  <a:pt x="0" y="0"/>
                </a:lnTo>
                <a:close/>
              </a:path>
            </a:pathLst>
          </a:custGeom>
          <a:blipFill>
            <a:blip r:embed="rId3"/>
            <a:stretch>
              <a:fillRect/>
            </a:stretch>
          </a:blipFill>
        </p:spPr>
      </p:sp>
      <p:sp>
        <p:nvSpPr>
          <p:cNvPr id="4" name="Freeform 4"/>
          <p:cNvSpPr/>
          <p:nvPr/>
        </p:nvSpPr>
        <p:spPr>
          <a:xfrm>
            <a:off x="356814" y="4743867"/>
            <a:ext cx="8787186" cy="5195424"/>
          </a:xfrm>
          <a:custGeom>
            <a:avLst/>
            <a:gdLst/>
            <a:ahLst/>
            <a:cxnLst/>
            <a:rect l="l" t="t" r="r" b="b"/>
            <a:pathLst>
              <a:path w="8787186" h="5195424">
                <a:moveTo>
                  <a:pt x="0" y="0"/>
                </a:moveTo>
                <a:lnTo>
                  <a:pt x="8787186" y="0"/>
                </a:lnTo>
                <a:lnTo>
                  <a:pt x="8787186" y="5195424"/>
                </a:lnTo>
                <a:lnTo>
                  <a:pt x="0" y="5195424"/>
                </a:lnTo>
                <a:lnTo>
                  <a:pt x="0" y="0"/>
                </a:lnTo>
                <a:close/>
              </a:path>
            </a:pathLst>
          </a:custGeom>
          <a:blipFill>
            <a:blip r:embed="rId4"/>
            <a:stretch>
              <a:fillRect/>
            </a:stretch>
          </a:blipFill>
        </p:spPr>
      </p:sp>
      <p:sp>
        <p:nvSpPr>
          <p:cNvPr id="5" name="TextBox 5"/>
          <p:cNvSpPr txBox="1"/>
          <p:nvPr/>
        </p:nvSpPr>
        <p:spPr>
          <a:xfrm>
            <a:off x="9144000" y="990600"/>
            <a:ext cx="7478123" cy="2650770"/>
          </a:xfrm>
          <a:prstGeom prst="rect">
            <a:avLst/>
          </a:prstGeom>
        </p:spPr>
        <p:txBody>
          <a:bodyPr lIns="0" tIns="0" rIns="0" bIns="0" rtlCol="0" anchor="t">
            <a:spAutoFit/>
          </a:bodyPr>
          <a:lstStyle/>
          <a:p>
            <a:pPr algn="l">
              <a:lnSpc>
                <a:spcPts val="7068"/>
              </a:lnSpc>
            </a:pPr>
            <a:r>
              <a:rPr lang="en-US" sz="5522" i="1">
                <a:solidFill>
                  <a:srgbClr val="FFFFFF"/>
                </a:solidFill>
                <a:latin typeface="Anton Italics"/>
                <a:ea typeface="Anton Italics"/>
                <a:cs typeface="Anton Italics"/>
                <a:sym typeface="Anton Italics"/>
              </a:rPr>
              <a:t>MOCKUP 6:</a:t>
            </a:r>
          </a:p>
          <a:p>
            <a:pPr algn="l">
              <a:lnSpc>
                <a:spcPts val="7068"/>
              </a:lnSpc>
            </a:pPr>
            <a:r>
              <a:rPr lang="en-US" sz="5522" i="1">
                <a:solidFill>
                  <a:srgbClr val="FFFFFF"/>
                </a:solidFill>
                <a:latin typeface="Anton Italics"/>
                <a:ea typeface="Anton Italics"/>
                <a:cs typeface="Anton Italics"/>
                <a:sym typeface="Anton Italics"/>
              </a:rPr>
              <a:t>EXERCISE TUTORIAL VIDEOS INTERFACE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sp>
        <p:nvSpPr>
          <p:cNvPr id="2" name="Freeform 2"/>
          <p:cNvSpPr/>
          <p:nvPr/>
        </p:nvSpPr>
        <p:spPr>
          <a:xfrm>
            <a:off x="561294" y="208444"/>
            <a:ext cx="8582706" cy="4935056"/>
          </a:xfrm>
          <a:custGeom>
            <a:avLst/>
            <a:gdLst/>
            <a:ahLst/>
            <a:cxnLst/>
            <a:rect l="l" t="t" r="r" b="b"/>
            <a:pathLst>
              <a:path w="8582706" h="4935056">
                <a:moveTo>
                  <a:pt x="0" y="0"/>
                </a:moveTo>
                <a:lnTo>
                  <a:pt x="8582706" y="0"/>
                </a:lnTo>
                <a:lnTo>
                  <a:pt x="8582706" y="4935056"/>
                </a:lnTo>
                <a:lnTo>
                  <a:pt x="0" y="4935056"/>
                </a:lnTo>
                <a:lnTo>
                  <a:pt x="0" y="0"/>
                </a:lnTo>
                <a:close/>
              </a:path>
            </a:pathLst>
          </a:custGeom>
          <a:blipFill>
            <a:blip r:embed="rId2"/>
            <a:stretch>
              <a:fillRect/>
            </a:stretch>
          </a:blipFill>
        </p:spPr>
      </p:sp>
      <p:sp>
        <p:nvSpPr>
          <p:cNvPr id="3" name="Freeform 3"/>
          <p:cNvSpPr/>
          <p:nvPr/>
        </p:nvSpPr>
        <p:spPr>
          <a:xfrm>
            <a:off x="5996688" y="5143500"/>
            <a:ext cx="11262612" cy="4986681"/>
          </a:xfrm>
          <a:custGeom>
            <a:avLst/>
            <a:gdLst/>
            <a:ahLst/>
            <a:cxnLst/>
            <a:rect l="l" t="t" r="r" b="b"/>
            <a:pathLst>
              <a:path w="11262612" h="4986681">
                <a:moveTo>
                  <a:pt x="0" y="0"/>
                </a:moveTo>
                <a:lnTo>
                  <a:pt x="11262612" y="0"/>
                </a:lnTo>
                <a:lnTo>
                  <a:pt x="11262612" y="4986681"/>
                </a:lnTo>
                <a:lnTo>
                  <a:pt x="0" y="4986681"/>
                </a:lnTo>
                <a:lnTo>
                  <a:pt x="0" y="0"/>
                </a:lnTo>
                <a:close/>
              </a:path>
            </a:pathLst>
          </a:custGeom>
          <a:blipFill>
            <a:blip r:embed="rId3"/>
            <a:stretch>
              <a:fillRect r="-343"/>
            </a:stretch>
          </a:blipFill>
        </p:spPr>
      </p:sp>
      <p:sp>
        <p:nvSpPr>
          <p:cNvPr id="4" name="TextBox 4"/>
          <p:cNvSpPr txBox="1"/>
          <p:nvPr/>
        </p:nvSpPr>
        <p:spPr>
          <a:xfrm>
            <a:off x="9781177" y="990600"/>
            <a:ext cx="7478123" cy="2650770"/>
          </a:xfrm>
          <a:prstGeom prst="rect">
            <a:avLst/>
          </a:prstGeom>
        </p:spPr>
        <p:txBody>
          <a:bodyPr lIns="0" tIns="0" rIns="0" bIns="0" rtlCol="0" anchor="t">
            <a:spAutoFit/>
          </a:bodyPr>
          <a:lstStyle/>
          <a:p>
            <a:pPr algn="l">
              <a:lnSpc>
                <a:spcPts val="7068"/>
              </a:lnSpc>
            </a:pPr>
            <a:r>
              <a:rPr lang="en-US" sz="5522" i="1">
                <a:solidFill>
                  <a:srgbClr val="FFFFFF"/>
                </a:solidFill>
                <a:latin typeface="Anton Italics"/>
                <a:ea typeface="Anton Italics"/>
                <a:cs typeface="Anton Italics"/>
                <a:sym typeface="Anton Italics"/>
              </a:rPr>
              <a:t>MOCKUP 7:</a:t>
            </a:r>
          </a:p>
          <a:p>
            <a:pPr algn="l">
              <a:lnSpc>
                <a:spcPts val="7068"/>
              </a:lnSpc>
            </a:pPr>
            <a:r>
              <a:rPr lang="en-US" sz="5522" i="1">
                <a:solidFill>
                  <a:srgbClr val="FFFFFF"/>
                </a:solidFill>
                <a:latin typeface="Anton Italics"/>
                <a:ea typeface="Anton Italics"/>
                <a:cs typeface="Anton Italics"/>
                <a:sym typeface="Anton Italics"/>
              </a:rPr>
              <a:t>TRAINER-CLIENT COMMUNICATION INTERFACE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D1B4D">
                <a:alpha val="100000"/>
              </a:srgbClr>
            </a:gs>
            <a:gs pos="100000">
              <a:srgbClr val="1F2489">
                <a:alpha val="100000"/>
              </a:srgbClr>
            </a:gs>
          </a:gsLst>
          <a:lin ang="0"/>
        </a:gra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701986209"/>
              </p:ext>
            </p:extLst>
          </p:nvPr>
        </p:nvGraphicFramePr>
        <p:xfrm>
          <a:off x="644742" y="1458737"/>
          <a:ext cx="16998514" cy="7360203"/>
        </p:xfrm>
        <a:graphic>
          <a:graphicData uri="http://schemas.openxmlformats.org/drawingml/2006/table">
            <a:tbl>
              <a:tblPr/>
              <a:tblGrid>
                <a:gridCol w="5321910">
                  <a:extLst>
                    <a:ext uri="{9D8B030D-6E8A-4147-A177-3AD203B41FA5}">
                      <a16:colId xmlns:a16="http://schemas.microsoft.com/office/drawing/2014/main" val="20000"/>
                    </a:ext>
                  </a:extLst>
                </a:gridCol>
                <a:gridCol w="4728922">
                  <a:extLst>
                    <a:ext uri="{9D8B030D-6E8A-4147-A177-3AD203B41FA5}">
                      <a16:colId xmlns:a16="http://schemas.microsoft.com/office/drawing/2014/main" val="20001"/>
                    </a:ext>
                  </a:extLst>
                </a:gridCol>
                <a:gridCol w="6947682">
                  <a:extLst>
                    <a:ext uri="{9D8B030D-6E8A-4147-A177-3AD203B41FA5}">
                      <a16:colId xmlns:a16="http://schemas.microsoft.com/office/drawing/2014/main" val="20002"/>
                    </a:ext>
                  </a:extLst>
                </a:gridCol>
              </a:tblGrid>
              <a:tr h="902234">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0"/>
                  </a:ext>
                </a:extLst>
              </a:tr>
              <a:tr h="3219256">
                <a:tc>
                  <a:txBody>
                    <a:bodyPr/>
                    <a:lstStyle/>
                    <a:p>
                      <a:pPr algn="ctr">
                        <a:lnSpc>
                          <a:spcPts val="2207"/>
                        </a:lnSpc>
                        <a:defRPr/>
                      </a:pPr>
                      <a:endParaRPr lang="en-US" sz="1100" dirty="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1"/>
                  </a:ext>
                </a:extLst>
              </a:tr>
              <a:tr h="3238713">
                <a:tc>
                  <a:txBody>
                    <a:bodyPr/>
                    <a:lstStyle/>
                    <a:p>
                      <a:pPr algn="ctr">
                        <a:lnSpc>
                          <a:spcPts val="2207"/>
                        </a:lnSpc>
                        <a:defRPr/>
                      </a:pPr>
                      <a:endParaRPr lang="en-US" sz="1100" dirty="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2207"/>
                        </a:lnSpc>
                        <a:defRPr/>
                      </a:pP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tc>
                  <a:txBody>
                    <a:bodyPr/>
                    <a:lstStyle/>
                    <a:p>
                      <a:pPr algn="ctr">
                        <a:lnSpc>
                          <a:spcPts val="2207"/>
                        </a:lnSpc>
                        <a:defRPr/>
                      </a:pPr>
                      <a:endParaRPr lang="en-US" sz="1100" dirty="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gradFill rotWithShape="1">
                      <a:gsLst>
                        <a:gs pos="0">
                          <a:srgbClr val="287EFF">
                            <a:alpha val="100000"/>
                          </a:srgbClr>
                        </a:gs>
                        <a:gs pos="100000">
                          <a:srgbClr val="1FB5FF">
                            <a:alpha val="100000"/>
                          </a:srgbClr>
                        </a:gs>
                      </a:gsLst>
                      <a:lin ang="0"/>
                    </a:gradFill>
                  </a:tcPr>
                </a:tc>
                <a:extLst>
                  <a:ext uri="{0D108BD9-81ED-4DB2-BD59-A6C34878D82A}">
                    <a16:rowId xmlns:a16="http://schemas.microsoft.com/office/drawing/2014/main" val="10002"/>
                  </a:ext>
                </a:extLst>
              </a:tr>
            </a:tbl>
          </a:graphicData>
        </a:graphic>
      </p:graphicFrame>
      <p:sp>
        <p:nvSpPr>
          <p:cNvPr id="3" name="TextBox 3"/>
          <p:cNvSpPr txBox="1"/>
          <p:nvPr/>
        </p:nvSpPr>
        <p:spPr>
          <a:xfrm>
            <a:off x="3955566" y="162475"/>
            <a:ext cx="10376865" cy="1218282"/>
          </a:xfrm>
          <a:prstGeom prst="rect">
            <a:avLst/>
          </a:prstGeom>
        </p:spPr>
        <p:txBody>
          <a:bodyPr wrap="square" lIns="0" tIns="0" rIns="0" bIns="0" rtlCol="0" anchor="t">
            <a:spAutoFit/>
          </a:bodyPr>
          <a:lstStyle/>
          <a:p>
            <a:pPr marL="0" lvl="0" indent="0" algn="ctr">
              <a:lnSpc>
                <a:spcPts val="9471"/>
              </a:lnSpc>
              <a:spcBef>
                <a:spcPct val="0"/>
              </a:spcBef>
            </a:pPr>
            <a:r>
              <a:rPr lang="en-US" sz="8610" spc="-172" dirty="0">
                <a:solidFill>
                  <a:srgbClr val="FFFFFF"/>
                </a:solidFill>
                <a:latin typeface="Impact"/>
                <a:ea typeface="Impact"/>
                <a:cs typeface="Impact"/>
                <a:sym typeface="Impact"/>
              </a:rPr>
              <a:t>Teamwork division</a:t>
            </a:r>
          </a:p>
        </p:txBody>
      </p:sp>
      <p:sp>
        <p:nvSpPr>
          <p:cNvPr id="4" name="TextBox 4"/>
          <p:cNvSpPr txBox="1"/>
          <p:nvPr/>
        </p:nvSpPr>
        <p:spPr>
          <a:xfrm>
            <a:off x="800520" y="1458737"/>
            <a:ext cx="4468338" cy="689683"/>
          </a:xfrm>
          <a:prstGeom prst="rect">
            <a:avLst/>
          </a:prstGeom>
        </p:spPr>
        <p:txBody>
          <a:bodyPr lIns="0" tIns="0" rIns="0" bIns="0" rtlCol="0" anchor="t">
            <a:spAutoFit/>
          </a:bodyPr>
          <a:lstStyle/>
          <a:p>
            <a:pPr algn="ctr">
              <a:lnSpc>
                <a:spcPts val="5510"/>
              </a:lnSpc>
            </a:pPr>
            <a:r>
              <a:rPr lang="en-US" sz="4305">
                <a:solidFill>
                  <a:srgbClr val="FFFFFF"/>
                </a:solidFill>
                <a:latin typeface="Anton"/>
                <a:ea typeface="Anton"/>
                <a:cs typeface="Anton"/>
                <a:sym typeface="Anton"/>
              </a:rPr>
              <a:t>STUDENT NAME</a:t>
            </a:r>
          </a:p>
        </p:txBody>
      </p:sp>
      <p:sp>
        <p:nvSpPr>
          <p:cNvPr id="5" name="TextBox 5"/>
          <p:cNvSpPr txBox="1"/>
          <p:nvPr/>
        </p:nvSpPr>
        <p:spPr>
          <a:xfrm>
            <a:off x="696889" y="2811765"/>
            <a:ext cx="5027669" cy="1402833"/>
          </a:xfrm>
          <a:prstGeom prst="rect">
            <a:avLst/>
          </a:prstGeom>
        </p:spPr>
        <p:txBody>
          <a:bodyPr lIns="0" tIns="0" rIns="0" bIns="0" rtlCol="0" anchor="t">
            <a:spAutoFit/>
          </a:bodyPr>
          <a:lstStyle/>
          <a:p>
            <a:pPr algn="ctr">
              <a:lnSpc>
                <a:spcPts val="5427"/>
              </a:lnSpc>
            </a:pPr>
            <a:r>
              <a:rPr lang="en-US" sz="4240" b="1">
                <a:solidFill>
                  <a:srgbClr val="FFFFFF"/>
                </a:solidFill>
                <a:latin typeface="Poppins Bold"/>
                <a:ea typeface="Poppins Bold"/>
                <a:cs typeface="Poppins Bold"/>
                <a:sym typeface="Poppins Bold"/>
              </a:rPr>
              <a:t>MUHAMMAD HAMZA KHAN </a:t>
            </a:r>
          </a:p>
        </p:txBody>
      </p:sp>
      <p:sp>
        <p:nvSpPr>
          <p:cNvPr id="6" name="TextBox 6"/>
          <p:cNvSpPr txBox="1"/>
          <p:nvPr/>
        </p:nvSpPr>
        <p:spPr>
          <a:xfrm>
            <a:off x="6241416" y="1646972"/>
            <a:ext cx="4468338" cy="689683"/>
          </a:xfrm>
          <a:prstGeom prst="rect">
            <a:avLst/>
          </a:prstGeom>
        </p:spPr>
        <p:txBody>
          <a:bodyPr lIns="0" tIns="0" rIns="0" bIns="0" rtlCol="0" anchor="t">
            <a:spAutoFit/>
          </a:bodyPr>
          <a:lstStyle/>
          <a:p>
            <a:pPr algn="ctr">
              <a:lnSpc>
                <a:spcPts val="5510"/>
              </a:lnSpc>
            </a:pPr>
            <a:r>
              <a:rPr lang="en-US" sz="4305" dirty="0">
                <a:solidFill>
                  <a:srgbClr val="FFFFFF"/>
                </a:solidFill>
                <a:latin typeface="Anton"/>
                <a:ea typeface="Anton"/>
                <a:cs typeface="Anton"/>
                <a:sym typeface="Anton"/>
              </a:rPr>
              <a:t>REGISTRATION NO</a:t>
            </a:r>
          </a:p>
        </p:txBody>
      </p:sp>
      <p:sp>
        <p:nvSpPr>
          <p:cNvPr id="7" name="TextBox 7"/>
          <p:cNvSpPr txBox="1"/>
          <p:nvPr/>
        </p:nvSpPr>
        <p:spPr>
          <a:xfrm>
            <a:off x="5877606" y="2955163"/>
            <a:ext cx="4804002" cy="982687"/>
          </a:xfrm>
          <a:prstGeom prst="rect">
            <a:avLst/>
          </a:prstGeom>
        </p:spPr>
        <p:txBody>
          <a:bodyPr lIns="0" tIns="0" rIns="0" bIns="0" rtlCol="0" anchor="t">
            <a:spAutoFit/>
          </a:bodyPr>
          <a:lstStyle/>
          <a:p>
            <a:pPr algn="ctr">
              <a:lnSpc>
                <a:spcPts val="8269"/>
              </a:lnSpc>
            </a:pPr>
            <a:r>
              <a:rPr lang="en-US" sz="5104" spc="1204">
                <a:solidFill>
                  <a:srgbClr val="FFFFFF"/>
                </a:solidFill>
                <a:latin typeface="League Spartan"/>
                <a:ea typeface="League Spartan"/>
                <a:cs typeface="League Spartan"/>
                <a:sym typeface="League Spartan"/>
              </a:rPr>
              <a:t>2502941</a:t>
            </a:r>
          </a:p>
        </p:txBody>
      </p:sp>
      <p:sp>
        <p:nvSpPr>
          <p:cNvPr id="8" name="TextBox 8"/>
          <p:cNvSpPr txBox="1"/>
          <p:nvPr/>
        </p:nvSpPr>
        <p:spPr>
          <a:xfrm>
            <a:off x="644743" y="6620952"/>
            <a:ext cx="5131960" cy="718258"/>
          </a:xfrm>
          <a:prstGeom prst="rect">
            <a:avLst/>
          </a:prstGeom>
        </p:spPr>
        <p:txBody>
          <a:bodyPr lIns="0" tIns="0" rIns="0" bIns="0" rtlCol="0" anchor="t">
            <a:spAutoFit/>
          </a:bodyPr>
          <a:lstStyle/>
          <a:p>
            <a:pPr algn="ctr">
              <a:lnSpc>
                <a:spcPts val="5510"/>
              </a:lnSpc>
            </a:pPr>
            <a:r>
              <a:rPr lang="en-US" sz="4305" b="1">
                <a:solidFill>
                  <a:srgbClr val="FFFFFF"/>
                </a:solidFill>
                <a:latin typeface="Poppins Bold"/>
                <a:ea typeface="Poppins Bold"/>
                <a:cs typeface="Poppins Bold"/>
                <a:sym typeface="Poppins Bold"/>
              </a:rPr>
              <a:t>AWAIS BAJWA</a:t>
            </a:r>
          </a:p>
        </p:txBody>
      </p:sp>
      <p:sp>
        <p:nvSpPr>
          <p:cNvPr id="9" name="TextBox 9"/>
          <p:cNvSpPr txBox="1"/>
          <p:nvPr/>
        </p:nvSpPr>
        <p:spPr>
          <a:xfrm>
            <a:off x="6045438" y="6440667"/>
            <a:ext cx="4588874" cy="964528"/>
          </a:xfrm>
          <a:prstGeom prst="rect">
            <a:avLst/>
          </a:prstGeom>
        </p:spPr>
        <p:txBody>
          <a:bodyPr lIns="0" tIns="0" rIns="0" bIns="0" rtlCol="0" anchor="t">
            <a:spAutoFit/>
          </a:bodyPr>
          <a:lstStyle/>
          <a:p>
            <a:pPr algn="ctr">
              <a:lnSpc>
                <a:spcPts val="8183"/>
              </a:lnSpc>
            </a:pPr>
            <a:r>
              <a:rPr lang="en-US" sz="5146" spc="941">
                <a:solidFill>
                  <a:srgbClr val="FFFFFF"/>
                </a:solidFill>
                <a:latin typeface="League Spartan"/>
                <a:ea typeface="League Spartan"/>
                <a:cs typeface="League Spartan"/>
                <a:sym typeface="League Spartan"/>
              </a:rPr>
              <a:t>2502587</a:t>
            </a:r>
          </a:p>
        </p:txBody>
      </p:sp>
      <p:sp>
        <p:nvSpPr>
          <p:cNvPr id="10" name="TextBox 10"/>
          <p:cNvSpPr txBox="1"/>
          <p:nvPr/>
        </p:nvSpPr>
        <p:spPr>
          <a:xfrm>
            <a:off x="11645538" y="1458737"/>
            <a:ext cx="5138105" cy="689683"/>
          </a:xfrm>
          <a:prstGeom prst="rect">
            <a:avLst/>
          </a:prstGeom>
        </p:spPr>
        <p:txBody>
          <a:bodyPr lIns="0" tIns="0" rIns="0" bIns="0" rtlCol="0" anchor="t">
            <a:spAutoFit/>
          </a:bodyPr>
          <a:lstStyle/>
          <a:p>
            <a:pPr algn="ctr">
              <a:lnSpc>
                <a:spcPts val="5510"/>
              </a:lnSpc>
            </a:pPr>
            <a:r>
              <a:rPr lang="en-US" sz="4305">
                <a:solidFill>
                  <a:srgbClr val="FFFFFF"/>
                </a:solidFill>
                <a:latin typeface="Anton"/>
                <a:ea typeface="Anton"/>
                <a:cs typeface="Anton"/>
                <a:sym typeface="Anton"/>
              </a:rPr>
              <a:t>WORK/RESPONSIBILITY</a:t>
            </a:r>
          </a:p>
        </p:txBody>
      </p:sp>
      <p:sp>
        <p:nvSpPr>
          <p:cNvPr id="14" name="TextBox 14"/>
          <p:cNvSpPr txBox="1"/>
          <p:nvPr/>
        </p:nvSpPr>
        <p:spPr>
          <a:xfrm>
            <a:off x="11021606" y="2486791"/>
            <a:ext cx="6385970" cy="3388939"/>
          </a:xfrm>
          <a:prstGeom prst="rect">
            <a:avLst/>
          </a:prstGeom>
        </p:spPr>
        <p:txBody>
          <a:bodyPr lIns="0" tIns="0" rIns="0" bIns="0" rtlCol="0" anchor="t">
            <a:spAutoFit/>
          </a:bodyPr>
          <a:lstStyle/>
          <a:p>
            <a:pPr marL="333703" lvl="1" indent="-166851" algn="l">
              <a:lnSpc>
                <a:spcPts val="2503"/>
              </a:lnSpc>
              <a:buFont typeface="Arial"/>
              <a:buChar char="•"/>
            </a:pPr>
            <a:r>
              <a:rPr lang="en-US" sz="1545" spc="364">
                <a:solidFill>
                  <a:srgbClr val="FFFFFF"/>
                </a:solidFill>
                <a:latin typeface="League Spartan"/>
                <a:ea typeface="League Spartan"/>
                <a:cs typeface="League Spartan"/>
                <a:sym typeface="League Spartan"/>
              </a:rPr>
              <a:t>DESIGN THE WEB INTERFACE (DASHBOARD, LOGIN/SIGNUP, WORKOUT TRACKING PAGE)</a:t>
            </a:r>
          </a:p>
          <a:p>
            <a:pPr marL="333703" lvl="1" indent="-166851" algn="l">
              <a:lnSpc>
                <a:spcPts val="2503"/>
              </a:lnSpc>
              <a:buFont typeface="Arial"/>
              <a:buChar char="•"/>
            </a:pPr>
            <a:r>
              <a:rPr lang="en-US" sz="1545" spc="364">
                <a:solidFill>
                  <a:srgbClr val="FFFFFF"/>
                </a:solidFill>
                <a:latin typeface="League Spartan"/>
                <a:ea typeface="League Spartan"/>
                <a:cs typeface="League Spartan"/>
                <a:sym typeface="League Spartan"/>
              </a:rPr>
              <a:t>Implement responsive layouts (HTML, CSS, Bootstrap)</a:t>
            </a:r>
          </a:p>
          <a:p>
            <a:pPr marL="333703" lvl="1" indent="-166851" algn="l">
              <a:lnSpc>
                <a:spcPts val="2503"/>
              </a:lnSpc>
              <a:buFont typeface="Arial"/>
              <a:buChar char="•"/>
            </a:pPr>
            <a:r>
              <a:rPr lang="en-US" sz="1545" spc="364">
                <a:solidFill>
                  <a:srgbClr val="FFFFFF"/>
                </a:solidFill>
                <a:latin typeface="League Spartan"/>
                <a:ea typeface="League Spartan"/>
                <a:cs typeface="League Spartan"/>
                <a:sym typeface="League Spartan"/>
              </a:rPr>
              <a:t>Integrate charts and graphs for statistics, BMI, calorie burn</a:t>
            </a:r>
          </a:p>
          <a:p>
            <a:pPr marL="333703" lvl="1" indent="-166851" algn="l">
              <a:lnSpc>
                <a:spcPts val="2503"/>
              </a:lnSpc>
              <a:buFont typeface="Arial"/>
              <a:buChar char="•"/>
            </a:pPr>
            <a:r>
              <a:rPr lang="en-US" sz="1545" spc="364">
                <a:solidFill>
                  <a:srgbClr val="FFFFFF"/>
                </a:solidFill>
                <a:latin typeface="League Spartan"/>
                <a:ea typeface="League Spartan"/>
                <a:cs typeface="League Spartan"/>
                <a:sym typeface="League Spartan"/>
              </a:rPr>
              <a:t>Handle user input forms</a:t>
            </a:r>
          </a:p>
          <a:p>
            <a:pPr marL="333703" lvl="1" indent="-166851" algn="l">
              <a:lnSpc>
                <a:spcPts val="2503"/>
              </a:lnSpc>
              <a:buFont typeface="Arial"/>
              <a:buChar char="•"/>
            </a:pPr>
            <a:r>
              <a:rPr lang="en-US" sz="1545" spc="364">
                <a:solidFill>
                  <a:srgbClr val="FFFFFF"/>
                </a:solidFill>
                <a:latin typeface="League Spartan"/>
                <a:ea typeface="League Spartan"/>
                <a:cs typeface="League Spartan"/>
                <a:sym typeface="League Spartan"/>
              </a:rPr>
              <a:t> (workout logging, profile updates)</a:t>
            </a:r>
          </a:p>
          <a:p>
            <a:pPr algn="l">
              <a:lnSpc>
                <a:spcPts val="2503"/>
              </a:lnSpc>
            </a:pPr>
            <a:endParaRPr lang="en-US" sz="1545" spc="364">
              <a:solidFill>
                <a:srgbClr val="FFFFFF"/>
              </a:solidFill>
              <a:latin typeface="League Spartan"/>
              <a:ea typeface="League Spartan"/>
              <a:cs typeface="League Spartan"/>
              <a:sym typeface="League Spartan"/>
            </a:endParaRPr>
          </a:p>
          <a:p>
            <a:pPr algn="l">
              <a:lnSpc>
                <a:spcPts val="2503"/>
              </a:lnSpc>
            </a:pPr>
            <a:endParaRPr lang="en-US" sz="1545" spc="364">
              <a:solidFill>
                <a:srgbClr val="FFFFFF"/>
              </a:solidFill>
              <a:latin typeface="League Spartan"/>
              <a:ea typeface="League Spartan"/>
              <a:cs typeface="League Spartan"/>
              <a:sym typeface="League Spartan"/>
            </a:endParaRPr>
          </a:p>
        </p:txBody>
      </p:sp>
      <p:sp>
        <p:nvSpPr>
          <p:cNvPr id="15" name="TextBox 15"/>
          <p:cNvSpPr txBox="1"/>
          <p:nvPr/>
        </p:nvSpPr>
        <p:spPr>
          <a:xfrm>
            <a:off x="10903047" y="5880260"/>
            <a:ext cx="6623089" cy="2860750"/>
          </a:xfrm>
          <a:prstGeom prst="rect">
            <a:avLst/>
          </a:prstGeom>
        </p:spPr>
        <p:txBody>
          <a:bodyPr lIns="0" tIns="0" rIns="0" bIns="0" rtlCol="0" anchor="t">
            <a:spAutoFit/>
          </a:bodyPr>
          <a:lstStyle/>
          <a:p>
            <a:pPr marL="346093" lvl="1" indent="-173047" algn="l">
              <a:lnSpc>
                <a:spcPts val="2596"/>
              </a:lnSpc>
              <a:buFont typeface="Arial"/>
              <a:buChar char="•"/>
            </a:pPr>
            <a:r>
              <a:rPr lang="en-US" sz="1603" spc="378">
                <a:solidFill>
                  <a:srgbClr val="FFFFFF"/>
                </a:solidFill>
                <a:latin typeface="League Spartan"/>
                <a:ea typeface="League Spartan"/>
                <a:cs typeface="League Spartan"/>
                <a:sym typeface="League Spartan"/>
              </a:rPr>
              <a:t>SET UP DATABASE (USERS, WORKOUTS, PROGRESS)</a:t>
            </a:r>
          </a:p>
          <a:p>
            <a:pPr marL="346093" lvl="1" indent="-173047" algn="l">
              <a:lnSpc>
                <a:spcPts val="2596"/>
              </a:lnSpc>
              <a:buFont typeface="Arial"/>
              <a:buChar char="•"/>
            </a:pPr>
            <a:r>
              <a:rPr lang="en-US" sz="1603" spc="378">
                <a:solidFill>
                  <a:srgbClr val="FFFFFF"/>
                </a:solidFill>
                <a:latin typeface="League Spartan"/>
                <a:ea typeface="League Spartan"/>
                <a:cs typeface="League Spartan"/>
                <a:sym typeface="League Spartan"/>
              </a:rPr>
              <a:t>Write APIs for login, registration, and data CRUD (Create, Read, Update, Delete)</a:t>
            </a:r>
          </a:p>
          <a:p>
            <a:pPr marL="346093" lvl="1" indent="-173047" algn="l">
              <a:lnSpc>
                <a:spcPts val="2596"/>
              </a:lnSpc>
              <a:buFont typeface="Arial"/>
              <a:buChar char="•"/>
            </a:pPr>
            <a:r>
              <a:rPr lang="en-US" sz="1603" spc="378">
                <a:solidFill>
                  <a:srgbClr val="FFFFFF"/>
                </a:solidFill>
                <a:latin typeface="League Spartan"/>
                <a:ea typeface="League Spartan"/>
                <a:cs typeface="League Spartan"/>
                <a:sym typeface="League Spartan"/>
              </a:rPr>
              <a:t>Calculate stats like BMI, calorie burn, weekly progress</a:t>
            </a:r>
          </a:p>
          <a:p>
            <a:pPr marL="346093" lvl="1" indent="-173047" algn="l">
              <a:lnSpc>
                <a:spcPts val="2596"/>
              </a:lnSpc>
              <a:buFont typeface="Arial"/>
              <a:buChar char="•"/>
            </a:pPr>
            <a:r>
              <a:rPr lang="en-US" sz="1603" spc="378">
                <a:solidFill>
                  <a:srgbClr val="FFFFFF"/>
                </a:solidFill>
                <a:latin typeface="League Spartan"/>
                <a:ea typeface="League Spartan"/>
                <a:cs typeface="League Spartan"/>
                <a:sym typeface="League Spartan"/>
              </a:rPr>
              <a:t>Ensure data validation and security</a:t>
            </a:r>
          </a:p>
          <a:p>
            <a:pPr algn="l">
              <a:lnSpc>
                <a:spcPts val="2596"/>
              </a:lnSpc>
            </a:pPr>
            <a:endParaRPr lang="en-US" sz="1603" spc="378">
              <a:solidFill>
                <a:srgbClr val="FFFFFF"/>
              </a:solidFill>
              <a:latin typeface="League Spartan"/>
              <a:ea typeface="League Spartan"/>
              <a:cs typeface="League Spartan"/>
              <a:sym typeface="League Spart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833290" cy="1593725"/>
          </a:xfrm>
        </p:grpSpPr>
        <p:sp>
          <p:nvSpPr>
            <p:cNvPr id="3" name="Freeform 3"/>
            <p:cNvSpPr/>
            <p:nvPr/>
          </p:nvSpPr>
          <p:spPr>
            <a:xfrm>
              <a:off x="0" y="0"/>
              <a:ext cx="2833290" cy="1593725"/>
            </a:xfrm>
            <a:custGeom>
              <a:avLst/>
              <a:gdLst/>
              <a:ahLst/>
              <a:cxnLst/>
              <a:rect l="l" t="t" r="r" b="b"/>
              <a:pathLst>
                <a:path w="2833290" h="1593725">
                  <a:moveTo>
                    <a:pt x="0" y="0"/>
                  </a:moveTo>
                  <a:lnTo>
                    <a:pt x="2833290" y="0"/>
                  </a:lnTo>
                  <a:lnTo>
                    <a:pt x="2833290" y="1593725"/>
                  </a:lnTo>
                  <a:lnTo>
                    <a:pt x="0" y="1593725"/>
                  </a:lnTo>
                  <a:close/>
                </a:path>
              </a:pathLst>
            </a:custGeom>
            <a:blipFill>
              <a:blip r:embed="rId2"/>
              <a:stretch>
                <a:fillRect t="-9222" b="-9222"/>
              </a:stretch>
            </a:blipFill>
          </p:spPr>
        </p:sp>
      </p:grpSp>
      <p:grpSp>
        <p:nvGrpSpPr>
          <p:cNvPr id="4" name="Group 4"/>
          <p:cNvGrpSpPr/>
          <p:nvPr/>
        </p:nvGrpSpPr>
        <p:grpSpPr>
          <a:xfrm>
            <a:off x="121451" y="0"/>
            <a:ext cx="18288000" cy="10287000"/>
            <a:chOff x="0" y="0"/>
            <a:chExt cx="4816593" cy="2709333"/>
          </a:xfrm>
        </p:grpSpPr>
        <p:sp>
          <p:nvSpPr>
            <p:cNvPr id="5" name="Freeform 5"/>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D1B4D">
                    <a:alpha val="95000"/>
                  </a:srgbClr>
                </a:gs>
                <a:gs pos="100000">
                  <a:srgbClr val="1F2489">
                    <a:alpha val="95000"/>
                  </a:srgbClr>
                </a:gs>
              </a:gsLst>
              <a:lin ang="0"/>
            </a:gradFill>
          </p:spPr>
        </p:sp>
        <p:sp>
          <p:nvSpPr>
            <p:cNvPr id="6" name="TextBox 6"/>
            <p:cNvSpPr txBox="1"/>
            <p:nvPr/>
          </p:nvSpPr>
          <p:spPr>
            <a:xfrm>
              <a:off x="0" y="-66675"/>
              <a:ext cx="4816593" cy="2776008"/>
            </a:xfrm>
            <a:prstGeom prst="rect">
              <a:avLst/>
            </a:prstGeom>
          </p:spPr>
          <p:txBody>
            <a:bodyPr lIns="50800" tIns="50800" rIns="50800" bIns="50800" rtlCol="0" anchor="ctr"/>
            <a:lstStyle/>
            <a:p>
              <a:pPr algn="ctr">
                <a:lnSpc>
                  <a:spcPts val="3151"/>
                </a:lnSpc>
              </a:pPr>
              <a:endParaRPr/>
            </a:p>
          </p:txBody>
        </p:sp>
      </p:grpSp>
      <p:sp>
        <p:nvSpPr>
          <p:cNvPr id="7" name="TextBox 7"/>
          <p:cNvSpPr txBox="1"/>
          <p:nvPr/>
        </p:nvSpPr>
        <p:spPr>
          <a:xfrm>
            <a:off x="2192632" y="1738257"/>
            <a:ext cx="13902736" cy="3929146"/>
          </a:xfrm>
          <a:prstGeom prst="rect">
            <a:avLst/>
          </a:prstGeom>
        </p:spPr>
        <p:txBody>
          <a:bodyPr lIns="0" tIns="0" rIns="0" bIns="0" rtlCol="0" anchor="t">
            <a:spAutoFit/>
          </a:bodyPr>
          <a:lstStyle/>
          <a:p>
            <a:pPr marL="795442" lvl="1" indent="-397721" algn="l">
              <a:lnSpc>
                <a:spcPts val="4458"/>
              </a:lnSpc>
              <a:buFont typeface="Arial"/>
              <a:buChar char="•"/>
            </a:pPr>
            <a:r>
              <a:rPr lang="en-US" sz="3684" b="1" i="1" spc="-243">
                <a:solidFill>
                  <a:srgbClr val="FFFFFF"/>
                </a:solidFill>
                <a:latin typeface="Montserrat Semi-Bold Italics"/>
                <a:ea typeface="Montserrat Semi-Bold Italics"/>
                <a:cs typeface="Montserrat Semi-Bold Italics"/>
                <a:sym typeface="Montserrat Semi-Bold Italics"/>
              </a:rPr>
              <a:t>Canva: </a:t>
            </a:r>
          </a:p>
          <a:p>
            <a:pPr algn="l">
              <a:lnSpc>
                <a:spcPts val="4458"/>
              </a:lnSpc>
            </a:pPr>
            <a:r>
              <a:rPr lang="en-US" sz="3684" b="1" i="1" spc="-243">
                <a:solidFill>
                  <a:srgbClr val="FFFFFF"/>
                </a:solidFill>
                <a:latin typeface="Montserrat Semi-Bold Italics"/>
                <a:ea typeface="Montserrat Semi-Bold Italics"/>
                <a:cs typeface="Montserrat Semi-Bold Italics"/>
                <a:sym typeface="Montserrat Semi-Bold Italics"/>
              </a:rPr>
              <a:t>                        </a:t>
            </a:r>
            <a:r>
              <a:rPr lang="en-US" sz="3684" b="1" spc="-243">
                <a:solidFill>
                  <a:srgbClr val="FFFFFF"/>
                </a:solidFill>
                <a:latin typeface="Montserrat Semi-Bold"/>
                <a:ea typeface="Montserrat Semi-Bold"/>
                <a:cs typeface="Montserrat Semi-Bold"/>
                <a:sym typeface="Montserrat Semi-Bold"/>
              </a:rPr>
              <a:t>for making slides</a:t>
            </a:r>
          </a:p>
          <a:p>
            <a:pPr marL="795442" lvl="1" indent="-397721" algn="l">
              <a:lnSpc>
                <a:spcPts val="4458"/>
              </a:lnSpc>
              <a:buFont typeface="Arial"/>
              <a:buChar char="•"/>
            </a:pPr>
            <a:r>
              <a:rPr lang="en-US" sz="3684" b="1" i="1" spc="-243">
                <a:solidFill>
                  <a:srgbClr val="FFFFFF"/>
                </a:solidFill>
                <a:latin typeface="Montserrat Semi-Bold Italics"/>
                <a:ea typeface="Montserrat Semi-Bold Italics"/>
                <a:cs typeface="Montserrat Semi-Bold Italics"/>
                <a:sym typeface="Montserrat Semi-Bold Italics"/>
              </a:rPr>
              <a:t>Figma  &amp;  Dribble:</a:t>
            </a:r>
          </a:p>
          <a:p>
            <a:pPr algn="l">
              <a:lnSpc>
                <a:spcPts val="4458"/>
              </a:lnSpc>
            </a:pPr>
            <a:r>
              <a:rPr lang="en-US" sz="3684" b="1" spc="-243">
                <a:solidFill>
                  <a:srgbClr val="FFFFFF"/>
                </a:solidFill>
                <a:latin typeface="Montserrat Semi-Bold"/>
                <a:ea typeface="Montserrat Semi-Bold"/>
                <a:cs typeface="Montserrat Semi-Bold"/>
                <a:sym typeface="Montserrat Semi-Bold"/>
              </a:rPr>
              <a:t>                         for templetes and design</a:t>
            </a:r>
          </a:p>
          <a:p>
            <a:pPr marL="795442" lvl="1" indent="-397721" algn="l">
              <a:lnSpc>
                <a:spcPts val="4458"/>
              </a:lnSpc>
              <a:buFont typeface="Arial"/>
              <a:buChar char="•"/>
            </a:pPr>
            <a:r>
              <a:rPr lang="en-US" sz="3684" b="1" i="1" spc="-243">
                <a:solidFill>
                  <a:srgbClr val="FFFFFF"/>
                </a:solidFill>
                <a:latin typeface="Montserrat Semi-Bold Italics"/>
                <a:ea typeface="Montserrat Semi-Bold Italics"/>
                <a:cs typeface="Montserrat Semi-Bold Italics"/>
                <a:sym typeface="Montserrat Semi-Bold Italics"/>
              </a:rPr>
              <a:t>Pinterest:</a:t>
            </a:r>
          </a:p>
          <a:p>
            <a:pPr algn="l">
              <a:lnSpc>
                <a:spcPts val="4458"/>
              </a:lnSpc>
            </a:pPr>
            <a:r>
              <a:rPr lang="en-US" sz="3684" b="1" spc="-243">
                <a:solidFill>
                  <a:srgbClr val="FFFFFF"/>
                </a:solidFill>
                <a:latin typeface="Montserrat Semi-Bold"/>
                <a:ea typeface="Montserrat Semi-Bold"/>
                <a:cs typeface="Montserrat Semi-Bold"/>
                <a:sym typeface="Montserrat Semi-Bold"/>
              </a:rPr>
              <a:t>                         for ideas</a:t>
            </a:r>
          </a:p>
          <a:p>
            <a:pPr marL="795442" lvl="1" indent="-397721" algn="l">
              <a:lnSpc>
                <a:spcPts val="4458"/>
              </a:lnSpc>
              <a:buFont typeface="Arial"/>
              <a:buChar char="•"/>
            </a:pPr>
            <a:r>
              <a:rPr lang="en-US" sz="3684" b="1" i="1" spc="-243">
                <a:solidFill>
                  <a:srgbClr val="FFFFFF"/>
                </a:solidFill>
                <a:latin typeface="Montserrat Semi-Bold Italics"/>
                <a:ea typeface="Montserrat Semi-Bold Italics"/>
                <a:cs typeface="Montserrat Semi-Bold Italics"/>
                <a:sym typeface="Montserrat Semi-Bold Italics"/>
              </a:rPr>
              <a:t>Bootstrap:</a:t>
            </a:r>
          </a:p>
        </p:txBody>
      </p:sp>
      <p:grpSp>
        <p:nvGrpSpPr>
          <p:cNvPr id="11" name="Group 11"/>
          <p:cNvGrpSpPr/>
          <p:nvPr/>
        </p:nvGrpSpPr>
        <p:grpSpPr>
          <a:xfrm>
            <a:off x="5721345" y="479359"/>
            <a:ext cx="6845310" cy="1098683"/>
            <a:chOff x="0" y="0"/>
            <a:chExt cx="9127080" cy="1464910"/>
          </a:xfrm>
        </p:grpSpPr>
        <p:grpSp>
          <p:nvGrpSpPr>
            <p:cNvPr id="12" name="Group 12"/>
            <p:cNvGrpSpPr/>
            <p:nvPr/>
          </p:nvGrpSpPr>
          <p:grpSpPr>
            <a:xfrm>
              <a:off x="0" y="0"/>
              <a:ext cx="9127080" cy="1464910"/>
              <a:chOff x="0" y="0"/>
              <a:chExt cx="1520164" cy="243989"/>
            </a:xfrm>
          </p:grpSpPr>
          <p:sp>
            <p:nvSpPr>
              <p:cNvPr id="13" name="Freeform 13"/>
              <p:cNvSpPr/>
              <p:nvPr/>
            </p:nvSpPr>
            <p:spPr>
              <a:xfrm>
                <a:off x="12021" y="0"/>
                <a:ext cx="1496122" cy="243989"/>
              </a:xfrm>
              <a:custGeom>
                <a:avLst/>
                <a:gdLst/>
                <a:ahLst/>
                <a:cxnLst/>
                <a:rect l="l" t="t" r="r" b="b"/>
                <a:pathLst>
                  <a:path w="1496122" h="243989">
                    <a:moveTo>
                      <a:pt x="213799" y="0"/>
                    </a:moveTo>
                    <a:lnTo>
                      <a:pt x="1485523" y="0"/>
                    </a:lnTo>
                    <a:cubicBezTo>
                      <a:pt x="1489635" y="0"/>
                      <a:pt x="1493376" y="2378"/>
                      <a:pt x="1495121" y="6102"/>
                    </a:cubicBezTo>
                    <a:cubicBezTo>
                      <a:pt x="1496865" y="9825"/>
                      <a:pt x="1496299" y="14222"/>
                      <a:pt x="1493667" y="17381"/>
                    </a:cubicBezTo>
                    <a:lnTo>
                      <a:pt x="1319418" y="226607"/>
                    </a:lnTo>
                    <a:cubicBezTo>
                      <a:pt x="1310246" y="237620"/>
                      <a:pt x="1296655" y="243989"/>
                      <a:pt x="1282323" y="243989"/>
                    </a:cubicBezTo>
                    <a:lnTo>
                      <a:pt x="10599" y="243989"/>
                    </a:lnTo>
                    <a:cubicBezTo>
                      <a:pt x="6487" y="243989"/>
                      <a:pt x="2746" y="241610"/>
                      <a:pt x="1001" y="237887"/>
                    </a:cubicBezTo>
                    <a:cubicBezTo>
                      <a:pt x="-743" y="234163"/>
                      <a:pt x="-177" y="229767"/>
                      <a:pt x="2455" y="226607"/>
                    </a:cubicBezTo>
                    <a:lnTo>
                      <a:pt x="176703" y="17381"/>
                    </a:lnTo>
                    <a:cubicBezTo>
                      <a:pt x="185875" y="6368"/>
                      <a:pt x="199467" y="0"/>
                      <a:pt x="213799" y="0"/>
                    </a:cubicBezTo>
                    <a:close/>
                  </a:path>
                </a:pathLst>
              </a:custGeom>
              <a:gradFill rotWithShape="1">
                <a:gsLst>
                  <a:gs pos="0">
                    <a:srgbClr val="0D1B4D">
                      <a:alpha val="100000"/>
                    </a:srgbClr>
                  </a:gs>
                  <a:gs pos="100000">
                    <a:srgbClr val="1F2489">
                      <a:alpha val="100000"/>
                    </a:srgbClr>
                  </a:gs>
                </a:gsLst>
                <a:lin ang="0"/>
              </a:gradFill>
            </p:spPr>
          </p:sp>
          <p:sp>
            <p:nvSpPr>
              <p:cNvPr id="14" name="TextBox 14"/>
              <p:cNvSpPr txBox="1"/>
              <p:nvPr/>
            </p:nvSpPr>
            <p:spPr>
              <a:xfrm>
                <a:off x="101600" y="-66675"/>
                <a:ext cx="1316964" cy="310664"/>
              </a:xfrm>
              <a:prstGeom prst="rect">
                <a:avLst/>
              </a:prstGeom>
            </p:spPr>
            <p:txBody>
              <a:bodyPr lIns="50800" tIns="50800" rIns="50800" bIns="50800" rtlCol="0" anchor="ctr"/>
              <a:lstStyle/>
              <a:p>
                <a:pPr algn="ctr">
                  <a:lnSpc>
                    <a:spcPts val="3151"/>
                  </a:lnSpc>
                </a:pPr>
                <a:endParaRPr/>
              </a:p>
            </p:txBody>
          </p:sp>
        </p:grpSp>
        <p:sp>
          <p:nvSpPr>
            <p:cNvPr id="15" name="TextBox 15"/>
            <p:cNvSpPr txBox="1"/>
            <p:nvPr/>
          </p:nvSpPr>
          <p:spPr>
            <a:xfrm>
              <a:off x="629396" y="169183"/>
              <a:ext cx="7868289" cy="1078918"/>
            </a:xfrm>
            <a:prstGeom prst="rect">
              <a:avLst/>
            </a:prstGeom>
          </p:spPr>
          <p:txBody>
            <a:bodyPr lIns="0" tIns="0" rIns="0" bIns="0" rtlCol="0" anchor="t">
              <a:spAutoFit/>
            </a:bodyPr>
            <a:lstStyle/>
            <a:p>
              <a:pPr algn="ctr">
                <a:lnSpc>
                  <a:spcPts val="6519"/>
                </a:lnSpc>
              </a:pPr>
              <a:r>
                <a:rPr lang="en-US" sz="5093" i="1">
                  <a:solidFill>
                    <a:srgbClr val="FFFFFF"/>
                  </a:solidFill>
                  <a:latin typeface="Anton Italics"/>
                  <a:ea typeface="Anton Italics"/>
                  <a:cs typeface="Anton Italics"/>
                  <a:sym typeface="Anton Italics"/>
                </a:rPr>
                <a:t>REFERENCES</a:t>
              </a:r>
            </a:p>
          </p:txBody>
        </p:sp>
      </p:grpSp>
      <p:sp>
        <p:nvSpPr>
          <p:cNvPr id="19" name="TextBox 19"/>
          <p:cNvSpPr txBox="1"/>
          <p:nvPr/>
        </p:nvSpPr>
        <p:spPr>
          <a:xfrm>
            <a:off x="2192632" y="7262694"/>
            <a:ext cx="11140198" cy="1614120"/>
          </a:xfrm>
          <a:prstGeom prst="rect">
            <a:avLst/>
          </a:prstGeom>
        </p:spPr>
        <p:txBody>
          <a:bodyPr lIns="0" tIns="0" rIns="0" bIns="0" rtlCol="0" anchor="t">
            <a:spAutoFit/>
          </a:bodyPr>
          <a:lstStyle/>
          <a:p>
            <a:pPr algn="l">
              <a:lnSpc>
                <a:spcPts val="2525"/>
              </a:lnSpc>
              <a:spcBef>
                <a:spcPct val="0"/>
              </a:spcBef>
            </a:pPr>
            <a:r>
              <a:rPr lang="en-US" sz="1803" b="1">
                <a:solidFill>
                  <a:srgbClr val="FFFFFF"/>
                </a:solidFill>
                <a:latin typeface="Poppins Bold"/>
                <a:ea typeface="Poppins Bold"/>
                <a:cs typeface="Poppins Bold"/>
                <a:sym typeface="Poppins Bold"/>
              </a:rPr>
              <a:t>Thompson, W. R. (2020). ACSM’s Guidelines for Exercise Testing and Prescription (10th ed.). Philadelphia, PA: Wolters Kluwer.</a:t>
            </a:r>
          </a:p>
          <a:p>
            <a:pPr algn="l">
              <a:lnSpc>
                <a:spcPts val="2525"/>
              </a:lnSpc>
              <a:spcBef>
                <a:spcPct val="0"/>
              </a:spcBef>
            </a:pPr>
            <a:endParaRPr lang="en-US" sz="1803" b="1">
              <a:solidFill>
                <a:srgbClr val="FFFFFF"/>
              </a:solidFill>
              <a:latin typeface="Poppins Bold"/>
              <a:ea typeface="Poppins Bold"/>
              <a:cs typeface="Poppins Bold"/>
              <a:sym typeface="Poppins Bold"/>
            </a:endParaRPr>
          </a:p>
          <a:p>
            <a:pPr algn="l">
              <a:lnSpc>
                <a:spcPts val="2525"/>
              </a:lnSpc>
              <a:spcBef>
                <a:spcPct val="0"/>
              </a:spcBef>
            </a:pPr>
            <a:r>
              <a:rPr lang="en-US" sz="1803" b="1">
                <a:solidFill>
                  <a:srgbClr val="FFFFFF"/>
                </a:solidFill>
                <a:latin typeface="Poppins Bold"/>
                <a:ea typeface="Poppins Bold"/>
                <a:cs typeface="Poppins Bold"/>
                <a:sym typeface="Poppins Bold"/>
              </a:rPr>
              <a:t>Baechle, T. R., &amp; Earle, R. W. (2008). Essentials of Strength Training and Conditioning (3rd ed.). Champaign, IL: Human Kinetics.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833290" cy="1593725"/>
          </a:xfrm>
        </p:grpSpPr>
        <p:sp>
          <p:nvSpPr>
            <p:cNvPr id="3" name="Freeform 3"/>
            <p:cNvSpPr/>
            <p:nvPr/>
          </p:nvSpPr>
          <p:spPr>
            <a:xfrm>
              <a:off x="0" y="0"/>
              <a:ext cx="2833290" cy="1593725"/>
            </a:xfrm>
            <a:custGeom>
              <a:avLst/>
              <a:gdLst/>
              <a:ahLst/>
              <a:cxnLst/>
              <a:rect l="l" t="t" r="r" b="b"/>
              <a:pathLst>
                <a:path w="2833290" h="1593725">
                  <a:moveTo>
                    <a:pt x="0" y="0"/>
                  </a:moveTo>
                  <a:lnTo>
                    <a:pt x="2833290" y="0"/>
                  </a:lnTo>
                  <a:lnTo>
                    <a:pt x="2833290" y="1593725"/>
                  </a:lnTo>
                  <a:lnTo>
                    <a:pt x="0" y="1593725"/>
                  </a:lnTo>
                  <a:close/>
                </a:path>
              </a:pathLst>
            </a:custGeom>
            <a:blipFill>
              <a:blip r:embed="rId2"/>
              <a:stretch>
                <a:fillRect t="-9222" b="-9222"/>
              </a:stretch>
            </a:blipFill>
          </p:spPr>
        </p:sp>
      </p:grpSp>
      <p:grpSp>
        <p:nvGrpSpPr>
          <p:cNvPr id="4" name="Group 4"/>
          <p:cNvGrpSpPr/>
          <p:nvPr/>
        </p:nvGrpSpPr>
        <p:grpSpPr>
          <a:xfrm>
            <a:off x="121451" y="0"/>
            <a:ext cx="18288000" cy="10287000"/>
            <a:chOff x="0" y="0"/>
            <a:chExt cx="4816593" cy="2709333"/>
          </a:xfrm>
        </p:grpSpPr>
        <p:sp>
          <p:nvSpPr>
            <p:cNvPr id="5" name="Freeform 5"/>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D1B4D">
                    <a:alpha val="95000"/>
                  </a:srgbClr>
                </a:gs>
                <a:gs pos="100000">
                  <a:srgbClr val="1F2489">
                    <a:alpha val="95000"/>
                  </a:srgbClr>
                </a:gs>
              </a:gsLst>
              <a:lin ang="0"/>
            </a:gradFill>
          </p:spPr>
        </p:sp>
        <p:sp>
          <p:nvSpPr>
            <p:cNvPr id="6" name="TextBox 6"/>
            <p:cNvSpPr txBox="1"/>
            <p:nvPr/>
          </p:nvSpPr>
          <p:spPr>
            <a:xfrm>
              <a:off x="0" y="-66675"/>
              <a:ext cx="4816593" cy="2776008"/>
            </a:xfrm>
            <a:prstGeom prst="rect">
              <a:avLst/>
            </a:prstGeom>
          </p:spPr>
          <p:txBody>
            <a:bodyPr lIns="50800" tIns="50800" rIns="50800" bIns="50800" rtlCol="0" anchor="ctr"/>
            <a:lstStyle/>
            <a:p>
              <a:pPr algn="ctr">
                <a:lnSpc>
                  <a:spcPts val="3151"/>
                </a:lnSpc>
              </a:pPr>
              <a:endParaRPr/>
            </a:p>
          </p:txBody>
        </p:sp>
      </p:grpSp>
      <p:sp>
        <p:nvSpPr>
          <p:cNvPr id="7" name="TextBox 7"/>
          <p:cNvSpPr txBox="1"/>
          <p:nvPr/>
        </p:nvSpPr>
        <p:spPr>
          <a:xfrm>
            <a:off x="2192632" y="1738257"/>
            <a:ext cx="13902736" cy="7862971"/>
          </a:xfrm>
          <a:prstGeom prst="rect">
            <a:avLst/>
          </a:prstGeom>
        </p:spPr>
        <p:txBody>
          <a:bodyPr lIns="0" tIns="0" rIns="0" bIns="0" rtlCol="0" anchor="t">
            <a:spAutoFit/>
          </a:bodyPr>
          <a:lstStyle/>
          <a:p>
            <a:pPr algn="just">
              <a:lnSpc>
                <a:spcPts val="4458"/>
              </a:lnSpc>
            </a:pPr>
            <a:r>
              <a:rPr lang="en-US" sz="3684" b="1" i="1" spc="-243">
                <a:solidFill>
                  <a:srgbClr val="FFFFFF"/>
                </a:solidFill>
                <a:latin typeface="Montserrat Semi-Bold Italics"/>
                <a:ea typeface="Montserrat Semi-Bold Italics"/>
                <a:cs typeface="Montserrat Semi-Bold Italics"/>
                <a:sym typeface="Montserrat Semi-Bold Italics"/>
              </a:rPr>
              <a:t>The Gym Fitness and Workout Management System is designed to help users manage their fitness activities efficiently. The system provides features such as workout plan management, nutrition tracking, BMI calculation, and progress monitoring to support users in achieving their fitness goals.</a:t>
            </a:r>
          </a:p>
          <a:p>
            <a:pPr algn="just">
              <a:lnSpc>
                <a:spcPts val="4458"/>
              </a:lnSpc>
            </a:pPr>
            <a:endParaRPr lang="en-US" sz="3684" b="1" i="1" spc="-243">
              <a:solidFill>
                <a:srgbClr val="FFFFFF"/>
              </a:solidFill>
              <a:latin typeface="Montserrat Semi-Bold Italics"/>
              <a:ea typeface="Montserrat Semi-Bold Italics"/>
              <a:cs typeface="Montserrat Semi-Bold Italics"/>
              <a:sym typeface="Montserrat Semi-Bold Italics"/>
            </a:endParaRPr>
          </a:p>
          <a:p>
            <a:pPr algn="just">
              <a:lnSpc>
                <a:spcPts val="4458"/>
              </a:lnSpc>
            </a:pPr>
            <a:r>
              <a:rPr lang="en-US" sz="3684" b="1" i="1" spc="-243">
                <a:solidFill>
                  <a:srgbClr val="FFFFFF"/>
                </a:solidFill>
                <a:latin typeface="Montserrat Semi-Bold Italics"/>
                <a:ea typeface="Montserrat Semi-Bold Italics"/>
                <a:cs typeface="Montserrat Semi-Bold Italics"/>
                <a:sym typeface="Montserrat Semi-Bold Italics"/>
              </a:rPr>
              <a:t>By using modern web technologies, the application offers a user-friendly interface and organized data management. It helps improve workout planning, track fitness progress, and enhance communication between trainers and users.</a:t>
            </a:r>
          </a:p>
          <a:p>
            <a:pPr algn="just">
              <a:lnSpc>
                <a:spcPts val="4458"/>
              </a:lnSpc>
            </a:pPr>
            <a:endParaRPr lang="en-US" sz="3684" b="1" i="1" spc="-243">
              <a:solidFill>
                <a:srgbClr val="FFFFFF"/>
              </a:solidFill>
              <a:latin typeface="Montserrat Semi-Bold Italics"/>
              <a:ea typeface="Montserrat Semi-Bold Italics"/>
              <a:cs typeface="Montserrat Semi-Bold Italics"/>
              <a:sym typeface="Montserrat Semi-Bold Italics"/>
            </a:endParaRPr>
          </a:p>
          <a:p>
            <a:pPr algn="just">
              <a:lnSpc>
                <a:spcPts val="4458"/>
              </a:lnSpc>
            </a:pPr>
            <a:r>
              <a:rPr lang="en-US" sz="3684" b="1" i="1" spc="-243">
                <a:solidFill>
                  <a:srgbClr val="FFFFFF"/>
                </a:solidFill>
                <a:latin typeface="Montserrat Semi-Bold Italics"/>
                <a:ea typeface="Montserrat Semi-Bold Italics"/>
                <a:cs typeface="Montserrat Semi-Bold Italics"/>
                <a:sym typeface="Montserrat Semi-Bold Italics"/>
              </a:rPr>
              <a:t>Overall, the system provides a convenient digital platform for managing gym activities and promoting a healthier lifestyle.</a:t>
            </a:r>
          </a:p>
          <a:p>
            <a:pPr algn="just">
              <a:lnSpc>
                <a:spcPts val="4458"/>
              </a:lnSpc>
            </a:pPr>
            <a:endParaRPr lang="en-US" sz="3684" b="1" i="1" spc="-243">
              <a:solidFill>
                <a:srgbClr val="FFFFFF"/>
              </a:solidFill>
              <a:latin typeface="Montserrat Semi-Bold Italics"/>
              <a:ea typeface="Montserrat Semi-Bold Italics"/>
              <a:cs typeface="Montserrat Semi-Bold Italics"/>
              <a:sym typeface="Montserrat Semi-Bold Italics"/>
            </a:endParaRPr>
          </a:p>
        </p:txBody>
      </p:sp>
      <p:grpSp>
        <p:nvGrpSpPr>
          <p:cNvPr id="8" name="Group 8"/>
          <p:cNvGrpSpPr/>
          <p:nvPr/>
        </p:nvGrpSpPr>
        <p:grpSpPr>
          <a:xfrm>
            <a:off x="16204669" y="8442233"/>
            <a:ext cx="1083206" cy="1075479"/>
            <a:chOff x="0" y="0"/>
            <a:chExt cx="289003" cy="286941"/>
          </a:xfrm>
        </p:grpSpPr>
        <p:sp>
          <p:nvSpPr>
            <p:cNvPr id="9" name="Freeform 9"/>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ln w="19050" cap="rnd">
              <a:solidFill>
                <a:srgbClr val="FFFFFF"/>
              </a:solidFill>
              <a:prstDash val="solid"/>
              <a:round/>
            </a:ln>
          </p:spPr>
        </p:sp>
        <p:sp>
          <p:nvSpPr>
            <p:cNvPr id="10" name="TextBox 10"/>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rot="-5400000">
            <a:off x="16575569" y="8730869"/>
            <a:ext cx="368672" cy="498206"/>
          </a:xfrm>
          <a:custGeom>
            <a:avLst/>
            <a:gdLst/>
            <a:ahLst/>
            <a:cxnLst/>
            <a:rect l="l" t="t" r="r" b="b"/>
            <a:pathLst>
              <a:path w="368672" h="498206">
                <a:moveTo>
                  <a:pt x="0" y="0"/>
                </a:moveTo>
                <a:lnTo>
                  <a:pt x="368672" y="0"/>
                </a:lnTo>
                <a:lnTo>
                  <a:pt x="368672" y="498206"/>
                </a:lnTo>
                <a:lnTo>
                  <a:pt x="0" y="49820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grpSp>
        <p:nvGrpSpPr>
          <p:cNvPr id="15" name="Group 15"/>
          <p:cNvGrpSpPr/>
          <p:nvPr/>
        </p:nvGrpSpPr>
        <p:grpSpPr>
          <a:xfrm>
            <a:off x="5721345" y="479359"/>
            <a:ext cx="6845310" cy="1098683"/>
            <a:chOff x="0" y="0"/>
            <a:chExt cx="9127080" cy="1464910"/>
          </a:xfrm>
        </p:grpSpPr>
        <p:grpSp>
          <p:nvGrpSpPr>
            <p:cNvPr id="16" name="Group 16"/>
            <p:cNvGrpSpPr/>
            <p:nvPr/>
          </p:nvGrpSpPr>
          <p:grpSpPr>
            <a:xfrm>
              <a:off x="0" y="0"/>
              <a:ext cx="9127080" cy="1464910"/>
              <a:chOff x="0" y="0"/>
              <a:chExt cx="1520164" cy="243989"/>
            </a:xfrm>
          </p:grpSpPr>
          <p:sp>
            <p:nvSpPr>
              <p:cNvPr id="17" name="Freeform 17"/>
              <p:cNvSpPr/>
              <p:nvPr/>
            </p:nvSpPr>
            <p:spPr>
              <a:xfrm>
                <a:off x="12021" y="0"/>
                <a:ext cx="1496122" cy="243989"/>
              </a:xfrm>
              <a:custGeom>
                <a:avLst/>
                <a:gdLst/>
                <a:ahLst/>
                <a:cxnLst/>
                <a:rect l="l" t="t" r="r" b="b"/>
                <a:pathLst>
                  <a:path w="1496122" h="243989">
                    <a:moveTo>
                      <a:pt x="213799" y="0"/>
                    </a:moveTo>
                    <a:lnTo>
                      <a:pt x="1485523" y="0"/>
                    </a:lnTo>
                    <a:cubicBezTo>
                      <a:pt x="1489635" y="0"/>
                      <a:pt x="1493376" y="2378"/>
                      <a:pt x="1495121" y="6102"/>
                    </a:cubicBezTo>
                    <a:cubicBezTo>
                      <a:pt x="1496865" y="9825"/>
                      <a:pt x="1496299" y="14222"/>
                      <a:pt x="1493667" y="17381"/>
                    </a:cubicBezTo>
                    <a:lnTo>
                      <a:pt x="1319418" y="226607"/>
                    </a:lnTo>
                    <a:cubicBezTo>
                      <a:pt x="1310246" y="237620"/>
                      <a:pt x="1296655" y="243989"/>
                      <a:pt x="1282323" y="243989"/>
                    </a:cubicBezTo>
                    <a:lnTo>
                      <a:pt x="10599" y="243989"/>
                    </a:lnTo>
                    <a:cubicBezTo>
                      <a:pt x="6487" y="243989"/>
                      <a:pt x="2746" y="241610"/>
                      <a:pt x="1001" y="237887"/>
                    </a:cubicBezTo>
                    <a:cubicBezTo>
                      <a:pt x="-743" y="234163"/>
                      <a:pt x="-177" y="229767"/>
                      <a:pt x="2455" y="226607"/>
                    </a:cubicBezTo>
                    <a:lnTo>
                      <a:pt x="176703" y="17381"/>
                    </a:lnTo>
                    <a:cubicBezTo>
                      <a:pt x="185875" y="6368"/>
                      <a:pt x="199467" y="0"/>
                      <a:pt x="213799" y="0"/>
                    </a:cubicBezTo>
                    <a:close/>
                  </a:path>
                </a:pathLst>
              </a:custGeom>
              <a:gradFill rotWithShape="1">
                <a:gsLst>
                  <a:gs pos="0">
                    <a:srgbClr val="0D1B4D">
                      <a:alpha val="100000"/>
                    </a:srgbClr>
                  </a:gs>
                  <a:gs pos="100000">
                    <a:srgbClr val="1F2489">
                      <a:alpha val="100000"/>
                    </a:srgbClr>
                  </a:gs>
                </a:gsLst>
                <a:lin ang="0"/>
              </a:gradFill>
            </p:spPr>
          </p:sp>
          <p:sp>
            <p:nvSpPr>
              <p:cNvPr id="18" name="TextBox 18"/>
              <p:cNvSpPr txBox="1"/>
              <p:nvPr/>
            </p:nvSpPr>
            <p:spPr>
              <a:xfrm>
                <a:off x="101600" y="-66675"/>
                <a:ext cx="1316964" cy="310664"/>
              </a:xfrm>
              <a:prstGeom prst="rect">
                <a:avLst/>
              </a:prstGeom>
            </p:spPr>
            <p:txBody>
              <a:bodyPr lIns="50800" tIns="50800" rIns="50800" bIns="50800" rtlCol="0" anchor="ctr"/>
              <a:lstStyle/>
              <a:p>
                <a:pPr algn="ctr">
                  <a:lnSpc>
                    <a:spcPts val="3151"/>
                  </a:lnSpc>
                </a:pPr>
                <a:endParaRPr/>
              </a:p>
            </p:txBody>
          </p:sp>
        </p:grpSp>
        <p:sp>
          <p:nvSpPr>
            <p:cNvPr id="19" name="TextBox 19"/>
            <p:cNvSpPr txBox="1"/>
            <p:nvPr/>
          </p:nvSpPr>
          <p:spPr>
            <a:xfrm>
              <a:off x="629396" y="169183"/>
              <a:ext cx="7868289" cy="1078918"/>
            </a:xfrm>
            <a:prstGeom prst="rect">
              <a:avLst/>
            </a:prstGeom>
          </p:spPr>
          <p:txBody>
            <a:bodyPr lIns="0" tIns="0" rIns="0" bIns="0" rtlCol="0" anchor="t">
              <a:spAutoFit/>
            </a:bodyPr>
            <a:lstStyle/>
            <a:p>
              <a:pPr algn="ctr">
                <a:lnSpc>
                  <a:spcPts val="6519"/>
                </a:lnSpc>
              </a:pPr>
              <a:r>
                <a:rPr lang="en-US" sz="5093" i="1">
                  <a:solidFill>
                    <a:srgbClr val="FFFFFF"/>
                  </a:solidFill>
                  <a:latin typeface="Anton Italics"/>
                  <a:ea typeface="Anton Italics"/>
                  <a:cs typeface="Anton Italics"/>
                  <a:sym typeface="Anton Italics"/>
                </a:rPr>
                <a:t>CONCLUSION</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D1B4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833290" cy="1593725"/>
          </a:xfrm>
        </p:grpSpPr>
        <p:sp>
          <p:nvSpPr>
            <p:cNvPr id="3" name="Freeform 3"/>
            <p:cNvSpPr/>
            <p:nvPr/>
          </p:nvSpPr>
          <p:spPr>
            <a:xfrm>
              <a:off x="0" y="0"/>
              <a:ext cx="2833290" cy="1593725"/>
            </a:xfrm>
            <a:custGeom>
              <a:avLst/>
              <a:gdLst/>
              <a:ahLst/>
              <a:cxnLst/>
              <a:rect l="l" t="t" r="r" b="b"/>
              <a:pathLst>
                <a:path w="2833290" h="1593725">
                  <a:moveTo>
                    <a:pt x="0" y="0"/>
                  </a:moveTo>
                  <a:lnTo>
                    <a:pt x="2833290" y="0"/>
                  </a:lnTo>
                  <a:lnTo>
                    <a:pt x="2833290" y="1593725"/>
                  </a:lnTo>
                  <a:lnTo>
                    <a:pt x="0" y="1593725"/>
                  </a:lnTo>
                  <a:close/>
                </a:path>
              </a:pathLst>
            </a:custGeom>
            <a:blipFill>
              <a:blip r:embed="rId2"/>
              <a:stretch>
                <a:fillRect t="-9222" b="-9222"/>
              </a:stretch>
            </a:blipFill>
          </p:spPr>
        </p:sp>
      </p:grpSp>
      <p:grpSp>
        <p:nvGrpSpPr>
          <p:cNvPr id="4" name="Group 4"/>
          <p:cNvGrpSpPr/>
          <p:nvPr/>
        </p:nvGrpSpPr>
        <p:grpSpPr>
          <a:xfrm>
            <a:off x="0" y="0"/>
            <a:ext cx="18288000" cy="10287000"/>
            <a:chOff x="0" y="0"/>
            <a:chExt cx="4816593" cy="2709333"/>
          </a:xfrm>
        </p:grpSpPr>
        <p:sp>
          <p:nvSpPr>
            <p:cNvPr id="5" name="Freeform 5"/>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9090B">
                <a:alpha val="94902"/>
              </a:srgbClr>
            </a:solidFill>
          </p:spPr>
        </p:sp>
        <p:sp>
          <p:nvSpPr>
            <p:cNvPr id="6" name="TextBox 6"/>
            <p:cNvSpPr txBox="1"/>
            <p:nvPr/>
          </p:nvSpPr>
          <p:spPr>
            <a:xfrm>
              <a:off x="0" y="-66675"/>
              <a:ext cx="4816593" cy="2776008"/>
            </a:xfrm>
            <a:prstGeom prst="rect">
              <a:avLst/>
            </a:prstGeom>
          </p:spPr>
          <p:txBody>
            <a:bodyPr lIns="50800" tIns="50800" rIns="50800" bIns="50800" rtlCol="0" anchor="ctr"/>
            <a:lstStyle/>
            <a:p>
              <a:pPr algn="ctr">
                <a:lnSpc>
                  <a:spcPts val="3151"/>
                </a:lnSpc>
              </a:pPr>
              <a:endParaRPr/>
            </a:p>
          </p:txBody>
        </p:sp>
      </p:grpSp>
      <p:sp>
        <p:nvSpPr>
          <p:cNvPr id="13" name="Freeform 13"/>
          <p:cNvSpPr/>
          <p:nvPr/>
        </p:nvSpPr>
        <p:spPr>
          <a:xfrm>
            <a:off x="9496337" y="2528791"/>
            <a:ext cx="3354429" cy="3354429"/>
          </a:xfrm>
          <a:custGeom>
            <a:avLst/>
            <a:gdLst/>
            <a:ahLst/>
            <a:cxnLst/>
            <a:rect l="l" t="t" r="r" b="b"/>
            <a:pathLst>
              <a:path w="3354429" h="3354429">
                <a:moveTo>
                  <a:pt x="0" y="0"/>
                </a:moveTo>
                <a:lnTo>
                  <a:pt x="3354429" y="0"/>
                </a:lnTo>
                <a:lnTo>
                  <a:pt x="3354429" y="3354429"/>
                </a:lnTo>
                <a:lnTo>
                  <a:pt x="0" y="3354429"/>
                </a:lnTo>
                <a:lnTo>
                  <a:pt x="0" y="0"/>
                </a:lnTo>
                <a:close/>
              </a:path>
            </a:pathLst>
          </a:custGeom>
          <a:blipFill>
            <a:blip r:embed="rId3"/>
            <a:stretch>
              <a:fillRect/>
            </a:stretch>
          </a:blipFill>
        </p:spPr>
      </p:sp>
      <p:sp>
        <p:nvSpPr>
          <p:cNvPr id="14" name="Freeform 14"/>
          <p:cNvSpPr/>
          <p:nvPr/>
        </p:nvSpPr>
        <p:spPr>
          <a:xfrm>
            <a:off x="3934981" y="2528791"/>
            <a:ext cx="3654062" cy="3354429"/>
          </a:xfrm>
          <a:custGeom>
            <a:avLst/>
            <a:gdLst/>
            <a:ahLst/>
            <a:cxnLst/>
            <a:rect l="l" t="t" r="r" b="b"/>
            <a:pathLst>
              <a:path w="3654062" h="3354429">
                <a:moveTo>
                  <a:pt x="0" y="0"/>
                </a:moveTo>
                <a:lnTo>
                  <a:pt x="3654062" y="0"/>
                </a:lnTo>
                <a:lnTo>
                  <a:pt x="3654062" y="3354429"/>
                </a:lnTo>
                <a:lnTo>
                  <a:pt x="0" y="3354429"/>
                </a:lnTo>
                <a:lnTo>
                  <a:pt x="0" y="0"/>
                </a:lnTo>
                <a:close/>
              </a:path>
            </a:pathLst>
          </a:custGeom>
          <a:blipFill>
            <a:blip r:embed="rId4"/>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2532</Words>
  <Application>Microsoft Office PowerPoint</Application>
  <PresentationFormat>Custom</PresentationFormat>
  <Paragraphs>326</Paragraphs>
  <Slides>35</Slides>
  <Notes>0</Notes>
  <HiddenSlides>0</HiddenSlides>
  <MMClips>0</MMClips>
  <ScaleCrop>false</ScaleCrop>
  <HeadingPairs>
    <vt:vector size="6" baseType="variant">
      <vt:variant>
        <vt:lpstr>Fonts Used</vt:lpstr>
      </vt:variant>
      <vt:variant>
        <vt:i4>21</vt:i4>
      </vt:variant>
      <vt:variant>
        <vt:lpstr>Theme</vt:lpstr>
      </vt:variant>
      <vt:variant>
        <vt:i4>1</vt:i4>
      </vt:variant>
      <vt:variant>
        <vt:lpstr>Slide Titles</vt:lpstr>
      </vt:variant>
      <vt:variant>
        <vt:i4>35</vt:i4>
      </vt:variant>
    </vt:vector>
  </HeadingPairs>
  <TitlesOfParts>
    <vt:vector size="57" baseType="lpstr">
      <vt:lpstr>Arial</vt:lpstr>
      <vt:lpstr>Montserrat Bold</vt:lpstr>
      <vt:lpstr>Agrandir Narrow</vt:lpstr>
      <vt:lpstr>Archivo Black</vt:lpstr>
      <vt:lpstr>Montserrat Semi-Bold Italics</vt:lpstr>
      <vt:lpstr>Open Sauce Bold</vt:lpstr>
      <vt:lpstr>Montserrat</vt:lpstr>
      <vt:lpstr>Canva Sans Bold</vt:lpstr>
      <vt:lpstr>Agrandir Narrow Bold</vt:lpstr>
      <vt:lpstr>Raleway Bold</vt:lpstr>
      <vt:lpstr>Anton</vt:lpstr>
      <vt:lpstr>Montserrat Italics</vt:lpstr>
      <vt:lpstr>Poppins Bold</vt:lpstr>
      <vt:lpstr>Impact</vt:lpstr>
      <vt:lpstr>Montserrat Semi-Bold</vt:lpstr>
      <vt:lpstr>Poppins</vt:lpstr>
      <vt:lpstr>Calibri</vt:lpstr>
      <vt:lpstr>League Spartan</vt:lpstr>
      <vt:lpstr>Poppins Bold Italics</vt:lpstr>
      <vt:lpstr>Montserrat Bold Italics</vt:lpstr>
      <vt:lpstr>Anton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Modern Gym Presentation</dc:title>
  <dc:creator>User</dc:creator>
  <cp:lastModifiedBy>User</cp:lastModifiedBy>
  <cp:revision>5</cp:revision>
  <dcterms:created xsi:type="dcterms:W3CDTF">2006-08-16T00:00:00Z</dcterms:created>
  <dcterms:modified xsi:type="dcterms:W3CDTF">2026-03-08T17:54:55Z</dcterms:modified>
  <dc:identifier>DAHDMc7KeP8</dc:identifier>
</cp:coreProperties>
</file>